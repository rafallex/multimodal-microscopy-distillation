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+0.081 LB lift over the supervised baseline on the ensemble, +0.090 on the best single seed. v47_seed2 at 0.8355 currently holds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12 slides, ~50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v48+ (orange) is queued — a backbone-diversity fleet (EfficientNet-B2/B3, ResNet-50, ConvNeXt, early-fusion) distilled from the best seed, for a cross-architecture ensemble.
The +0.090 LB lift from v19 (0.7455) to v47's best single seed (0.8355)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analysis points next — the honest forward story past v47.
Core finding: every strong model I have is an EfficientNet-B0 variant, so they're all &gt;0.94 rank-correlated. That's exactly why symmetric averaging never beats the best single seed. I tried a ResNet-50 under the same soft-pseudo recipe — it came out weak (0.79 LB) and MORE correlated (0.90), not less. Diversity within the CNN family is bounded.
So the real lever is a model from a different representation entirely: a gradient-boosted tree on 87 hand-crafted features — intensity, Otsu morphology, GLCM/LBP texture, and a cross-modal BF-FL correlation feature. Leave-patients-out it hits 0.82 AUC — on par with the CNN — but its rank-correlation with the best CNN is only 0.41, less than half of anything else. That is the ideal ensemble ingredient, and it shows FL carries more signal than BF (0.76 vs 0.72 alone).
Finally the architecture the source paper reports as state of the art — intermediate co-attention fusion, CAFNet — applied to EfficientNet (not their ResNet, which is weak here), hardened for mixed precision. All implemented and locally validated; leaderboard numbers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0.8264</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v47_s2 = 0.8355  ·  #3 on LB (2026-05-27)</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+0.081</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 microscopy</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0.8264</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FINAL LB  ·  v47 noisy-student rd2</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14800"/>
            <a:ext cx="8595360" cy="502920"/>
          </a:xfrm>
          <a:prstGeom prst="rect">
            <a:avLst/>
          </a:prstGeom>
          <a:solidFill>
            <a:srgbClr val="1A3A52"/>
          </a:solidFill>
          <a:ln w="12700">
            <a:solidFill>
              <a:srgbClr val="1A3A52"/>
            </a:solidFill>
            <a:prstDash val="solid"/>
          </a:ln>
        </p:spPr>
      </p:sp>
      <p:sp>
        <p:nvSpPr>
          <p:cNvPr id="39" name="Shape 37"/>
          <p:cNvSpPr/>
          <p:nvPr/>
        </p:nvSpPr>
        <p:spPr>
          <a:xfrm>
            <a:off x="274320" y="4114800"/>
            <a:ext cx="64008" cy="502920"/>
          </a:xfrm>
          <a:prstGeom prst="rect">
            <a:avLst/>
          </a:prstGeom>
          <a:solidFill>
            <a:srgbClr val="D97706"/>
          </a:solidFill>
          <a:ln w="12700">
            <a:solidFill>
              <a:srgbClr val="D97706"/>
            </a:solidFill>
            <a:prstDash val="solid"/>
          </a:ln>
        </p:spPr>
      </p:sp>
      <p:sp>
        <p:nvSpPr>
          <p:cNvPr id="40" name="Text 38"/>
          <p:cNvSpPr/>
          <p:nvPr/>
        </p:nvSpPr>
        <p:spPr>
          <a:xfrm>
            <a:off x="475488" y="422452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HEADLINE</a:t>
            </a:r>
            <a:endParaRPr lang="en-US" sz="950" dirty="0"/>
          </a:p>
        </p:txBody>
      </p:sp>
      <p:sp>
        <p:nvSpPr>
          <p:cNvPr id="41" name="Text 39"/>
          <p:cNvSpPr/>
          <p:nvPr/>
        </p:nvSpPr>
        <p:spPr>
          <a:xfrm>
            <a:off x="475488" y="4498848"/>
            <a:ext cx="8321040" cy="4572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+0.081 LB across 30 versions — half of it from one mechanism (soft pseudo / Hinton).</a:t>
            </a:r>
            <a:endParaRPr lang="en-US" sz="1150" dirty="0"/>
          </a:p>
        </p:txBody>
      </p:sp>
      <p:sp>
        <p:nvSpPr>
          <p:cNvPr id="42" name="Text 4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3" name="Text 4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434840"/>
            <a:ext cx="8595360" cy="320040"/>
          </a:xfrm>
          <a:prstGeom prst="rect">
            <a:avLst/>
          </a:prstGeom>
          <a:solidFill>
            <a:srgbClr val="1A3A52"/>
          </a:solidFill>
          <a:ln w="12700">
            <a:solidFill>
              <a:srgbClr val="1A3A52"/>
            </a:solidFill>
            <a:prstDash val="solid"/>
          </a:ln>
        </p:spPr>
      </p:sp>
      <p:sp>
        <p:nvSpPr>
          <p:cNvPr id="23" name="Shape 21"/>
          <p:cNvSpPr/>
          <p:nvPr/>
        </p:nvSpPr>
        <p:spPr>
          <a:xfrm>
            <a:off x="274320" y="4434840"/>
            <a:ext cx="64008" cy="320040"/>
          </a:xfrm>
          <a:prstGeom prst="rect">
            <a:avLst/>
          </a:prstGeom>
          <a:solidFill>
            <a:srgbClr val="D97706"/>
          </a:solidFill>
          <a:ln w="12700">
            <a:solidFill>
              <a:srgbClr val="D97706"/>
            </a:solidFill>
            <a:prstDash val="solid"/>
          </a:ln>
        </p:spPr>
      </p:sp>
      <p:sp>
        <p:nvSpPr>
          <p:cNvPr id="24" name="Text 22"/>
          <p:cNvSpPr/>
          <p:nvPr/>
        </p:nvSpPr>
        <p:spPr>
          <a:xfrm>
            <a:off x="475488" y="454456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TAKE-HOME</a:t>
            </a:r>
            <a:endParaRPr lang="en-US" sz="950" dirty="0"/>
          </a:p>
        </p:txBody>
      </p:sp>
      <p:sp>
        <p:nvSpPr>
          <p:cNvPr id="25" name="Text 23"/>
          <p:cNvSpPr/>
          <p:nvPr/>
        </p:nvSpPr>
        <p:spPr>
          <a:xfrm>
            <a:off x="475488" y="4818888"/>
            <a:ext cx="8321040" cy="-13716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The win wasn't a new architecture. It was treating the test distribution as the thing to model.</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discards 84 % of test cells. Soft keeps everything.</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best single seed 0.8355 (peaked #1, currently #3). Dashed red line marks the current leader at 0.8448; v48+ backbone-diversity runs queued at the right edge.">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breakthrough · blue = useful gain · red = regression · grey = neutral. Dashed red = current leader; v48+ (orange) = queued backbone-diversity runs.</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Shape 46"/>
          <p:cNvSpPr/>
          <p:nvPr/>
        </p:nvSpPr>
        <p:spPr>
          <a:xfrm>
            <a:off x="274320" y="4617720"/>
            <a:ext cx="8595360" cy="274320"/>
          </a:xfrm>
          <a:prstGeom prst="rect">
            <a:avLst/>
          </a:prstGeom>
          <a:solidFill>
            <a:srgbClr val="1A3A52"/>
          </a:solidFill>
          <a:ln w="12700">
            <a:solidFill>
              <a:srgbClr val="1A3A52"/>
            </a:solidFill>
            <a:prstDash val="solid"/>
          </a:ln>
        </p:spPr>
      </p:sp>
      <p:sp>
        <p:nvSpPr>
          <p:cNvPr id="49" name="Shape 47"/>
          <p:cNvSpPr/>
          <p:nvPr/>
        </p:nvSpPr>
        <p:spPr>
          <a:xfrm>
            <a:off x="274320" y="4617720"/>
            <a:ext cx="64008" cy="274320"/>
          </a:xfrm>
          <a:prstGeom prst="rect">
            <a:avLst/>
          </a:prstGeom>
          <a:solidFill>
            <a:srgbClr val="D97706"/>
          </a:solidFill>
          <a:ln w="12700">
            <a:solidFill>
              <a:srgbClr val="D97706"/>
            </a:solidFill>
            <a:prstDash val="solid"/>
          </a:ln>
        </p:spPr>
      </p:sp>
      <p:sp>
        <p:nvSpPr>
          <p:cNvPr id="50" name="Text 48"/>
          <p:cNvSpPr/>
          <p:nvPr/>
        </p:nvSpPr>
        <p:spPr>
          <a:xfrm>
            <a:off x="475488" y="472744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SYNTHESIS</a:t>
            </a:r>
            <a:endParaRPr lang="en-US" sz="950" dirty="0"/>
          </a:p>
        </p:txBody>
      </p:sp>
      <p:sp>
        <p:nvSpPr>
          <p:cNvPr id="51" name="Text 49"/>
          <p:cNvSpPr/>
          <p:nvPr/>
        </p:nvSpPr>
        <p:spPr>
          <a:xfrm>
            <a:off x="475488" y="5001768"/>
            <a:ext cx="8321040" cy="-18288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Every failure has a one-line rule that propagated forward. v46 recipe is the cumulative response.</a:t>
            </a:r>
            <a:endParaRPr lang="en-US" sz="1000" dirty="0"/>
          </a:p>
        </p:txBody>
      </p:sp>
      <p:sp>
        <p:nvSpPr>
          <p:cNvPr id="52" name="Text 5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53" name="Text 5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WHERE THIS POINTS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next gain is decorrelation, not more EfficientNet</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0D9488"/>
          </a:solidFill>
          <a:ln w="12700">
            <a:solidFill>
              <a:srgbClr val="0D9488"/>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800" b="1" dirty="0">
                <a:solidFill>
                  <a:srgbClr val="0D9488"/>
                </a:solidFill>
                <a:latin typeface="Georgia" pitchFamily="34" charset="0"/>
                <a:ea typeface="Georgia" pitchFamily="34" charset="-122"/>
                <a:cs typeface="Georgia" pitchFamily="34" charset="-120"/>
              </a:rPr>
              <a:t>0.41</a:t>
            </a:r>
            <a:endParaRPr lang="en-US" sz="38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feature-GBM rank-corr vs the best CNN (the EffNet fleet is &gt; 0.94)</a:t>
            </a:r>
            <a:endParaRPr lang="en-US" sz="90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1A3A52"/>
          </a:solidFill>
          <a:ln w="12700">
            <a:solidFill>
              <a:srgbClr val="1A3A52"/>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800" b="1" dirty="0">
                <a:solidFill>
                  <a:srgbClr val="1A3A52"/>
                </a:solidFill>
                <a:latin typeface="Georgia" pitchFamily="34" charset="0"/>
                <a:ea typeface="Georgia" pitchFamily="34" charset="-122"/>
                <a:cs typeface="Georgia" pitchFamily="34" charset="-120"/>
              </a:rPr>
              <a:t>0.82</a:t>
            </a:r>
            <a:endParaRPr lang="en-US" sz="38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its leave-patients-out AUC — on par with the CNN</a:t>
            </a:r>
            <a:endParaRPr lang="en-US" sz="90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800" b="1" dirty="0">
                <a:solidFill>
                  <a:srgbClr val="B91C1C"/>
                </a:solidFill>
                <a:latin typeface="Georgia" pitchFamily="34" charset="0"/>
                <a:ea typeface="Georgia" pitchFamily="34" charset="-122"/>
                <a:cs typeface="Georgia" pitchFamily="34" charset="-120"/>
              </a:rPr>
              <a:t>0.79</a:t>
            </a:r>
            <a:endParaRPr lang="en-US" sz="38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ResNet-50 LB — the within-CNN diversity bet underdelivered</a:t>
            </a:r>
            <a:endParaRPr lang="en-US" sz="900" dirty="0"/>
          </a:p>
        </p:txBody>
      </p:sp>
      <p:sp>
        <p:nvSpPr>
          <p:cNvPr id="18" name="Shape 16"/>
          <p:cNvSpPr/>
          <p:nvPr/>
        </p:nvSpPr>
        <p:spPr>
          <a:xfrm>
            <a:off x="274320" y="3017520"/>
            <a:ext cx="36576" cy="1417320"/>
          </a:xfrm>
          <a:prstGeom prst="rect">
            <a:avLst/>
          </a:prstGeom>
          <a:solidFill>
            <a:srgbClr val="0D9488">
              <a:alpha val="70000"/>
            </a:srgbClr>
          </a:solidFill>
          <a:ln w="12700">
            <a:solidFill>
              <a:srgbClr val="0D9488"/>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The ceiling is correlation.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Every strong model is EfficientNet-B0 (rank-corr &gt; 0.94); even a distilled ResNet-50 came out 0.90-correlated and weak (0.79). Symmetric averaging can't beat the best seed.</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The orthogonal member.</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LightGBM on 87 hand-crafted morphology / texture / cross-modal features: rank-corr 0.41 — the first genuinely decorrelated model. FL carries more single-modality signal than BF.</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The SOTA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Intermediate co-attention (CAFNet; Lian et al. 2024, this dataset's source paper) on the proven EfficientNet-B0 backbone — implemented and AMP-hardened.</a:t>
            </a:r>
            <a:endParaRPr lang="en-US" sz="1050" dirty="0"/>
          </a:p>
        </p:txBody>
      </p:sp>
      <p:sp>
        <p:nvSpPr>
          <p:cNvPr id="20" name="Shape 18"/>
          <p:cNvSpPr/>
          <p:nvPr/>
        </p:nvSpPr>
        <p:spPr>
          <a:xfrm>
            <a:off x="274320" y="4590288"/>
            <a:ext cx="8595360" cy="256032"/>
          </a:xfrm>
          <a:prstGeom prst="rect">
            <a:avLst/>
          </a:prstGeom>
          <a:solidFill>
            <a:srgbClr val="1A3A52"/>
          </a:solidFill>
          <a:ln w="12700">
            <a:solidFill>
              <a:srgbClr val="1A3A52"/>
            </a:solidFill>
            <a:prstDash val="solid"/>
          </a:ln>
        </p:spPr>
      </p:sp>
      <p:sp>
        <p:nvSpPr>
          <p:cNvPr id="21" name="Shape 19"/>
          <p:cNvSpPr/>
          <p:nvPr/>
        </p:nvSpPr>
        <p:spPr>
          <a:xfrm>
            <a:off x="274320" y="4590288"/>
            <a:ext cx="64008" cy="256032"/>
          </a:xfrm>
          <a:prstGeom prst="rect">
            <a:avLst/>
          </a:prstGeom>
          <a:solidFill>
            <a:srgbClr val="0D9488"/>
          </a:solidFill>
          <a:ln w="12700">
            <a:solidFill>
              <a:srgbClr val="0D9488"/>
            </a:solidFill>
            <a:prstDash val="solid"/>
          </a:ln>
        </p:spPr>
      </p:sp>
      <p:sp>
        <p:nvSpPr>
          <p:cNvPr id="22" name="Text 20"/>
          <p:cNvSpPr/>
          <p:nvPr/>
        </p:nvSpPr>
        <p:spPr>
          <a:xfrm>
            <a:off x="475488" y="4700016"/>
            <a:ext cx="832104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STATUS</a:t>
            </a:r>
            <a:endParaRPr lang="en-US" sz="950" dirty="0"/>
          </a:p>
        </p:txBody>
      </p:sp>
      <p:sp>
        <p:nvSpPr>
          <p:cNvPr id="23" name="Text 21"/>
          <p:cNvSpPr/>
          <p:nvPr/>
        </p:nvSpPr>
        <p:spPr>
          <a:xfrm>
            <a:off x="475488" y="4974336"/>
            <a:ext cx="8321040" cy="-201168"/>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All three implemented and validated on held-out patients; leaderboard evaluation in progress.</a:t>
            </a:r>
            <a:endParaRPr lang="en-US" sz="950" dirty="0"/>
          </a:p>
        </p:txBody>
      </p:sp>
      <p:sp>
        <p:nvSpPr>
          <p:cNvPr id="24" name="Text 22"/>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5" name="Text 23"/>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13</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dataset size &gt; regularisation.</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textbook regularisers gained +0.011. Soft pseudo + noisy-student round 2 gained +0.042 LB. The dataset-size lever was 3.8×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2026-05-30T08:53:50Z</dcterms:created>
  <dcterms:modified xsi:type="dcterms:W3CDTF">2026-05-30T08:53:50Z</dcterms:modified>
</cp:coreProperties>
</file>