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 I'm Rafael. Today I'll walk you through the Multimodal Cancer Cell Classification Challenge: 30+ logged Kaggle versions, five acts of experimentation, and a final architecture push. +0.094 LB lift over the supervised baseline to my best single model: v58's intermediate co-attention fusion (seed2) at 0.8392 -- the new best, holding #3 on the public leaderboard.
But this talk is not primarily about the score. The instructor said grading is based on methodology and presentation, not the leaderboard itself. So I'll spend most of the time on what didn't work and why — six diagnosed failures shaped the winning recipe directly.
Pacing: 12 slides, ~50 seconds per slide, ~30 seconds buffer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Per-cell binary classification: is this oral cell from a cancer patient. Inputs are paired brightfield and fluorescence microscopy, both 128 by 128 grayscale.
Two structural challenges. First: only 12 training patients. Small-N — every label is a per-patient grouping. Second: the test set has strict patient-disjoint OOD. That second constraint dominates everything that follows.
The instructor was explicit on May 14: grading is on methodology and presentation, not on the leaderboard score. Peaking at #1 (and sitting top-3 at submission) is reassuring, but it's not what's being evaluated. The negative results and the diagnostic reasoning behind v46/v47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Two EfficientNet-B0 backbones, one for brightfield and one for fluorescence, each starting from timm's ra_in1k ImageNet pretrain. Grayscale conv stems, ≈4M params each. Global average pool from each branch, concatenate the two 1280-d features, MLP head, sigmoid.
The interesting parts are NOT the backbone — they're the test-time and training-time interventions. (1) Per-patient MIL aux loss: mean cell logits per patient and BCE that against the patient label, weighted 0.5. Regularizes against pure within-patient memorization. (2) AdaBN: one forward pass over the test set in train mode refreshes BatchNorm running stats to the test distribution. (3) Test-set stain normalization: FL test is measurably 19.7 % brighter than FL train; we use TEST mean/std for normalization. (4) 8-way D4 TTA, averaged in probability space.
v38 tried early fusion (single 2-channel backbone). Regressed −0.031 LB. Late concat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acts, anchored to version numbers. We tracked every Kaggle submission in a LB_HISTORY.md file in the repo, so when I say 'v19' or 'v47' I mean a specific notebook with a specific recipe.
Act 1+2: v10-v16, baselines and an ambitious CoMIR-style SSL attempt. v15 scored 0.866 in cross-validation — our highest CV ever — then collapsed to 0.572 on the LB.
Act 3: v17-v19, the pivot back to a simple EffNet-B0 recipe. LB 0.7455 supervised floor.
Act 4: v20-v41, regularizer search. v41 stacked four L4 regularizers cleanly: +0.011.
Act 5A: v42-v44, semi-supervised pivot. v42 SSL collapsed; v44 added Lee 2013 hard pseudo-labels for +0.025. 
Act 5B: v46-v47, soft distillation. v46 used Hinton 2015 soft pseudo for +0.039 and took #1. v47 iterated with v46 as the new teacher (Xie 2020 noisy student round 2): +0.003 on the ensemble (0.8264) but +0.012 on the best single seed (0.8355). We peaked #1 here; the noise-floor analysis shows the round-2 ensemble gain is statistically zero, and the per-seed dispersion is the real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2: CoMIR-style cross-modal contrastive SSL. Two ResNet-18 encoders for brightfield and fluorescence, paired images of the same cell as positives, unpaired as negatives. Pretrain 10 epochs, fine-tune 8. The CV came in at 0.866 — our highest ever — so we submitted, expecting ~0.75. We got 0.572. Essentially random.
Diagnosis took us a few days. The issue: every cell has exactly one source patient. Paired (BF, FL) of cell i ALWAYS share a patient. Unpaired pairs of i ≠ j USUALLY don't share a patient. So the contrastive task can be solved at ≥95 % accuracy by encoding patient identity rather than cell content. The pretrain backbone optimized that shortcut. The supervised stage memorized within-patient class distributions. Test patients were disjoint. Collapse.
v16 was a careful 9-fix response that switched to LOPO CV (12-fold leave-one-patient-out). Patient-level OOF went up to 0.943 — best we'd ever seen. But the public LB stayed at 0.503 — there's a level of OOD that LOPO can't detect. The whole site/protocol differs between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Drop the SSL complexity entirely. Drop the LOPO CV. Train a standard EffNet-B0 with five ingredients that directly model the OOD problem.
Five ingredients: dual-branch backbone with late concat fusion. Per-patient MIL aux loss regularizing against within-patient memorization. AdaBN to refresh BN stats to the test distribution. Test-set stain normalization closing the 19.7 % FL mean gap. Strong augmentation plus 8-way dihedral TTA.
Public LB 0.7455. Up 0.174 from v15. The new supervised floor that held for three weeks.
Take-home: the win came from treating the test distribution as the thing to model. The SSL pipeline tried to learn invariance from scratch and failed. v19 imported invariance via TTA, AdaBN, and stain norm. Cheaper and more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4 had two contrasting experiments — one clean, one cautionary.
v41 was the clean win. Four well-motivated L4 textbook additions on top of v19: label smoothing 0.05, dropout 0.3 → 0.4, paired RandomResizedCrop, multiscale TTA. Each component individually defensible, all roughly additive. +0.011 LB to 0.7563.
v43 was the cautionary tale. Four MORE changes simultaneously: FL-tuned aug, weight decay bump 1e-4 → 3e-4, 3-seed × SWA ensembling, 40-way TTA. Regressed by 0.012. We could NOT isolate the bad component. Five hours of Kaggle GPU produced no isolable signal.
Rule encoded: change one or two related variables per submitted version. v46 later proved this by reverting the FL-tuned aug and the WD bump (keeping the SWA ensemble + extended TTA) and gained +0.079 LB. So the FL aug and the WD bump were the bad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5 was the breakthrough. Three experiments, +0.067 LB combined.
v44 added Lee 2013 hard pseudo-labels. Teacher v41 predicts on the test set. Keep cells where p &lt; 0.05 or p &gt; 0.95 — about 9,350 of 59,040 cells (16 %). Hard 0/1 labels, patient_id = -1 sentinel so MIL skips them. +0.025 LB.
v46 was the bigger insight. Hard discards 84 % of test cells. Switch to Hinton 2015 soft-target distillation: use ALL 59,040 cells, target = teacher's raw probability. Preserves what Hinton calls 'dark knowledge' — the directional and magnitude information of teacher uncertainty that hard binarization throws away. Pseudo loss weight 0.5 so real labels still dominate the gradient. +0.039 LB more.
v47 was the diminishing-returns check. Xie 2020 iterative noisy student: same recipe as v46 but v46's ensemble (LB 0.8236) is the new teacher. Round 2 of the teacher → student loop. Forecast +0.005-0.020. Observed +0.003. The round-1 step did the bulk of the work; round 2 is mostly a variance reducer (per-seed tr_auc tightened from 0.989-0.993 to 0.993-0.994).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vs soft pseudo-labels, drilled down. Same teacher. Same 59,040 predictions on test cells. Two different ways of using them.
The histogram on the right is the actual distribution of v46's predictions across all test cells. The red dashed lines are the hard-pseudo thresholds at p = 0.05 and p = 0.95. The grey tail-shaded regions are where hard pseudo keeps cells — only 9,404 of 59,040, about 16 %.
Hinton's 'dark knowledge' lives in the middle 84 %. A cell labelled p = 0.78 by the teacher tells the student more than a hard 1.0 does — it carries directional and magnitude information about teacher uncertainty. Hard binarization throws all that away.
v47's round-2 doesn't add much mean (+0.003) but it tightens the per-seed tr_auc band (0.989-0.993 in v46 → 0.993-0.994 in v47). So it acts as a variance reducer — useful for the private-LB shake-out.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in one image. X-axis: chronological version order. Y-axis: public LB AUC. Color-coding: green for breakthroughs, blue for useful gains, red for regressions, grey for neutral.
Read left to right:
- v19 at 0.7455 sets the supervised floor (dotted blue line).
- v42 at 0.59 is the SSL collapse — took weeks to diagnose.
- v43 at 0.7444 is the stacked-changes regression.
- v44 at 0.7812 is the hard-pseudo breakthrough.
- v45_probe at 0.7729 confirms cross-recipe ensembles fail at 0.025 LB gaps.
- v46 at 0.8236 is the distillation breakthrough.
- v47 (iterative noisy student round 2, Xie 2020): 0.8264 ensemble, 0.8355 best single seed. We peaked #1 here; two teams later overtook us, so we now sit #3.
- v48+ (orange) is queued — a backbone-diversity fleet (EfficientNet-B2/B3, ResNet-50, ConvNeXt, early-fusion) distilled from the best seed, for a cross-architecture ensemble.
The +0.090 LB lift from v19 (0.7455) to v47's best single seed (0.8355) was the headline here -- and the next slide shows the final push past it: v58's intermediate co-attention to a new best, 0.8392.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diagnosed failures. Each one fed forward into the v46 / v47 winning recipe.
v22: cross-recipe sigmoid-avg at 0.05 LB gap regressed below v19 alone. Rule encoded.
v27: held-out 2-patient validation on N=12 selected patients that turned out to be at FL exposure extremes. Best-epoch policy locked onto random init.
v37/v38: tried to transfer Lian 2024's modality-specific FL aug and early fusion. Their setup is 4-channel emission stacks at higher resolution; ours is 1-channel grayscale at 128. Didn't transfer.
v42: the SSL collapse — patient shortcut. InfoNCE loss was 0.02 by epoch 1, suspicious. Diagnosed: contrastive task solved by encoding patient identity.
v43: four-stacked-changes regression. Confounded experiment. No attribution.
v45_probe: cross-recipe sigmoid-avg at a tighter 0.025 LB gap. Still regressed. Tightened the rule to ≤0.015 gap.
Every one of these has a one-line rule that propagated forward. The wins are the losses,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most want you to remember: on this problem, ENSEMBLING NEVER WORKED. Not once. I tried every flavour and every single one regressed below my best single model.
Within-recipe seed averaging: my three v47 seeds average to 0.8264, but the best single seed is 0.8355. The per-seed leaderboard spread is 0.023 on twelve patients — so wide that averaging doesn't cancel noise, it just drags the lucky draw back down to the mean.
Cross-recipe averaging: v22 averaged v19 and v21 and landed at 0.7422, below v19's 0.7455 alone. v45_probe confirmed it. Symmetric averaging always pulls toward the weaker member, and the quality gap between any two of my models is wide enough that it hurts.
And the one that should have worked: a gradient-boosted tree on hand-crafted features, genuinely decorrelated from the CNN at rank-correlation 0.41 — textbook ideal ensemble ingredient. Its leave-patients-out CV was 0.82. Blended 50/50 with my best model it scored 0.7074. Its CV simply did not transfer to unseen patients — the exact CV-versus-LB trap that defines this whole project, now sprung on the ensemble itself.
The conclusion is clean: with twelve patients, variance dominates everything, and any averaging regresses below the best single draw. My final submission is one well-chosen single model — never a blend.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chapter, after the distillation breakthrough. I swept the remaining architectural levers as single EfficientNet models — no ensembles (those all failed; next slide).
Two hurt: bumping capacity to EfficientNetV2-S dropped to 0.7376 (a bigger model overfits 12 patients), and raising input resolution to 192px dropped to 0.7823. Both reinforce the data-bound thesis.
One helped: intermediate co-attention fusion — the CAFNet design from the source-dataset paper, applied to EfficientNet-B0. Its best seed reached 0.8392, a new best over v47's 0.8355, and it lifted the mean too. The learning curves (left) show clean training to ~0.99 train AUC with no instability — I had to harden the attention (fp32 + a zero-init ReZero gate) to stop an fp16 NaN.
Take-home: fusion design is the one architectural lever that moved the needle here; capacity and resolution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carry forward.
One. Higher CV doesn't mean higher LB. v15 had my best cross-validation, 0.866, and my worst leaderboard, 0.572. If you only have CV, you don't know what you have. On patient-grouped OOD, CV alone is not a signal.
Two. Don't stack unvalidated changes. v43 added four tweaks at once on top of v41 and regressed by 0.012 LB. The run cost 5 hours of GPU and produced no isolable signal. I now change at most one or two related variables per submission.
Three. Seed variance is huge. v23 was v19 with only the random seed changed. 0.03 LB shift. Most A/B comparisons with deltas under 0.03 are noise, not signal.
Four. On 12 patients, dataset size beats regularization. Four textbook regularizers gained 0.011 LB. Soft pseudo + noisy-student round 2 gained 0.042 LB. About 3.8× larger lift from the data lever than the model lever.
Five. Negative results are the methodology. The v46 and v47 winning recipes are direct responses to six diagnosed failures: v22, v27, v37, v38, v42, v43, and v45_probe. Reading the failures faithfully is what produced the win.
Thanks. Full code and version-by-version LB history at github.com/rafallex/multimodal-microscopy-distillation.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2"/>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sp>
      <p:sp>
        <p:nvSpPr>
          <p:cNvPr id="3" name="Text 1"/>
          <p:cNvSpPr/>
          <p:nvPr/>
        </p:nvSpPr>
        <p:spPr>
          <a:xfrm>
            <a:off x="3657600" y="274320"/>
            <a:ext cx="5212080" cy="274320"/>
          </a:xfrm>
          <a:prstGeom prst="rect">
            <a:avLst/>
          </a:prstGeom>
          <a:noFill/>
          <a:ln/>
        </p:spPr>
        <p:txBody>
          <a:bodyPr wrap="square" lIns="0" tIns="0" rIns="0" bIns="0" rtlCol="0" anchor="ctr"/>
          <a:lstStyle/>
          <a:p>
            <a:pPr algn="r" indent="0" marL="0">
              <a:buNone/>
            </a:pPr>
            <a:r>
              <a:rPr lang="en-US" sz="1050" b="1" spc="500" kern="0" dirty="0">
                <a:solidFill>
                  <a:srgbClr val="0D9488"/>
                </a:solidFill>
                <a:latin typeface="Calibri" pitchFamily="34" charset="0"/>
                <a:ea typeface="Calibri" pitchFamily="34" charset="-122"/>
                <a:cs typeface="Calibri" pitchFamily="34" charset="-120"/>
              </a:rPr>
              <a:t>MULTIMODAL CANCER CLASSIFICATION  ·  2026</a:t>
            </a:r>
            <a:endParaRPr lang="en-US" sz="1050" dirty="0"/>
          </a:p>
        </p:txBody>
      </p:sp>
      <p:sp>
        <p:nvSpPr>
          <p:cNvPr id="4" name="Text 2"/>
          <p:cNvSpPr/>
          <p:nvPr/>
        </p:nvSpPr>
        <p:spPr>
          <a:xfrm>
            <a:off x="731520" y="274320"/>
            <a:ext cx="41148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A3  ·  KAGGLE CHALLENGE</a:t>
            </a:r>
            <a:endParaRPr lang="en-US" sz="1050" dirty="0"/>
          </a:p>
        </p:txBody>
      </p:sp>
      <p:sp>
        <p:nvSpPr>
          <p:cNvPr id="5" name="Text 3"/>
          <p:cNvSpPr/>
          <p:nvPr/>
        </p:nvSpPr>
        <p:spPr>
          <a:xfrm>
            <a:off x="731520" y="822960"/>
            <a:ext cx="8229600" cy="141732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Multimodal Cancer Cell</a:t>
            </a:r>
            <a:endParaRPr lang="en-US" sz="3800" dirty="0"/>
          </a:p>
          <a:p>
            <a:pPr indent="0" marL="0">
              <a:buNone/>
            </a:pPr>
            <a:r>
              <a:rPr lang="en-US" sz="3800" b="1" dirty="0">
                <a:solidFill>
                  <a:srgbClr val="FFFFFF"/>
                </a:solidFill>
                <a:latin typeface="Georgia" pitchFamily="34" charset="0"/>
                <a:ea typeface="Georgia" pitchFamily="34" charset="-122"/>
                <a:cs typeface="Georgia" pitchFamily="34" charset="-120"/>
              </a:rPr>
              <a:t>Classification</a:t>
            </a:r>
            <a:endParaRPr lang="en-US" sz="3800" dirty="0"/>
          </a:p>
        </p:txBody>
      </p:sp>
      <p:sp>
        <p:nvSpPr>
          <p:cNvPr id="6" name="Text 4"/>
          <p:cNvSpPr/>
          <p:nvPr/>
        </p:nvSpPr>
        <p:spPr>
          <a:xfrm>
            <a:off x="731520" y="2331720"/>
            <a:ext cx="8229600" cy="365760"/>
          </a:xfrm>
          <a:prstGeom prst="rect">
            <a:avLst/>
          </a:prstGeom>
          <a:noFill/>
          <a:ln/>
        </p:spPr>
        <p:txBody>
          <a:bodyPr wrap="square" lIns="0" tIns="0" rIns="0" bIns="0" rtlCol="0" anchor="ctr"/>
          <a:lstStyle/>
          <a:p>
            <a:pPr indent="0" marL="0">
              <a:buNone/>
            </a:pPr>
            <a:r>
              <a:rPr lang="en-US" sz="1600" i="1" dirty="0">
                <a:solidFill>
                  <a:srgbClr val="FAF7F2"/>
                </a:solidFill>
                <a:latin typeface="Georgia" pitchFamily="34" charset="0"/>
                <a:ea typeface="Georgia" pitchFamily="34" charset="-122"/>
                <a:cs typeface="Georgia" pitchFamily="34" charset="-120"/>
              </a:rPr>
              <a:t>30 versions, six diagnosed failures, one breakthrough</a:t>
            </a:r>
            <a:endParaRPr lang="en-US" sz="1600" dirty="0"/>
          </a:p>
        </p:txBody>
      </p:sp>
      <p:sp>
        <p:nvSpPr>
          <p:cNvPr id="7" name="Text 5"/>
          <p:cNvSpPr/>
          <p:nvPr/>
        </p:nvSpPr>
        <p:spPr>
          <a:xfrm>
            <a:off x="731520" y="2788920"/>
            <a:ext cx="5029200" cy="777240"/>
          </a:xfrm>
          <a:prstGeom prst="rect">
            <a:avLst/>
          </a:prstGeom>
          <a:noFill/>
          <a:ln/>
        </p:spPr>
        <p:txBody>
          <a:bodyPr wrap="square" lIns="0" tIns="0" rIns="0" bIns="0" rtlCol="0" anchor="ctr"/>
          <a:lstStyle/>
          <a:p>
            <a:pPr indent="0" marL="0">
              <a:buNone/>
            </a:pPr>
            <a:r>
              <a:rPr lang="en-US" sz="1200" dirty="0">
                <a:solidFill>
                  <a:srgbClr val="FAF7F2"/>
                </a:solidFill>
                <a:latin typeface="Calibri" pitchFamily="34" charset="0"/>
                <a:ea typeface="Calibri" pitchFamily="34" charset="-122"/>
                <a:cs typeface="Calibri" pitchFamily="34" charset="-120"/>
              </a:rPr>
              <a:t>A methodological run at the Multimodal Cancer Classification challenge — where each diagnosed failure shaped the next version, and the wins came from reading the losses faithfully.</a:t>
            </a:r>
            <a:endParaRPr lang="en-US" sz="1200" dirty="0"/>
          </a:p>
        </p:txBody>
      </p:sp>
      <p:sp>
        <p:nvSpPr>
          <p:cNvPr id="8" name="Text 6"/>
          <p:cNvSpPr/>
          <p:nvPr/>
        </p:nvSpPr>
        <p:spPr>
          <a:xfrm>
            <a:off x="5943600" y="2788920"/>
            <a:ext cx="2926080" cy="228600"/>
          </a:xfrm>
          <a:prstGeom prst="rect">
            <a:avLst/>
          </a:prstGeom>
          <a:noFill/>
          <a:ln/>
        </p:spPr>
        <p:txBody>
          <a:bodyPr wrap="square" lIns="0" tIns="0" rIns="0" bIns="0" rtlCol="0" anchor="ctr"/>
          <a:lstStyle/>
          <a:p>
            <a:pPr indent="0" marL="0">
              <a:buNone/>
            </a:pPr>
            <a:r>
              <a:rPr lang="en-US" sz="950" b="1" spc="400" kern="0" dirty="0">
                <a:solidFill>
                  <a:srgbClr val="0D9488"/>
                </a:solidFill>
                <a:latin typeface="Calibri" pitchFamily="34" charset="0"/>
                <a:ea typeface="Calibri" pitchFamily="34" charset="-122"/>
                <a:cs typeface="Calibri" pitchFamily="34" charset="-120"/>
              </a:rPr>
              <a:t>PUBLIC LB</a:t>
            </a:r>
            <a:endParaRPr lang="en-US" sz="950" dirty="0"/>
          </a:p>
        </p:txBody>
      </p:sp>
      <p:sp>
        <p:nvSpPr>
          <p:cNvPr id="9" name="Text 7"/>
          <p:cNvSpPr/>
          <p:nvPr/>
        </p:nvSpPr>
        <p:spPr>
          <a:xfrm>
            <a:off x="5943600" y="2990088"/>
            <a:ext cx="2926080" cy="640080"/>
          </a:xfrm>
          <a:prstGeom prst="rect">
            <a:avLst/>
          </a:prstGeom>
          <a:noFill/>
          <a:ln/>
        </p:spPr>
        <p:txBody>
          <a:bodyPr wrap="square" lIns="0" tIns="0" rIns="0" bIns="0" rtlCol="0" anchor="ctr"/>
          <a:lstStyle/>
          <a:p>
            <a:pPr indent="0" marL="0">
              <a:buNone/>
            </a:pPr>
            <a:r>
              <a:rPr lang="en-US" sz="3600" b="1" dirty="0">
                <a:solidFill>
                  <a:srgbClr val="D97706"/>
                </a:solidFill>
                <a:latin typeface="Georgia" pitchFamily="34" charset="0"/>
                <a:ea typeface="Georgia" pitchFamily="34" charset="-122"/>
                <a:cs typeface="Georgia" pitchFamily="34" charset="-120"/>
              </a:rPr>
              <a:t>0.8392</a:t>
            </a:r>
            <a:endParaRPr lang="en-US" sz="3600" dirty="0"/>
          </a:p>
        </p:txBody>
      </p:sp>
      <p:sp>
        <p:nvSpPr>
          <p:cNvPr id="10" name="Text 8"/>
          <p:cNvSpPr/>
          <p:nvPr/>
        </p:nvSpPr>
        <p:spPr>
          <a:xfrm>
            <a:off x="5943600" y="3657600"/>
            <a:ext cx="2926080" cy="228600"/>
          </a:xfrm>
          <a:prstGeom prst="rect">
            <a:avLst/>
          </a:prstGeom>
          <a:noFill/>
          <a:ln/>
        </p:spPr>
        <p:txBody>
          <a:bodyPr wrap="square" lIns="0" tIns="0" rIns="0" bIns="0" rtlCol="0" anchor="ctr"/>
          <a:lstStyle/>
          <a:p>
            <a:pPr indent="0" marL="0">
              <a:buNone/>
            </a:pPr>
            <a:r>
              <a:rPr lang="en-US" sz="950" i="1" dirty="0">
                <a:solidFill>
                  <a:srgbClr val="FAF7F2"/>
                </a:solidFill>
                <a:latin typeface="Calibri" pitchFamily="34" charset="0"/>
                <a:ea typeface="Calibri" pitchFamily="34" charset="-122"/>
                <a:cs typeface="Calibri" pitchFamily="34" charset="-120"/>
              </a:rPr>
              <a:t>v58 co-attention seed2  ·  #3 on LB</a:t>
            </a:r>
            <a:endParaRPr lang="en-US" sz="950" dirty="0"/>
          </a:p>
        </p:txBody>
      </p:sp>
      <p:sp>
        <p:nvSpPr>
          <p:cNvPr id="11" name="Text 9"/>
          <p:cNvSpPr/>
          <p:nvPr/>
        </p:nvSpPr>
        <p:spPr>
          <a:xfrm>
            <a:off x="5943600" y="3931920"/>
            <a:ext cx="141732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LIFT VS V19</a:t>
            </a:r>
            <a:endParaRPr lang="en-US" sz="900" dirty="0"/>
          </a:p>
        </p:txBody>
      </p:sp>
      <p:sp>
        <p:nvSpPr>
          <p:cNvPr id="12" name="Text 10"/>
          <p:cNvSpPr/>
          <p:nvPr/>
        </p:nvSpPr>
        <p:spPr>
          <a:xfrm>
            <a:off x="5943600" y="4114800"/>
            <a:ext cx="141732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+0.094</a:t>
            </a:r>
            <a:endParaRPr lang="en-US" sz="2000" dirty="0"/>
          </a:p>
        </p:txBody>
      </p:sp>
      <p:sp>
        <p:nvSpPr>
          <p:cNvPr id="13" name="Text 11"/>
          <p:cNvSpPr/>
          <p:nvPr/>
        </p:nvSpPr>
        <p:spPr>
          <a:xfrm>
            <a:off x="7406640" y="3931920"/>
            <a:ext cx="1417320" cy="201168"/>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VERSIONS</a:t>
            </a:r>
            <a:endParaRPr lang="en-US" sz="900" dirty="0"/>
          </a:p>
        </p:txBody>
      </p:sp>
      <p:sp>
        <p:nvSpPr>
          <p:cNvPr id="14" name="Text 12"/>
          <p:cNvSpPr/>
          <p:nvPr/>
        </p:nvSpPr>
        <p:spPr>
          <a:xfrm>
            <a:off x="7406640" y="4114800"/>
            <a:ext cx="1417320" cy="4114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30</a:t>
            </a:r>
            <a:endParaRPr lang="en-US" sz="2000" dirty="0"/>
          </a:p>
        </p:txBody>
      </p:sp>
      <p:sp>
        <p:nvSpPr>
          <p:cNvPr id="15" name="Text 13"/>
          <p:cNvSpPr/>
          <p:nvPr/>
        </p:nvSpPr>
        <p:spPr>
          <a:xfrm>
            <a:off x="731520" y="4224528"/>
            <a:ext cx="502920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Rafael Tavares Proença</a:t>
            </a:r>
            <a:endParaRPr lang="en-US" sz="1300" dirty="0"/>
          </a:p>
        </p:txBody>
      </p:sp>
      <p:sp>
        <p:nvSpPr>
          <p:cNvPr id="16" name="Text 14"/>
          <p:cNvSpPr/>
          <p:nvPr/>
        </p:nvSpPr>
        <p:spPr>
          <a:xfrm>
            <a:off x="731520" y="4480560"/>
            <a:ext cx="5029200" cy="201168"/>
          </a:xfrm>
          <a:prstGeom prst="rect">
            <a:avLst/>
          </a:prstGeom>
          <a:noFill/>
          <a:ln/>
        </p:spPr>
        <p:txBody>
          <a:bodyPr wrap="square" lIns="0" tIns="0" rIns="0" bIns="0" rtlCol="0" anchor="ctr"/>
          <a:lstStyle/>
          <a:p>
            <a:pPr indent="0" marL="0">
              <a:buNone/>
            </a:pPr>
            <a:r>
              <a:rPr lang="en-US" sz="1050" dirty="0">
                <a:solidFill>
                  <a:srgbClr val="FAF7F2"/>
                </a:solidFill>
                <a:latin typeface="Calibri" pitchFamily="34" charset="0"/>
                <a:ea typeface="Calibri" pitchFamily="34" charset="-122"/>
                <a:cs typeface="Calibri" pitchFamily="34" charset="-120"/>
              </a:rPr>
              <a:t>Advanced Deep Learning for Image Processing  ·  1MD042</a:t>
            </a:r>
            <a:endParaRPr lang="en-US" sz="1050" dirty="0"/>
          </a:p>
        </p:txBody>
      </p:sp>
      <p:sp>
        <p:nvSpPr>
          <p:cNvPr id="17" name="Text 15"/>
          <p:cNvSpPr/>
          <p:nvPr/>
        </p:nvSpPr>
        <p:spPr>
          <a:xfrm>
            <a:off x="731520" y="4681728"/>
            <a:ext cx="502920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Uppsala University  ·  June 4, 2026</a:t>
            </a:r>
            <a:endParaRPr lang="en-US" sz="1000" dirty="0"/>
          </a:p>
        </p:txBody>
      </p:sp>
      <p:sp>
        <p:nvSpPr>
          <p:cNvPr id="18" name="Text 16"/>
          <p:cNvSpPr/>
          <p:nvPr/>
        </p:nvSpPr>
        <p:spPr>
          <a:xfrm>
            <a:off x="5943600" y="4736592"/>
            <a:ext cx="1417320" cy="182880"/>
          </a:xfrm>
          <a:prstGeom prst="rect">
            <a:avLst/>
          </a:prstGeom>
          <a:noFill/>
          <a:ln/>
        </p:spPr>
        <p:txBody>
          <a:bodyPr wrap="square" lIns="0" tIns="0" rIns="0" bIns="0" rtlCol="0" anchor="ctr"/>
          <a:lstStyle/>
          <a:p>
            <a:pPr indent="0" marL="0">
              <a:buNone/>
            </a:pPr>
            <a:r>
              <a:rPr lang="en-US" sz="850" spc="200" kern="0" dirty="0">
                <a:solidFill>
                  <a:srgbClr val="64748B"/>
                </a:solidFill>
                <a:latin typeface="Calibri" pitchFamily="34" charset="0"/>
                <a:ea typeface="Calibri" pitchFamily="34" charset="-122"/>
                <a:cs typeface="Calibri" pitchFamily="34" charset="-120"/>
              </a:rPr>
              <a:t>BF  ·  128 × 128</a:t>
            </a:r>
            <a:endParaRPr lang="en-US" sz="850" dirty="0"/>
          </a:p>
        </p:txBody>
      </p:sp>
      <p:sp>
        <p:nvSpPr>
          <p:cNvPr id="19" name="Text 17"/>
          <p:cNvSpPr/>
          <p:nvPr/>
        </p:nvSpPr>
        <p:spPr>
          <a:xfrm>
            <a:off x="7406640" y="4736592"/>
            <a:ext cx="1417320" cy="182880"/>
          </a:xfrm>
          <a:prstGeom prst="rect">
            <a:avLst/>
          </a:prstGeom>
          <a:noFill/>
          <a:ln/>
        </p:spPr>
        <p:txBody>
          <a:bodyPr wrap="square" lIns="0" tIns="0" rIns="0" bIns="0" rtlCol="0" anchor="ctr"/>
          <a:lstStyle/>
          <a:p>
            <a:pPr indent="0" marL="0">
              <a:buNone/>
            </a:pPr>
            <a:r>
              <a:rPr lang="en-US" sz="850" spc="200" kern="0" dirty="0">
                <a:solidFill>
                  <a:srgbClr val="64748B"/>
                </a:solidFill>
                <a:latin typeface="Calibri" pitchFamily="34" charset="0"/>
                <a:ea typeface="Calibri" pitchFamily="34" charset="-122"/>
                <a:cs typeface="Calibri" pitchFamily="34" charset="-120"/>
              </a:rPr>
              <a:t>FL  ·  128 × 128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§1  ·  THE CHALLENGE</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02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Binary cell classification on paired BF + FL microscopy</a:t>
            </a:r>
            <a:endParaRPr lang="en-US" sz="2600" dirty="0"/>
          </a:p>
        </p:txBody>
      </p:sp>
      <p:sp>
        <p:nvSpPr>
          <p:cNvPr id="6" name="Text 4"/>
          <p:cNvSpPr/>
          <p:nvPr/>
        </p:nvSpPr>
        <p:spPr>
          <a:xfrm>
            <a:off x="274320" y="1188720"/>
            <a:ext cx="8595360" cy="320040"/>
          </a:xfrm>
          <a:prstGeom prst="rect">
            <a:avLst/>
          </a:prstGeom>
          <a:noFill/>
          <a:ln/>
        </p:spPr>
        <p:txBody>
          <a:bodyPr wrap="square" lIns="0" tIns="0" rIns="0" bIns="0" rtlCol="0" anchor="ctr"/>
          <a:lstStyle/>
          <a:p>
            <a:pPr indent="0" marL="0">
              <a:buNone/>
            </a:pPr>
            <a:r>
              <a:rPr lang="en-US" sz="1300" i="1" dirty="0">
                <a:solidFill>
                  <a:srgbClr val="64748B"/>
                </a:solidFill>
                <a:latin typeface="Georgia" pitchFamily="34" charset="0"/>
                <a:ea typeface="Georgia" pitchFamily="34" charset="-122"/>
                <a:cs typeface="Georgia" pitchFamily="34" charset="-120"/>
              </a:rPr>
              <a:t>Two structural facts shape every method choice that follows.</a:t>
            </a:r>
            <a:endParaRPr lang="en-US" sz="1300" dirty="0"/>
          </a:p>
        </p:txBody>
      </p:sp>
      <p:sp>
        <p:nvSpPr>
          <p:cNvPr id="7" name="Shape 5"/>
          <p:cNvSpPr/>
          <p:nvPr/>
        </p:nvSpPr>
        <p:spPr>
          <a:xfrm>
            <a:off x="274320" y="1691640"/>
            <a:ext cx="2103120" cy="100584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8" name="Shape 6"/>
          <p:cNvSpPr/>
          <p:nvPr/>
        </p:nvSpPr>
        <p:spPr>
          <a:xfrm>
            <a:off x="274320" y="1691640"/>
            <a:ext cx="64008" cy="1005840"/>
          </a:xfrm>
          <a:prstGeom prst="rect">
            <a:avLst/>
          </a:prstGeom>
          <a:solidFill>
            <a:srgbClr val="1A3A52"/>
          </a:solidFill>
          <a:ln w="12700">
            <a:solidFill>
              <a:srgbClr val="1A3A52"/>
            </a:solidFill>
            <a:prstDash val="solid"/>
          </a:ln>
        </p:spPr>
      </p:sp>
      <p:sp>
        <p:nvSpPr>
          <p:cNvPr id="9" name="Text 7"/>
          <p:cNvSpPr/>
          <p:nvPr/>
        </p:nvSpPr>
        <p:spPr>
          <a:xfrm>
            <a:off x="457200" y="1783080"/>
            <a:ext cx="1828800" cy="553212"/>
          </a:xfrm>
          <a:prstGeom prst="rect">
            <a:avLst/>
          </a:prstGeom>
          <a:noFill/>
          <a:ln/>
        </p:spPr>
        <p:txBody>
          <a:bodyPr wrap="square" lIns="0" tIns="0" rIns="0" bIns="0" rtlCol="0" anchor="t"/>
          <a:lstStyle/>
          <a:p>
            <a:pPr algn="l" indent="0" marL="0">
              <a:buNone/>
            </a:pPr>
            <a:r>
              <a:rPr lang="en-US" sz="2400" b="1" dirty="0">
                <a:solidFill>
                  <a:srgbClr val="1A3A52"/>
                </a:solidFill>
                <a:latin typeface="Georgia" pitchFamily="34" charset="0"/>
                <a:ea typeface="Georgia" pitchFamily="34" charset="-122"/>
                <a:cs typeface="Georgia" pitchFamily="34" charset="-120"/>
              </a:rPr>
              <a:t>114,302</a:t>
            </a:r>
            <a:endParaRPr lang="en-US" sz="2400" dirty="0"/>
          </a:p>
        </p:txBody>
      </p:sp>
      <p:sp>
        <p:nvSpPr>
          <p:cNvPr id="10" name="Text 8"/>
          <p:cNvSpPr/>
          <p:nvPr/>
        </p:nvSpPr>
        <p:spPr>
          <a:xfrm>
            <a:off x="457200" y="2244852"/>
            <a:ext cx="1828800" cy="452628"/>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TRAIN CELLS  ·  12 patients</a:t>
            </a:r>
            <a:endParaRPr lang="en-US" sz="950" dirty="0"/>
          </a:p>
        </p:txBody>
      </p:sp>
      <p:sp>
        <p:nvSpPr>
          <p:cNvPr id="11" name="Shape 9"/>
          <p:cNvSpPr/>
          <p:nvPr/>
        </p:nvSpPr>
        <p:spPr>
          <a:xfrm>
            <a:off x="2468880" y="1691640"/>
            <a:ext cx="2103120" cy="100584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2" name="Shape 10"/>
          <p:cNvSpPr/>
          <p:nvPr/>
        </p:nvSpPr>
        <p:spPr>
          <a:xfrm>
            <a:off x="2468880" y="1691640"/>
            <a:ext cx="64008" cy="1005840"/>
          </a:xfrm>
          <a:prstGeom prst="rect">
            <a:avLst/>
          </a:prstGeom>
          <a:solidFill>
            <a:srgbClr val="1A3A52"/>
          </a:solidFill>
          <a:ln w="12700">
            <a:solidFill>
              <a:srgbClr val="1A3A52"/>
            </a:solidFill>
            <a:prstDash val="solid"/>
          </a:ln>
        </p:spPr>
      </p:sp>
      <p:sp>
        <p:nvSpPr>
          <p:cNvPr id="13" name="Text 11"/>
          <p:cNvSpPr/>
          <p:nvPr/>
        </p:nvSpPr>
        <p:spPr>
          <a:xfrm>
            <a:off x="2651760" y="1783080"/>
            <a:ext cx="1828800" cy="553212"/>
          </a:xfrm>
          <a:prstGeom prst="rect">
            <a:avLst/>
          </a:prstGeom>
          <a:noFill/>
          <a:ln/>
        </p:spPr>
        <p:txBody>
          <a:bodyPr wrap="square" lIns="0" tIns="0" rIns="0" bIns="0" rtlCol="0" anchor="t"/>
          <a:lstStyle/>
          <a:p>
            <a:pPr algn="l" indent="0" marL="0">
              <a:buNone/>
            </a:pPr>
            <a:r>
              <a:rPr lang="en-US" sz="2400" b="1" dirty="0">
                <a:solidFill>
                  <a:srgbClr val="1A3A52"/>
                </a:solidFill>
                <a:latin typeface="Georgia" pitchFamily="34" charset="0"/>
                <a:ea typeface="Georgia" pitchFamily="34" charset="-122"/>
                <a:cs typeface="Georgia" pitchFamily="34" charset="-120"/>
              </a:rPr>
              <a:t>59,040</a:t>
            </a:r>
            <a:endParaRPr lang="en-US" sz="2400" dirty="0"/>
          </a:p>
        </p:txBody>
      </p:sp>
      <p:sp>
        <p:nvSpPr>
          <p:cNvPr id="14" name="Text 12"/>
          <p:cNvSpPr/>
          <p:nvPr/>
        </p:nvSpPr>
        <p:spPr>
          <a:xfrm>
            <a:off x="2651760" y="2244852"/>
            <a:ext cx="1828800" cy="452628"/>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TEST CELLS  ·  patient-disjoint</a:t>
            </a:r>
            <a:endParaRPr lang="en-US" sz="950" dirty="0"/>
          </a:p>
        </p:txBody>
      </p:sp>
      <p:sp>
        <p:nvSpPr>
          <p:cNvPr id="15" name="Shape 13"/>
          <p:cNvSpPr/>
          <p:nvPr/>
        </p:nvSpPr>
        <p:spPr>
          <a:xfrm>
            <a:off x="4663440" y="1691640"/>
            <a:ext cx="2103120" cy="100584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6" name="Shape 14"/>
          <p:cNvSpPr/>
          <p:nvPr/>
        </p:nvSpPr>
        <p:spPr>
          <a:xfrm>
            <a:off x="4663440" y="1691640"/>
            <a:ext cx="64008" cy="1005840"/>
          </a:xfrm>
          <a:prstGeom prst="rect">
            <a:avLst/>
          </a:prstGeom>
          <a:solidFill>
            <a:srgbClr val="1A3A52"/>
          </a:solidFill>
          <a:ln w="12700">
            <a:solidFill>
              <a:srgbClr val="1A3A52"/>
            </a:solidFill>
            <a:prstDash val="solid"/>
          </a:ln>
        </p:spPr>
      </p:sp>
      <p:sp>
        <p:nvSpPr>
          <p:cNvPr id="17" name="Text 15"/>
          <p:cNvSpPr/>
          <p:nvPr/>
        </p:nvSpPr>
        <p:spPr>
          <a:xfrm>
            <a:off x="4846320" y="1783080"/>
            <a:ext cx="1828800" cy="553212"/>
          </a:xfrm>
          <a:prstGeom prst="rect">
            <a:avLst/>
          </a:prstGeom>
          <a:noFill/>
          <a:ln/>
        </p:spPr>
        <p:txBody>
          <a:bodyPr wrap="square" lIns="0" tIns="0" rIns="0" bIns="0" rtlCol="0" anchor="t"/>
          <a:lstStyle/>
          <a:p>
            <a:pPr algn="l" indent="0" marL="0">
              <a:buNone/>
            </a:pPr>
            <a:r>
              <a:rPr lang="en-US" sz="2400" b="1" dirty="0">
                <a:solidFill>
                  <a:srgbClr val="1A3A52"/>
                </a:solidFill>
                <a:latin typeface="Georgia" pitchFamily="34" charset="0"/>
                <a:ea typeface="Georgia" pitchFamily="34" charset="-122"/>
                <a:cs typeface="Georgia" pitchFamily="34" charset="-120"/>
              </a:rPr>
              <a:t>38.8%</a:t>
            </a:r>
            <a:endParaRPr lang="en-US" sz="2400" dirty="0"/>
          </a:p>
        </p:txBody>
      </p:sp>
      <p:sp>
        <p:nvSpPr>
          <p:cNvPr id="18" name="Text 16"/>
          <p:cNvSpPr/>
          <p:nvPr/>
        </p:nvSpPr>
        <p:spPr>
          <a:xfrm>
            <a:off x="4846320" y="2244852"/>
            <a:ext cx="1828800" cy="452628"/>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POS RATE  ·  pos_weight ≈ 1.58</a:t>
            </a:r>
            <a:endParaRPr lang="en-US" sz="950" dirty="0"/>
          </a:p>
        </p:txBody>
      </p:sp>
      <p:sp>
        <p:nvSpPr>
          <p:cNvPr id="19" name="Shape 17"/>
          <p:cNvSpPr/>
          <p:nvPr/>
        </p:nvSpPr>
        <p:spPr>
          <a:xfrm>
            <a:off x="6858000" y="1691640"/>
            <a:ext cx="2011680" cy="100584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20" name="Shape 18"/>
          <p:cNvSpPr/>
          <p:nvPr/>
        </p:nvSpPr>
        <p:spPr>
          <a:xfrm>
            <a:off x="6858000" y="1691640"/>
            <a:ext cx="64008" cy="1005840"/>
          </a:xfrm>
          <a:prstGeom prst="rect">
            <a:avLst/>
          </a:prstGeom>
          <a:solidFill>
            <a:srgbClr val="D97706"/>
          </a:solidFill>
          <a:ln w="12700">
            <a:solidFill>
              <a:srgbClr val="D97706"/>
            </a:solidFill>
            <a:prstDash val="solid"/>
          </a:ln>
        </p:spPr>
      </p:sp>
      <p:sp>
        <p:nvSpPr>
          <p:cNvPr id="21" name="Text 19"/>
          <p:cNvSpPr/>
          <p:nvPr/>
        </p:nvSpPr>
        <p:spPr>
          <a:xfrm>
            <a:off x="7040880" y="1783080"/>
            <a:ext cx="1737360" cy="553212"/>
          </a:xfrm>
          <a:prstGeom prst="rect">
            <a:avLst/>
          </a:prstGeom>
          <a:noFill/>
          <a:ln/>
        </p:spPr>
        <p:txBody>
          <a:bodyPr wrap="square" lIns="0" tIns="0" rIns="0" bIns="0" rtlCol="0" anchor="t"/>
          <a:lstStyle/>
          <a:p>
            <a:pPr algn="l" indent="0" marL="0">
              <a:buNone/>
            </a:pPr>
            <a:r>
              <a:rPr lang="en-US" sz="2400" b="1" dirty="0">
                <a:solidFill>
                  <a:srgbClr val="D97706"/>
                </a:solidFill>
                <a:latin typeface="Georgia" pitchFamily="34" charset="0"/>
                <a:ea typeface="Georgia" pitchFamily="34" charset="-122"/>
                <a:cs typeface="Georgia" pitchFamily="34" charset="-120"/>
              </a:rPr>
              <a:t>0.8264</a:t>
            </a:r>
            <a:endParaRPr lang="en-US" sz="2400" dirty="0"/>
          </a:p>
        </p:txBody>
      </p:sp>
      <p:sp>
        <p:nvSpPr>
          <p:cNvPr id="22" name="Text 20"/>
          <p:cNvSpPr/>
          <p:nvPr/>
        </p:nvSpPr>
        <p:spPr>
          <a:xfrm>
            <a:off x="7040880" y="2244852"/>
            <a:ext cx="1737360" cy="452628"/>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FINAL LB  ·  v47 noisy-student rd2</a:t>
            </a:r>
            <a:endParaRPr lang="en-US" sz="950" dirty="0"/>
          </a:p>
        </p:txBody>
      </p:sp>
      <p:sp>
        <p:nvSpPr>
          <p:cNvPr id="23" name="Shape 21"/>
          <p:cNvSpPr/>
          <p:nvPr/>
        </p:nvSpPr>
        <p:spPr>
          <a:xfrm>
            <a:off x="274320" y="2880360"/>
            <a:ext cx="36576" cy="1463040"/>
          </a:xfrm>
          <a:prstGeom prst="rect">
            <a:avLst/>
          </a:prstGeom>
          <a:solidFill>
            <a:srgbClr val="0D9488">
              <a:alpha val="70000"/>
            </a:srgbClr>
          </a:solidFill>
          <a:ln w="12700">
            <a:solidFill>
              <a:srgbClr val="0D9488"/>
            </a:solidFill>
            <a:prstDash val="solid"/>
          </a:ln>
        </p:spPr>
      </p:sp>
      <p:sp>
        <p:nvSpPr>
          <p:cNvPr id="24" name="Text 22"/>
          <p:cNvSpPr/>
          <p:nvPr/>
        </p:nvSpPr>
        <p:spPr>
          <a:xfrm>
            <a:off x="438912" y="2898648"/>
            <a:ext cx="5285232" cy="1463040"/>
          </a:xfrm>
          <a:prstGeom prst="rect">
            <a:avLst/>
          </a:prstGeom>
          <a:noFill/>
          <a:ln/>
        </p:spPr>
        <p:txBody>
          <a:bodyPr wrap="square" lIns="0" tIns="0" rIns="0" bIns="0" rtlCol="0" anchor="t"/>
          <a:lstStyle/>
          <a:p>
            <a:pPr indent="0" marL="0">
              <a:spcAft>
                <a:spcPts val="600"/>
              </a:spcAft>
              <a:buNone/>
            </a:pPr>
            <a:r>
              <a:rPr lang="en-US" sz="110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Per-cell prediction: is the cell from a cancer patient? (weak labels — MAC hypothesis, all cells inherit patient diagnosis)</a:t>
            </a:r>
            <a:endParaRPr lang="en-US" sz="1100" dirty="0"/>
          </a:p>
          <a:p>
            <a:pPr indent="0" marL="0">
              <a:spcAft>
                <a:spcPts val="600"/>
              </a:spcAft>
              <a:buNone/>
            </a:pPr>
            <a:r>
              <a:rPr lang="en-US" sz="110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Paired inputs: brightfield + fluorescence, 128×128 grayscale</a:t>
            </a:r>
            <a:endParaRPr lang="en-US" sz="1100" dirty="0"/>
          </a:p>
          <a:p>
            <a:pPr indent="0" marL="0">
              <a:spcAft>
                <a:spcPts val="600"/>
              </a:spcAft>
              <a:buNone/>
            </a:pPr>
            <a:r>
              <a:rPr lang="en-US" sz="110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12 training patients · ~10k cells each — small N</a:t>
            </a:r>
            <a:endParaRPr lang="en-US" sz="1100" dirty="0"/>
          </a:p>
          <a:p>
            <a:pPr indent="0" marL="0">
              <a:spcAft>
                <a:spcPts val="600"/>
              </a:spcAft>
              <a:buNone/>
            </a:pPr>
            <a:r>
              <a:rPr lang="en-US" sz="110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Strict patient-disjoint test set — OOD generalisation is the dominant failure mode</a:t>
            </a:r>
            <a:endParaRPr lang="en-US" sz="1100" dirty="0"/>
          </a:p>
          <a:p>
            <a:pPr indent="0" marL="0">
              <a:spcAft>
                <a:spcPts val="600"/>
              </a:spcAft>
              <a:buNone/>
            </a:pPr>
            <a:r>
              <a:rPr lang="en-US" sz="110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Metric: AUC · 4 submissions/day · public/private LB split</a:t>
            </a:r>
            <a:endParaRPr lang="en-US" sz="1100" dirty="0"/>
          </a:p>
        </p:txBody>
      </p:sp>
      <p:sp>
        <p:nvSpPr>
          <p:cNvPr id="25" name="Shape 23"/>
          <p:cNvSpPr/>
          <p:nvPr/>
        </p:nvSpPr>
        <p:spPr>
          <a:xfrm>
            <a:off x="5943600" y="2880360"/>
            <a:ext cx="2926080" cy="1463040"/>
          </a:xfrm>
          <a:prstGeom prst="rect">
            <a:avLst/>
          </a:prstGeom>
          <a:solidFill>
            <a:srgbClr val="1A3A52"/>
          </a:solidFill>
          <a:ln w="12700">
            <a:solidFill>
              <a:srgbClr val="1A3A52"/>
            </a:solidFill>
            <a:prstDash val="solid"/>
          </a:ln>
        </p:spPr>
      </p:sp>
      <p:sp>
        <p:nvSpPr>
          <p:cNvPr id="26" name="Shape 24"/>
          <p:cNvSpPr/>
          <p:nvPr/>
        </p:nvSpPr>
        <p:spPr>
          <a:xfrm>
            <a:off x="5943600" y="2880360"/>
            <a:ext cx="64008" cy="1463040"/>
          </a:xfrm>
          <a:prstGeom prst="rect">
            <a:avLst/>
          </a:prstGeom>
          <a:solidFill>
            <a:srgbClr val="D97706"/>
          </a:solidFill>
          <a:ln w="12700">
            <a:solidFill>
              <a:srgbClr val="D97706"/>
            </a:solidFill>
            <a:prstDash val="solid"/>
          </a:ln>
        </p:spPr>
      </p:sp>
      <p:sp>
        <p:nvSpPr>
          <p:cNvPr id="27" name="Text 25"/>
          <p:cNvSpPr/>
          <p:nvPr/>
        </p:nvSpPr>
        <p:spPr>
          <a:xfrm>
            <a:off x="6144768" y="2990088"/>
            <a:ext cx="2651760" cy="274320"/>
          </a:xfrm>
          <a:prstGeom prst="rect">
            <a:avLst/>
          </a:prstGeom>
          <a:noFill/>
          <a:ln/>
        </p:spPr>
        <p:txBody>
          <a:bodyPr wrap="square" lIns="0" tIns="0" rIns="0" bIns="0" rtlCol="0" anchor="ctr"/>
          <a:lstStyle/>
          <a:p>
            <a:pPr indent="0" marL="0">
              <a:buNone/>
            </a:pPr>
            <a:r>
              <a:rPr lang="en-US" sz="950" b="1" spc="400" kern="0" dirty="0">
                <a:solidFill>
                  <a:srgbClr val="D97706"/>
                </a:solidFill>
                <a:latin typeface="Calibri" pitchFamily="34" charset="0"/>
                <a:ea typeface="Calibri" pitchFamily="34" charset="-122"/>
                <a:cs typeface="Calibri" pitchFamily="34" charset="-120"/>
              </a:rPr>
              <a:t>GRADING BASIS (INSTRUCTOR, MAY 14)</a:t>
            </a:r>
            <a:endParaRPr lang="en-US" sz="950" dirty="0"/>
          </a:p>
        </p:txBody>
      </p:sp>
      <p:sp>
        <p:nvSpPr>
          <p:cNvPr id="28" name="Text 26"/>
          <p:cNvSpPr/>
          <p:nvPr/>
        </p:nvSpPr>
        <p:spPr>
          <a:xfrm>
            <a:off x="6144768" y="3264408"/>
            <a:ext cx="2651760" cy="1005840"/>
          </a:xfrm>
          <a:prstGeom prst="rect">
            <a:avLst/>
          </a:prstGeom>
          <a:noFill/>
          <a:ln/>
        </p:spPr>
        <p:txBody>
          <a:bodyPr wrap="square" lIns="0" tIns="0" rIns="0" bIns="0" rtlCol="0" anchor="t"/>
          <a:lstStyle/>
          <a:p>
            <a:pPr indent="0" marL="0">
              <a:buNone/>
            </a:pPr>
            <a:r>
              <a:rPr lang="en-US" sz="1150" i="1" dirty="0">
                <a:solidFill>
                  <a:srgbClr val="FAF7F2"/>
                </a:solidFill>
                <a:latin typeface="Georgia" pitchFamily="34" charset="0"/>
                <a:ea typeface="Georgia" pitchFamily="34" charset="-122"/>
                <a:cs typeface="Georgia" pitchFamily="34" charset="-120"/>
              </a:rPr>
              <a:t>“What is done and how that is presented” — methodology over leaderboard score.</a:t>
            </a:r>
            <a:endParaRPr lang="en-US" sz="1150" dirty="0"/>
          </a:p>
        </p:txBody>
      </p:sp>
      <p:sp>
        <p:nvSpPr>
          <p:cNvPr id="29" name="Text 27"/>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30" name="Text 28"/>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§2  ·  METHOD</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03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Dual EfficientNet-B0 with patient-MIL aux loss</a:t>
            </a:r>
            <a:endParaRPr lang="en-US" sz="2600" dirty="0"/>
          </a:p>
        </p:txBody>
      </p:sp>
      <p:sp>
        <p:nvSpPr>
          <p:cNvPr id="6" name="Text 4"/>
          <p:cNvSpPr/>
          <p:nvPr/>
        </p:nvSpPr>
        <p:spPr>
          <a:xfrm>
            <a:off x="274320" y="1188720"/>
            <a:ext cx="8595360" cy="320040"/>
          </a:xfrm>
          <a:prstGeom prst="rect">
            <a:avLst/>
          </a:prstGeom>
          <a:noFill/>
          <a:ln/>
        </p:spPr>
        <p:txBody>
          <a:bodyPr wrap="square" lIns="0" tIns="0" rIns="0" bIns="0" rtlCol="0" anchor="ctr"/>
          <a:lstStyle/>
          <a:p>
            <a:pPr indent="0" marL="0">
              <a:buNone/>
            </a:pPr>
            <a:r>
              <a:rPr lang="en-US" sz="1300" i="1" dirty="0">
                <a:solidFill>
                  <a:srgbClr val="64748B"/>
                </a:solidFill>
                <a:latin typeface="Georgia" pitchFamily="34" charset="0"/>
                <a:ea typeface="Georgia" pitchFamily="34" charset="-122"/>
                <a:cs typeface="Georgia" pitchFamily="34" charset="-120"/>
              </a:rPr>
              <a:t>The interventions that matter sit outside the backbone.</a:t>
            </a:r>
            <a:endParaRPr lang="en-US" sz="1300" dirty="0"/>
          </a:p>
        </p:txBody>
      </p:sp>
      <p:pic>
        <p:nvPicPr>
          <p:cNvPr id="7" name="Image 0" descr="Dual EfficientNet-B0 backbone with brightfield + fluorescence inputs, late concat fusion, MLP head, and per-patient MIL auxiliary loss branch">    </p:cNvPr>
          <p:cNvPicPr>
            <a:picLocks noChangeAspect="1"/>
          </p:cNvPicPr>
          <p:nvPr/>
        </p:nvPicPr>
        <p:blipFill>
          <a:blip r:embed="rId1"/>
          <a:stretch>
            <a:fillRect/>
          </a:stretch>
        </p:blipFill>
        <p:spPr>
          <a:xfrm>
            <a:off x="274320" y="1417320"/>
            <a:ext cx="6126480" cy="2377440"/>
          </a:xfrm>
          <a:prstGeom prst="rect">
            <a:avLst/>
          </a:prstGeom>
        </p:spPr>
      </p:pic>
      <p:sp>
        <p:nvSpPr>
          <p:cNvPr id="8" name="Text 5"/>
          <p:cNvSpPr/>
          <p:nvPr/>
        </p:nvSpPr>
        <p:spPr>
          <a:xfrm>
            <a:off x="274320" y="3840480"/>
            <a:ext cx="6126480" cy="32004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Fig. 1  Backbone is unremarkable on purpose. The interesting parts are at training time (MIL) and test time (AdaBN, stain norm).</a:t>
            </a:r>
            <a:endParaRPr lang="en-US" sz="850" dirty="0"/>
          </a:p>
        </p:txBody>
      </p:sp>
      <p:sp>
        <p:nvSpPr>
          <p:cNvPr id="9" name="Shape 6"/>
          <p:cNvSpPr/>
          <p:nvPr/>
        </p:nvSpPr>
        <p:spPr>
          <a:xfrm>
            <a:off x="6492240" y="1417320"/>
            <a:ext cx="36576" cy="2926080"/>
          </a:xfrm>
          <a:prstGeom prst="rect">
            <a:avLst/>
          </a:prstGeom>
          <a:solidFill>
            <a:srgbClr val="0D9488">
              <a:alpha val="70000"/>
            </a:srgbClr>
          </a:solidFill>
          <a:ln w="12700">
            <a:solidFill>
              <a:srgbClr val="0D9488"/>
            </a:solidFill>
            <a:prstDash val="solid"/>
          </a:ln>
        </p:spPr>
      </p:sp>
      <p:sp>
        <p:nvSpPr>
          <p:cNvPr id="10" name="Text 7"/>
          <p:cNvSpPr/>
          <p:nvPr/>
        </p:nvSpPr>
        <p:spPr>
          <a:xfrm>
            <a:off x="6656832" y="1435608"/>
            <a:ext cx="2176272" cy="2926080"/>
          </a:xfrm>
          <a:prstGeom prst="rect">
            <a:avLst/>
          </a:prstGeom>
          <a:noFill/>
          <a:ln/>
        </p:spPr>
        <p:txBody>
          <a:bodyPr wrap="square" lIns="0" tIns="0" rIns="0" bIns="0" rtlCol="0" anchor="t"/>
          <a:lstStyle/>
          <a:p>
            <a:pPr indent="0" marL="0">
              <a:spcAft>
                <a:spcPts val="600"/>
              </a:spcAft>
              <a:buNone/>
            </a:pPr>
            <a:r>
              <a:rPr lang="en-US" sz="105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Late concat fusion</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feature-level after GAP (v38 early fusion regressed −0.031)</a:t>
            </a:r>
            <a:endParaRPr lang="en-US" sz="1050" dirty="0"/>
          </a:p>
          <a:p>
            <a:pPr indent="0" marL="0">
              <a:spcAft>
                <a:spcPts val="600"/>
              </a:spcAft>
              <a:buNone/>
            </a:pPr>
            <a:r>
              <a:rPr lang="en-US" sz="105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Per-patient MIL aux</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mean-pool cell logits per patient, BCE, w=0.5</a:t>
            </a:r>
            <a:endParaRPr lang="en-US" sz="1050" dirty="0"/>
          </a:p>
          <a:p>
            <a:pPr indent="0" marL="0">
              <a:spcAft>
                <a:spcPts val="600"/>
              </a:spcAft>
              <a:buNone/>
            </a:pPr>
            <a:r>
              <a:rPr lang="en-US" sz="105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AdaBN</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refresh BN stats on test set (Li 2016)</a:t>
            </a:r>
            <a:endParaRPr lang="en-US" sz="1050" dirty="0"/>
          </a:p>
          <a:p>
            <a:pPr indent="0" marL="0">
              <a:spcAft>
                <a:spcPts val="600"/>
              </a:spcAft>
              <a:buNone/>
            </a:pPr>
            <a:r>
              <a:rPr lang="en-US" sz="105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Test-set stain norm</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closes the 19.7 % FL mean gap</a:t>
            </a:r>
            <a:endParaRPr lang="en-US" sz="1050" dirty="0"/>
          </a:p>
          <a:p>
            <a:pPr indent="0" marL="0">
              <a:spcAft>
                <a:spcPts val="600"/>
              </a:spcAft>
              <a:buNone/>
            </a:pPr>
            <a:r>
              <a:rPr lang="en-US" sz="1050" b="1" dirty="0">
                <a:solidFill>
                  <a:srgbClr val="0D9488"/>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8-way D4 TTA</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dihedral group, prob-averaged</a:t>
            </a:r>
            <a:endParaRPr lang="en-US" sz="1050" dirty="0"/>
          </a:p>
        </p:txBody>
      </p:sp>
      <p:sp>
        <p:nvSpPr>
          <p:cNvPr id="11" name="Text 8"/>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12" name="Text 9"/>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§3  ·  THE ARC</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04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30 versions, 5 acts, one breakthrough</a:t>
            </a:r>
            <a:endParaRPr lang="en-US" sz="2600" dirty="0"/>
          </a:p>
        </p:txBody>
      </p:sp>
      <p:sp>
        <p:nvSpPr>
          <p:cNvPr id="6" name="Text 4"/>
          <p:cNvSpPr/>
          <p:nvPr/>
        </p:nvSpPr>
        <p:spPr>
          <a:xfrm>
            <a:off x="274320" y="1188720"/>
            <a:ext cx="8595360" cy="320040"/>
          </a:xfrm>
          <a:prstGeom prst="rect">
            <a:avLst/>
          </a:prstGeom>
          <a:noFill/>
          <a:ln/>
        </p:spPr>
        <p:txBody>
          <a:bodyPr wrap="square" lIns="0" tIns="0" rIns="0" bIns="0" rtlCol="0" anchor="ctr"/>
          <a:lstStyle/>
          <a:p>
            <a:pPr indent="0" marL="0">
              <a:buNone/>
            </a:pPr>
            <a:r>
              <a:rPr lang="en-US" sz="1300" i="1" dirty="0">
                <a:solidFill>
                  <a:srgbClr val="64748B"/>
                </a:solidFill>
                <a:latin typeface="Georgia" pitchFamily="34" charset="0"/>
                <a:ea typeface="Georgia" pitchFamily="34" charset="-122"/>
                <a:cs typeface="Georgia" pitchFamily="34" charset="-120"/>
              </a:rPr>
              <a:t>Each act answered a question. Each result changed the next question.</a:t>
            </a:r>
            <a:endParaRPr lang="en-US" sz="1300" dirty="0"/>
          </a:p>
        </p:txBody>
      </p:sp>
      <p:sp>
        <p:nvSpPr>
          <p:cNvPr id="7" name="Shape 5"/>
          <p:cNvSpPr/>
          <p:nvPr/>
        </p:nvSpPr>
        <p:spPr>
          <a:xfrm>
            <a:off x="457200" y="2788920"/>
            <a:ext cx="8229600" cy="36576"/>
          </a:xfrm>
          <a:prstGeom prst="rect">
            <a:avLst/>
          </a:prstGeom>
          <a:solidFill>
            <a:srgbClr val="64748B">
              <a:alpha val="50000"/>
            </a:srgbClr>
          </a:solidFill>
          <a:ln w="12700">
            <a:solidFill>
              <a:srgbClr val="64748B"/>
            </a:solidFill>
            <a:prstDash val="solid"/>
          </a:ln>
        </p:spPr>
      </p:sp>
      <p:sp>
        <p:nvSpPr>
          <p:cNvPr id="8" name="Shape 6"/>
          <p:cNvSpPr/>
          <p:nvPr/>
        </p:nvSpPr>
        <p:spPr>
          <a:xfrm>
            <a:off x="950976" y="2642616"/>
            <a:ext cx="329184" cy="329184"/>
          </a:xfrm>
          <a:prstGeom prst="ellipse">
            <a:avLst/>
          </a:prstGeom>
          <a:solidFill>
            <a:srgbClr val="B91C1C"/>
          </a:solidFill>
          <a:ln w="19050">
            <a:solidFill>
              <a:srgbClr val="FFFFFF"/>
            </a:solidFill>
            <a:prstDash val="solid"/>
          </a:ln>
        </p:spPr>
      </p:sp>
      <p:sp>
        <p:nvSpPr>
          <p:cNvPr id="9" name="Text 7"/>
          <p:cNvSpPr/>
          <p:nvPr/>
        </p:nvSpPr>
        <p:spPr>
          <a:xfrm>
            <a:off x="274320" y="1600200"/>
            <a:ext cx="1645920" cy="228600"/>
          </a:xfrm>
          <a:prstGeom prst="rect">
            <a:avLst/>
          </a:prstGeom>
          <a:noFill/>
          <a:ln/>
        </p:spPr>
        <p:txBody>
          <a:bodyPr wrap="square" lIns="0" tIns="0" rIns="0" bIns="0" rtlCol="0" anchor="ctr"/>
          <a:lstStyle/>
          <a:p>
            <a:pPr algn="ctr" indent="0" marL="0">
              <a:buNone/>
            </a:pPr>
            <a:r>
              <a:rPr lang="en-US" sz="950" b="1" spc="200" kern="0" dirty="0">
                <a:solidFill>
                  <a:srgbClr val="0D9488"/>
                </a:solidFill>
                <a:latin typeface="Calibri" pitchFamily="34" charset="0"/>
                <a:ea typeface="Calibri" pitchFamily="34" charset="-122"/>
                <a:cs typeface="Calibri" pitchFamily="34" charset="-120"/>
              </a:rPr>
              <a:t>ACT 1+2</a:t>
            </a:r>
            <a:endParaRPr lang="en-US" sz="950" dirty="0"/>
          </a:p>
        </p:txBody>
      </p:sp>
      <p:sp>
        <p:nvSpPr>
          <p:cNvPr id="10" name="Text 8"/>
          <p:cNvSpPr/>
          <p:nvPr/>
        </p:nvSpPr>
        <p:spPr>
          <a:xfrm>
            <a:off x="274320" y="1874520"/>
            <a:ext cx="1645920" cy="274320"/>
          </a:xfrm>
          <a:prstGeom prst="rect">
            <a:avLst/>
          </a:prstGeom>
          <a:noFill/>
          <a:ln/>
        </p:spPr>
        <p:txBody>
          <a:bodyPr wrap="square" lIns="0" tIns="0" rIns="0" bIns="0" rtlCol="0" anchor="ctr"/>
          <a:lstStyle/>
          <a:p>
            <a:pPr algn="ctr" indent="0" marL="0">
              <a:buNone/>
            </a:pPr>
            <a:r>
              <a:rPr lang="en-US" sz="1300" b="1" dirty="0">
                <a:solidFill>
                  <a:srgbClr val="1A3A52"/>
                </a:solidFill>
                <a:latin typeface="Georgia" pitchFamily="34" charset="0"/>
                <a:ea typeface="Georgia" pitchFamily="34" charset="-122"/>
                <a:cs typeface="Georgia" pitchFamily="34" charset="-120"/>
              </a:rPr>
              <a:t>v10–v16</a:t>
            </a:r>
            <a:endParaRPr lang="en-US" sz="1300" dirty="0"/>
          </a:p>
        </p:txBody>
      </p:sp>
      <p:sp>
        <p:nvSpPr>
          <p:cNvPr id="11" name="Text 9"/>
          <p:cNvSpPr/>
          <p:nvPr/>
        </p:nvSpPr>
        <p:spPr>
          <a:xfrm>
            <a:off x="228600" y="2194560"/>
            <a:ext cx="17373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Baselines &amp; SSL</a:t>
            </a:r>
            <a:endParaRPr lang="en-US" sz="1000" dirty="0"/>
          </a:p>
        </p:txBody>
      </p:sp>
      <p:sp>
        <p:nvSpPr>
          <p:cNvPr id="12" name="Text 10"/>
          <p:cNvSpPr/>
          <p:nvPr/>
        </p:nvSpPr>
        <p:spPr>
          <a:xfrm>
            <a:off x="228600" y="3200400"/>
            <a:ext cx="1737360" cy="320040"/>
          </a:xfrm>
          <a:prstGeom prst="rect">
            <a:avLst/>
          </a:prstGeom>
          <a:noFill/>
          <a:ln/>
        </p:spPr>
        <p:txBody>
          <a:bodyPr wrap="square" lIns="0" tIns="0" rIns="0" bIns="0" rtlCol="0" anchor="ctr"/>
          <a:lstStyle/>
          <a:p>
            <a:pPr algn="ctr" indent="0" marL="0">
              <a:buNone/>
            </a:pPr>
            <a:r>
              <a:rPr lang="en-US" sz="1500" b="1" dirty="0">
                <a:solidFill>
                  <a:srgbClr val="B91C1C"/>
                </a:solidFill>
                <a:latin typeface="Georgia" pitchFamily="34" charset="0"/>
                <a:ea typeface="Georgia" pitchFamily="34" charset="-122"/>
                <a:cs typeface="Georgia" pitchFamily="34" charset="-120"/>
              </a:rPr>
              <a:t>0.572</a:t>
            </a:r>
            <a:endParaRPr lang="en-US" sz="1500" dirty="0"/>
          </a:p>
        </p:txBody>
      </p:sp>
      <p:sp>
        <p:nvSpPr>
          <p:cNvPr id="13" name="Text 11"/>
          <p:cNvSpPr/>
          <p:nvPr/>
        </p:nvSpPr>
        <p:spPr>
          <a:xfrm>
            <a:off x="182880" y="3520440"/>
            <a:ext cx="182880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SSL collapse</a:t>
            </a:r>
            <a:endParaRPr lang="en-US" sz="900" dirty="0"/>
          </a:p>
        </p:txBody>
      </p:sp>
      <p:sp>
        <p:nvSpPr>
          <p:cNvPr id="14" name="Shape 12"/>
          <p:cNvSpPr/>
          <p:nvPr/>
        </p:nvSpPr>
        <p:spPr>
          <a:xfrm>
            <a:off x="2688336" y="2642616"/>
            <a:ext cx="329184" cy="329184"/>
          </a:xfrm>
          <a:prstGeom prst="ellipse">
            <a:avLst/>
          </a:prstGeom>
          <a:solidFill>
            <a:srgbClr val="1A3A52"/>
          </a:solidFill>
          <a:ln w="19050">
            <a:solidFill>
              <a:srgbClr val="FFFFFF"/>
            </a:solidFill>
            <a:prstDash val="solid"/>
          </a:ln>
        </p:spPr>
      </p:sp>
      <p:sp>
        <p:nvSpPr>
          <p:cNvPr id="15" name="Text 13"/>
          <p:cNvSpPr/>
          <p:nvPr/>
        </p:nvSpPr>
        <p:spPr>
          <a:xfrm>
            <a:off x="2011680" y="1600200"/>
            <a:ext cx="1645920" cy="228600"/>
          </a:xfrm>
          <a:prstGeom prst="rect">
            <a:avLst/>
          </a:prstGeom>
          <a:noFill/>
          <a:ln/>
        </p:spPr>
        <p:txBody>
          <a:bodyPr wrap="square" lIns="0" tIns="0" rIns="0" bIns="0" rtlCol="0" anchor="ctr"/>
          <a:lstStyle/>
          <a:p>
            <a:pPr algn="ctr" indent="0" marL="0">
              <a:buNone/>
            </a:pPr>
            <a:r>
              <a:rPr lang="en-US" sz="950" b="1" spc="200" kern="0" dirty="0">
                <a:solidFill>
                  <a:srgbClr val="0D9488"/>
                </a:solidFill>
                <a:latin typeface="Calibri" pitchFamily="34" charset="0"/>
                <a:ea typeface="Calibri" pitchFamily="34" charset="-122"/>
                <a:cs typeface="Calibri" pitchFamily="34" charset="-120"/>
              </a:rPr>
              <a:t>ACT 3</a:t>
            </a:r>
            <a:endParaRPr lang="en-US" sz="950" dirty="0"/>
          </a:p>
        </p:txBody>
      </p:sp>
      <p:sp>
        <p:nvSpPr>
          <p:cNvPr id="16" name="Text 14"/>
          <p:cNvSpPr/>
          <p:nvPr/>
        </p:nvSpPr>
        <p:spPr>
          <a:xfrm>
            <a:off x="2011680" y="1874520"/>
            <a:ext cx="1645920" cy="274320"/>
          </a:xfrm>
          <a:prstGeom prst="rect">
            <a:avLst/>
          </a:prstGeom>
          <a:noFill/>
          <a:ln/>
        </p:spPr>
        <p:txBody>
          <a:bodyPr wrap="square" lIns="0" tIns="0" rIns="0" bIns="0" rtlCol="0" anchor="ctr"/>
          <a:lstStyle/>
          <a:p>
            <a:pPr algn="ctr" indent="0" marL="0">
              <a:buNone/>
            </a:pPr>
            <a:r>
              <a:rPr lang="en-US" sz="1300" b="1" dirty="0">
                <a:solidFill>
                  <a:srgbClr val="1A3A52"/>
                </a:solidFill>
                <a:latin typeface="Georgia" pitchFamily="34" charset="0"/>
                <a:ea typeface="Georgia" pitchFamily="34" charset="-122"/>
                <a:cs typeface="Georgia" pitchFamily="34" charset="-120"/>
              </a:rPr>
              <a:t>v17–v19</a:t>
            </a:r>
            <a:endParaRPr lang="en-US" sz="1300" dirty="0"/>
          </a:p>
        </p:txBody>
      </p:sp>
      <p:sp>
        <p:nvSpPr>
          <p:cNvPr id="17" name="Text 15"/>
          <p:cNvSpPr/>
          <p:nvPr/>
        </p:nvSpPr>
        <p:spPr>
          <a:xfrm>
            <a:off x="1965960" y="2194560"/>
            <a:ext cx="17373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EffNet pivot</a:t>
            </a:r>
            <a:endParaRPr lang="en-US" sz="1000" dirty="0"/>
          </a:p>
        </p:txBody>
      </p:sp>
      <p:sp>
        <p:nvSpPr>
          <p:cNvPr id="18" name="Text 16"/>
          <p:cNvSpPr/>
          <p:nvPr/>
        </p:nvSpPr>
        <p:spPr>
          <a:xfrm>
            <a:off x="1965960" y="3200400"/>
            <a:ext cx="1737360" cy="320040"/>
          </a:xfrm>
          <a:prstGeom prst="rect">
            <a:avLst/>
          </a:prstGeom>
          <a:noFill/>
          <a:ln/>
        </p:spPr>
        <p:txBody>
          <a:bodyPr wrap="square" lIns="0" tIns="0" rIns="0" bIns="0" rtlCol="0" anchor="ctr"/>
          <a:lstStyle/>
          <a:p>
            <a:pPr algn="ctr" indent="0" marL="0">
              <a:buNone/>
            </a:pPr>
            <a:r>
              <a:rPr lang="en-US" sz="1500" b="1" dirty="0">
                <a:solidFill>
                  <a:srgbClr val="1A3A52"/>
                </a:solidFill>
                <a:latin typeface="Georgia" pitchFamily="34" charset="0"/>
                <a:ea typeface="Georgia" pitchFamily="34" charset="-122"/>
                <a:cs typeface="Georgia" pitchFamily="34" charset="-120"/>
              </a:rPr>
              <a:t>0.7455</a:t>
            </a:r>
            <a:endParaRPr lang="en-US" sz="1500" dirty="0"/>
          </a:p>
        </p:txBody>
      </p:sp>
      <p:sp>
        <p:nvSpPr>
          <p:cNvPr id="19" name="Text 17"/>
          <p:cNvSpPr/>
          <p:nvPr/>
        </p:nvSpPr>
        <p:spPr>
          <a:xfrm>
            <a:off x="1920240" y="3520440"/>
            <a:ext cx="182880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supervised floor</a:t>
            </a:r>
            <a:endParaRPr lang="en-US" sz="900" dirty="0"/>
          </a:p>
        </p:txBody>
      </p:sp>
      <p:sp>
        <p:nvSpPr>
          <p:cNvPr id="20" name="Shape 18"/>
          <p:cNvSpPr/>
          <p:nvPr/>
        </p:nvSpPr>
        <p:spPr>
          <a:xfrm>
            <a:off x="4425696" y="2642616"/>
            <a:ext cx="329184" cy="329184"/>
          </a:xfrm>
          <a:prstGeom prst="ellipse">
            <a:avLst/>
          </a:prstGeom>
          <a:solidFill>
            <a:srgbClr val="1A3A52"/>
          </a:solidFill>
          <a:ln w="19050">
            <a:solidFill>
              <a:srgbClr val="FFFFFF"/>
            </a:solidFill>
            <a:prstDash val="solid"/>
          </a:ln>
        </p:spPr>
      </p:sp>
      <p:sp>
        <p:nvSpPr>
          <p:cNvPr id="21" name="Text 19"/>
          <p:cNvSpPr/>
          <p:nvPr/>
        </p:nvSpPr>
        <p:spPr>
          <a:xfrm>
            <a:off x="3749040" y="1600200"/>
            <a:ext cx="1645920" cy="228600"/>
          </a:xfrm>
          <a:prstGeom prst="rect">
            <a:avLst/>
          </a:prstGeom>
          <a:noFill/>
          <a:ln/>
        </p:spPr>
        <p:txBody>
          <a:bodyPr wrap="square" lIns="0" tIns="0" rIns="0" bIns="0" rtlCol="0" anchor="ctr"/>
          <a:lstStyle/>
          <a:p>
            <a:pPr algn="ctr" indent="0" marL="0">
              <a:buNone/>
            </a:pPr>
            <a:r>
              <a:rPr lang="en-US" sz="950" b="1" spc="200" kern="0" dirty="0">
                <a:solidFill>
                  <a:srgbClr val="0D9488"/>
                </a:solidFill>
                <a:latin typeface="Calibri" pitchFamily="34" charset="0"/>
                <a:ea typeface="Calibri" pitchFamily="34" charset="-122"/>
                <a:cs typeface="Calibri" pitchFamily="34" charset="-120"/>
              </a:rPr>
              <a:t>ACT 4</a:t>
            </a:r>
            <a:endParaRPr lang="en-US" sz="950" dirty="0"/>
          </a:p>
        </p:txBody>
      </p:sp>
      <p:sp>
        <p:nvSpPr>
          <p:cNvPr id="22" name="Text 20"/>
          <p:cNvSpPr/>
          <p:nvPr/>
        </p:nvSpPr>
        <p:spPr>
          <a:xfrm>
            <a:off x="3749040" y="1874520"/>
            <a:ext cx="1645920" cy="274320"/>
          </a:xfrm>
          <a:prstGeom prst="rect">
            <a:avLst/>
          </a:prstGeom>
          <a:noFill/>
          <a:ln/>
        </p:spPr>
        <p:txBody>
          <a:bodyPr wrap="square" lIns="0" tIns="0" rIns="0" bIns="0" rtlCol="0" anchor="ctr"/>
          <a:lstStyle/>
          <a:p>
            <a:pPr algn="ctr" indent="0" marL="0">
              <a:buNone/>
            </a:pPr>
            <a:r>
              <a:rPr lang="en-US" sz="1300" b="1" dirty="0">
                <a:solidFill>
                  <a:srgbClr val="1A3A52"/>
                </a:solidFill>
                <a:latin typeface="Georgia" pitchFamily="34" charset="0"/>
                <a:ea typeface="Georgia" pitchFamily="34" charset="-122"/>
                <a:cs typeface="Georgia" pitchFamily="34" charset="-120"/>
              </a:rPr>
              <a:t>v20–v41</a:t>
            </a:r>
            <a:endParaRPr lang="en-US" sz="1300" dirty="0"/>
          </a:p>
        </p:txBody>
      </p:sp>
      <p:sp>
        <p:nvSpPr>
          <p:cNvPr id="23" name="Text 21"/>
          <p:cNvSpPr/>
          <p:nvPr/>
        </p:nvSpPr>
        <p:spPr>
          <a:xfrm>
            <a:off x="3703320" y="2194560"/>
            <a:ext cx="17373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Regularizer search</a:t>
            </a:r>
            <a:endParaRPr lang="en-US" sz="1000" dirty="0"/>
          </a:p>
        </p:txBody>
      </p:sp>
      <p:sp>
        <p:nvSpPr>
          <p:cNvPr id="24" name="Text 22"/>
          <p:cNvSpPr/>
          <p:nvPr/>
        </p:nvSpPr>
        <p:spPr>
          <a:xfrm>
            <a:off x="3703320" y="3200400"/>
            <a:ext cx="1737360" cy="320040"/>
          </a:xfrm>
          <a:prstGeom prst="rect">
            <a:avLst/>
          </a:prstGeom>
          <a:noFill/>
          <a:ln/>
        </p:spPr>
        <p:txBody>
          <a:bodyPr wrap="square" lIns="0" tIns="0" rIns="0" bIns="0" rtlCol="0" anchor="ctr"/>
          <a:lstStyle/>
          <a:p>
            <a:pPr algn="ctr" indent="0" marL="0">
              <a:buNone/>
            </a:pPr>
            <a:r>
              <a:rPr lang="en-US" sz="1500" b="1" dirty="0">
                <a:solidFill>
                  <a:srgbClr val="1A3A52"/>
                </a:solidFill>
                <a:latin typeface="Georgia" pitchFamily="34" charset="0"/>
                <a:ea typeface="Georgia" pitchFamily="34" charset="-122"/>
                <a:cs typeface="Georgia" pitchFamily="34" charset="-120"/>
              </a:rPr>
              <a:t>0.7563</a:t>
            </a:r>
            <a:endParaRPr lang="en-US" sz="1500" dirty="0"/>
          </a:p>
        </p:txBody>
      </p:sp>
      <p:sp>
        <p:nvSpPr>
          <p:cNvPr id="25" name="Text 23"/>
          <p:cNvSpPr/>
          <p:nvPr/>
        </p:nvSpPr>
        <p:spPr>
          <a:xfrm>
            <a:off x="3657600" y="3520440"/>
            <a:ext cx="182880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v41 +0.011</a:t>
            </a:r>
            <a:endParaRPr lang="en-US" sz="900" dirty="0"/>
          </a:p>
        </p:txBody>
      </p:sp>
      <p:sp>
        <p:nvSpPr>
          <p:cNvPr id="26" name="Shape 24"/>
          <p:cNvSpPr/>
          <p:nvPr/>
        </p:nvSpPr>
        <p:spPr>
          <a:xfrm>
            <a:off x="6163056" y="2642616"/>
            <a:ext cx="329184" cy="329184"/>
          </a:xfrm>
          <a:prstGeom prst="ellipse">
            <a:avLst/>
          </a:prstGeom>
          <a:solidFill>
            <a:srgbClr val="059669"/>
          </a:solidFill>
          <a:ln w="19050">
            <a:solidFill>
              <a:srgbClr val="FFFFFF"/>
            </a:solidFill>
            <a:prstDash val="solid"/>
          </a:ln>
        </p:spPr>
      </p:sp>
      <p:sp>
        <p:nvSpPr>
          <p:cNvPr id="27" name="Text 25"/>
          <p:cNvSpPr/>
          <p:nvPr/>
        </p:nvSpPr>
        <p:spPr>
          <a:xfrm>
            <a:off x="5486400" y="1600200"/>
            <a:ext cx="1645920" cy="228600"/>
          </a:xfrm>
          <a:prstGeom prst="rect">
            <a:avLst/>
          </a:prstGeom>
          <a:noFill/>
          <a:ln/>
        </p:spPr>
        <p:txBody>
          <a:bodyPr wrap="square" lIns="0" tIns="0" rIns="0" bIns="0" rtlCol="0" anchor="ctr"/>
          <a:lstStyle/>
          <a:p>
            <a:pPr algn="ctr" indent="0" marL="0">
              <a:buNone/>
            </a:pPr>
            <a:r>
              <a:rPr lang="en-US" sz="950" b="1" spc="200" kern="0" dirty="0">
                <a:solidFill>
                  <a:srgbClr val="0D9488"/>
                </a:solidFill>
                <a:latin typeface="Calibri" pitchFamily="34" charset="0"/>
                <a:ea typeface="Calibri" pitchFamily="34" charset="-122"/>
                <a:cs typeface="Calibri" pitchFamily="34" charset="-120"/>
              </a:rPr>
              <a:t>ACT 5A</a:t>
            </a:r>
            <a:endParaRPr lang="en-US" sz="950" dirty="0"/>
          </a:p>
        </p:txBody>
      </p:sp>
      <p:sp>
        <p:nvSpPr>
          <p:cNvPr id="28" name="Text 26"/>
          <p:cNvSpPr/>
          <p:nvPr/>
        </p:nvSpPr>
        <p:spPr>
          <a:xfrm>
            <a:off x="5486400" y="1874520"/>
            <a:ext cx="1645920" cy="274320"/>
          </a:xfrm>
          <a:prstGeom prst="rect">
            <a:avLst/>
          </a:prstGeom>
          <a:noFill/>
          <a:ln/>
        </p:spPr>
        <p:txBody>
          <a:bodyPr wrap="square" lIns="0" tIns="0" rIns="0" bIns="0" rtlCol="0" anchor="ctr"/>
          <a:lstStyle/>
          <a:p>
            <a:pPr algn="ctr" indent="0" marL="0">
              <a:buNone/>
            </a:pPr>
            <a:r>
              <a:rPr lang="en-US" sz="1300" b="1" dirty="0">
                <a:solidFill>
                  <a:srgbClr val="1A3A52"/>
                </a:solidFill>
                <a:latin typeface="Georgia" pitchFamily="34" charset="0"/>
                <a:ea typeface="Georgia" pitchFamily="34" charset="-122"/>
                <a:cs typeface="Georgia" pitchFamily="34" charset="-120"/>
              </a:rPr>
              <a:t>v42–v44</a:t>
            </a:r>
            <a:endParaRPr lang="en-US" sz="1300" dirty="0"/>
          </a:p>
        </p:txBody>
      </p:sp>
      <p:sp>
        <p:nvSpPr>
          <p:cNvPr id="29" name="Text 27"/>
          <p:cNvSpPr/>
          <p:nvPr/>
        </p:nvSpPr>
        <p:spPr>
          <a:xfrm>
            <a:off x="5440680" y="2194560"/>
            <a:ext cx="17373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Hard pseudo-labels</a:t>
            </a:r>
            <a:endParaRPr lang="en-US" sz="1000" dirty="0"/>
          </a:p>
        </p:txBody>
      </p:sp>
      <p:sp>
        <p:nvSpPr>
          <p:cNvPr id="30" name="Text 28"/>
          <p:cNvSpPr/>
          <p:nvPr/>
        </p:nvSpPr>
        <p:spPr>
          <a:xfrm>
            <a:off x="5440680" y="3200400"/>
            <a:ext cx="1737360" cy="320040"/>
          </a:xfrm>
          <a:prstGeom prst="rect">
            <a:avLst/>
          </a:prstGeom>
          <a:noFill/>
          <a:ln/>
        </p:spPr>
        <p:txBody>
          <a:bodyPr wrap="square" lIns="0" tIns="0" rIns="0" bIns="0" rtlCol="0" anchor="ctr"/>
          <a:lstStyle/>
          <a:p>
            <a:pPr algn="ctr" indent="0" marL="0">
              <a:buNone/>
            </a:pPr>
            <a:r>
              <a:rPr lang="en-US" sz="1500" b="1" dirty="0">
                <a:solidFill>
                  <a:srgbClr val="059669"/>
                </a:solidFill>
                <a:latin typeface="Georgia" pitchFamily="34" charset="0"/>
                <a:ea typeface="Georgia" pitchFamily="34" charset="-122"/>
                <a:cs typeface="Georgia" pitchFamily="34" charset="-120"/>
              </a:rPr>
              <a:t>0.7812</a:t>
            </a:r>
            <a:endParaRPr lang="en-US" sz="1500" dirty="0"/>
          </a:p>
        </p:txBody>
      </p:sp>
      <p:sp>
        <p:nvSpPr>
          <p:cNvPr id="31" name="Text 29"/>
          <p:cNvSpPr/>
          <p:nvPr/>
        </p:nvSpPr>
        <p:spPr>
          <a:xfrm>
            <a:off x="5394960" y="3520440"/>
            <a:ext cx="182880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v44 +0.025 (Lee 2013)</a:t>
            </a:r>
            <a:endParaRPr lang="en-US" sz="900" dirty="0"/>
          </a:p>
        </p:txBody>
      </p:sp>
      <p:sp>
        <p:nvSpPr>
          <p:cNvPr id="32" name="Shape 30"/>
          <p:cNvSpPr/>
          <p:nvPr/>
        </p:nvSpPr>
        <p:spPr>
          <a:xfrm>
            <a:off x="7991856" y="2642616"/>
            <a:ext cx="329184" cy="329184"/>
          </a:xfrm>
          <a:prstGeom prst="ellipse">
            <a:avLst/>
          </a:prstGeom>
          <a:solidFill>
            <a:srgbClr val="D97706"/>
          </a:solidFill>
          <a:ln w="19050">
            <a:solidFill>
              <a:srgbClr val="FFFFFF"/>
            </a:solidFill>
            <a:prstDash val="solid"/>
          </a:ln>
        </p:spPr>
      </p:sp>
      <p:sp>
        <p:nvSpPr>
          <p:cNvPr id="33" name="Text 31"/>
          <p:cNvSpPr/>
          <p:nvPr/>
        </p:nvSpPr>
        <p:spPr>
          <a:xfrm>
            <a:off x="7315200" y="1600200"/>
            <a:ext cx="1645920" cy="228600"/>
          </a:xfrm>
          <a:prstGeom prst="rect">
            <a:avLst/>
          </a:prstGeom>
          <a:noFill/>
          <a:ln/>
        </p:spPr>
        <p:txBody>
          <a:bodyPr wrap="square" lIns="0" tIns="0" rIns="0" bIns="0" rtlCol="0" anchor="ctr"/>
          <a:lstStyle/>
          <a:p>
            <a:pPr algn="ctr" indent="0" marL="0">
              <a:buNone/>
            </a:pPr>
            <a:r>
              <a:rPr lang="en-US" sz="950" b="1" spc="200" kern="0" dirty="0">
                <a:solidFill>
                  <a:srgbClr val="0D9488"/>
                </a:solidFill>
                <a:latin typeface="Calibri" pitchFamily="34" charset="0"/>
                <a:ea typeface="Calibri" pitchFamily="34" charset="-122"/>
                <a:cs typeface="Calibri" pitchFamily="34" charset="-120"/>
              </a:rPr>
              <a:t>ACT 5B</a:t>
            </a:r>
            <a:endParaRPr lang="en-US" sz="950" dirty="0"/>
          </a:p>
        </p:txBody>
      </p:sp>
      <p:sp>
        <p:nvSpPr>
          <p:cNvPr id="34" name="Text 32"/>
          <p:cNvSpPr/>
          <p:nvPr/>
        </p:nvSpPr>
        <p:spPr>
          <a:xfrm>
            <a:off x="7315200" y="1874520"/>
            <a:ext cx="1645920" cy="274320"/>
          </a:xfrm>
          <a:prstGeom prst="rect">
            <a:avLst/>
          </a:prstGeom>
          <a:noFill/>
          <a:ln/>
        </p:spPr>
        <p:txBody>
          <a:bodyPr wrap="square" lIns="0" tIns="0" rIns="0" bIns="0" rtlCol="0" anchor="ctr"/>
          <a:lstStyle/>
          <a:p>
            <a:pPr algn="ctr" indent="0" marL="0">
              <a:buNone/>
            </a:pPr>
            <a:r>
              <a:rPr lang="en-US" sz="1300" b="1" dirty="0">
                <a:solidFill>
                  <a:srgbClr val="1A3A52"/>
                </a:solidFill>
                <a:latin typeface="Georgia" pitchFamily="34" charset="0"/>
                <a:ea typeface="Georgia" pitchFamily="34" charset="-122"/>
                <a:cs typeface="Georgia" pitchFamily="34" charset="-120"/>
              </a:rPr>
              <a:t>v46→v47</a:t>
            </a:r>
            <a:endParaRPr lang="en-US" sz="1300" dirty="0"/>
          </a:p>
        </p:txBody>
      </p:sp>
      <p:sp>
        <p:nvSpPr>
          <p:cNvPr id="35" name="Text 33"/>
          <p:cNvSpPr/>
          <p:nvPr/>
        </p:nvSpPr>
        <p:spPr>
          <a:xfrm>
            <a:off x="7269480" y="2194560"/>
            <a:ext cx="17373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Soft distillation</a:t>
            </a:r>
            <a:endParaRPr lang="en-US" sz="1000" dirty="0"/>
          </a:p>
        </p:txBody>
      </p:sp>
      <p:sp>
        <p:nvSpPr>
          <p:cNvPr id="36" name="Text 34"/>
          <p:cNvSpPr/>
          <p:nvPr/>
        </p:nvSpPr>
        <p:spPr>
          <a:xfrm>
            <a:off x="7269480" y="3200400"/>
            <a:ext cx="1737360" cy="320040"/>
          </a:xfrm>
          <a:prstGeom prst="rect">
            <a:avLst/>
          </a:prstGeom>
          <a:noFill/>
          <a:ln/>
        </p:spPr>
        <p:txBody>
          <a:bodyPr wrap="square" lIns="0" tIns="0" rIns="0" bIns="0" rtlCol="0" anchor="ctr"/>
          <a:lstStyle/>
          <a:p>
            <a:pPr algn="ctr" indent="0" marL="0">
              <a:buNone/>
            </a:pPr>
            <a:r>
              <a:rPr lang="en-US" sz="1500" b="1" dirty="0">
                <a:solidFill>
                  <a:srgbClr val="D97706"/>
                </a:solidFill>
                <a:latin typeface="Georgia" pitchFamily="34" charset="0"/>
                <a:ea typeface="Georgia" pitchFamily="34" charset="-122"/>
                <a:cs typeface="Georgia" pitchFamily="34" charset="-120"/>
              </a:rPr>
              <a:t>0.8264</a:t>
            </a:r>
            <a:endParaRPr lang="en-US" sz="1500" dirty="0"/>
          </a:p>
        </p:txBody>
      </p:sp>
      <p:sp>
        <p:nvSpPr>
          <p:cNvPr id="37" name="Text 35"/>
          <p:cNvSpPr/>
          <p:nvPr/>
        </p:nvSpPr>
        <p:spPr>
          <a:xfrm>
            <a:off x="7223760" y="3520440"/>
            <a:ext cx="1828800" cy="27432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+0.039 + 0.003 · final pick</a:t>
            </a:r>
            <a:endParaRPr lang="en-US" sz="900" dirty="0"/>
          </a:p>
        </p:txBody>
      </p:sp>
      <p:sp>
        <p:nvSpPr>
          <p:cNvPr id="38" name="Shape 36"/>
          <p:cNvSpPr/>
          <p:nvPr/>
        </p:nvSpPr>
        <p:spPr>
          <a:xfrm>
            <a:off x="274320" y="4114800"/>
            <a:ext cx="8595360" cy="502920"/>
          </a:xfrm>
          <a:prstGeom prst="rect">
            <a:avLst/>
          </a:prstGeom>
          <a:solidFill>
            <a:srgbClr val="1A3A52"/>
          </a:solidFill>
          <a:ln w="12700">
            <a:solidFill>
              <a:srgbClr val="1A3A52"/>
            </a:solidFill>
            <a:prstDash val="solid"/>
          </a:ln>
        </p:spPr>
      </p:sp>
      <p:sp>
        <p:nvSpPr>
          <p:cNvPr id="39" name="Shape 37"/>
          <p:cNvSpPr/>
          <p:nvPr/>
        </p:nvSpPr>
        <p:spPr>
          <a:xfrm>
            <a:off x="274320" y="4114800"/>
            <a:ext cx="64008" cy="502920"/>
          </a:xfrm>
          <a:prstGeom prst="rect">
            <a:avLst/>
          </a:prstGeom>
          <a:solidFill>
            <a:srgbClr val="D97706"/>
          </a:solidFill>
          <a:ln w="12700">
            <a:solidFill>
              <a:srgbClr val="D97706"/>
            </a:solidFill>
            <a:prstDash val="solid"/>
          </a:ln>
        </p:spPr>
      </p:sp>
      <p:sp>
        <p:nvSpPr>
          <p:cNvPr id="40" name="Text 38"/>
          <p:cNvSpPr/>
          <p:nvPr/>
        </p:nvSpPr>
        <p:spPr>
          <a:xfrm>
            <a:off x="475488" y="4224528"/>
            <a:ext cx="8321040" cy="274320"/>
          </a:xfrm>
          <a:prstGeom prst="rect">
            <a:avLst/>
          </a:prstGeom>
          <a:noFill/>
          <a:ln/>
        </p:spPr>
        <p:txBody>
          <a:bodyPr wrap="square" lIns="0" tIns="0" rIns="0" bIns="0" rtlCol="0" anchor="ctr"/>
          <a:lstStyle/>
          <a:p>
            <a:pPr indent="0" marL="0">
              <a:buNone/>
            </a:pPr>
            <a:r>
              <a:rPr lang="en-US" sz="950" b="1" spc="400" kern="0" dirty="0">
                <a:solidFill>
                  <a:srgbClr val="D97706"/>
                </a:solidFill>
                <a:latin typeface="Calibri" pitchFamily="34" charset="0"/>
                <a:ea typeface="Calibri" pitchFamily="34" charset="-122"/>
                <a:cs typeface="Calibri" pitchFamily="34" charset="-120"/>
              </a:rPr>
              <a:t>HEADLINE</a:t>
            </a:r>
            <a:endParaRPr lang="en-US" sz="950" dirty="0"/>
          </a:p>
        </p:txBody>
      </p:sp>
      <p:sp>
        <p:nvSpPr>
          <p:cNvPr id="41" name="Text 39"/>
          <p:cNvSpPr/>
          <p:nvPr/>
        </p:nvSpPr>
        <p:spPr>
          <a:xfrm>
            <a:off x="475488" y="4498848"/>
            <a:ext cx="8321040" cy="45720"/>
          </a:xfrm>
          <a:prstGeom prst="rect">
            <a:avLst/>
          </a:prstGeom>
          <a:noFill/>
          <a:ln/>
        </p:spPr>
        <p:txBody>
          <a:bodyPr wrap="square" lIns="0" tIns="0" rIns="0" bIns="0" rtlCol="0" anchor="t"/>
          <a:lstStyle/>
          <a:p>
            <a:pPr indent="0" marL="0">
              <a:buNone/>
            </a:pPr>
            <a:r>
              <a:rPr lang="en-US" sz="1150" i="1" dirty="0">
                <a:solidFill>
                  <a:srgbClr val="FAF7F2"/>
                </a:solidFill>
                <a:latin typeface="Georgia" pitchFamily="34" charset="0"/>
                <a:ea typeface="Georgia" pitchFamily="34" charset="-122"/>
                <a:cs typeface="Georgia" pitchFamily="34" charset="-120"/>
              </a:rPr>
              <a:t>+0.081 LB across 30 versions — half of it from one mechanism (soft pseudo / Hinton).</a:t>
            </a:r>
            <a:endParaRPr lang="en-US" sz="1150" dirty="0"/>
          </a:p>
        </p:txBody>
      </p:sp>
      <p:sp>
        <p:nvSpPr>
          <p:cNvPr id="42" name="Text 40"/>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43" name="Text 41"/>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§4  ·  ACT 2 — THE AMBITION</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05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v15 / v16: best CV I ever saw, worst LB</a:t>
            </a:r>
            <a:endParaRPr lang="en-US" sz="2600" dirty="0"/>
          </a:p>
        </p:txBody>
      </p:sp>
      <p:sp>
        <p:nvSpPr>
          <p:cNvPr id="6" name="Text 4"/>
          <p:cNvSpPr/>
          <p:nvPr/>
        </p:nvSpPr>
        <p:spPr>
          <a:xfrm>
            <a:off x="274320" y="1188720"/>
            <a:ext cx="8595360" cy="320040"/>
          </a:xfrm>
          <a:prstGeom prst="rect">
            <a:avLst/>
          </a:prstGeom>
          <a:noFill/>
          <a:ln/>
        </p:spPr>
        <p:txBody>
          <a:bodyPr wrap="square" lIns="0" tIns="0" rIns="0" bIns="0" rtlCol="0" anchor="ctr"/>
          <a:lstStyle/>
          <a:p>
            <a:pPr indent="0" marL="0">
              <a:buNone/>
            </a:pPr>
            <a:r>
              <a:rPr lang="en-US" sz="1300" i="1" dirty="0">
                <a:solidFill>
                  <a:srgbClr val="64748B"/>
                </a:solidFill>
                <a:latin typeface="Georgia" pitchFamily="34" charset="0"/>
                <a:ea typeface="Georgia" pitchFamily="34" charset="-122"/>
                <a:cs typeface="Georgia" pitchFamily="34" charset="-120"/>
              </a:rPr>
              <a:t>CoMIR-style cross-modal SSL — and a 29-point generalisation gap.</a:t>
            </a:r>
            <a:endParaRPr lang="en-US" sz="1300" dirty="0"/>
          </a:p>
        </p:txBody>
      </p:sp>
      <p:sp>
        <p:nvSpPr>
          <p:cNvPr id="7" name="Text 5"/>
          <p:cNvSpPr/>
          <p:nvPr/>
        </p:nvSpPr>
        <p:spPr>
          <a:xfrm>
            <a:off x="274320" y="1508760"/>
            <a:ext cx="4572000" cy="256032"/>
          </a:xfrm>
          <a:prstGeom prst="rect">
            <a:avLst/>
          </a:prstGeom>
          <a:noFill/>
          <a:ln/>
        </p:spPr>
        <p:txBody>
          <a:bodyPr wrap="square" lIns="0" tIns="0" rIns="0" bIns="0" rtlCol="0" anchor="ctr"/>
          <a:lstStyle/>
          <a:p>
            <a:pPr indent="0" marL="0">
              <a:buNone/>
            </a:pPr>
            <a:r>
              <a:rPr lang="en-US" sz="1050" b="1" spc="300" kern="0" dirty="0">
                <a:solidFill>
                  <a:srgbClr val="0D9488"/>
                </a:solidFill>
                <a:latin typeface="Calibri" pitchFamily="34" charset="0"/>
                <a:ea typeface="Calibri" pitchFamily="34" charset="-122"/>
                <a:cs typeface="Calibri" pitchFamily="34" charset="-120"/>
              </a:rPr>
              <a:t>What we built</a:t>
            </a:r>
            <a:endParaRPr lang="en-US" sz="1050" dirty="0"/>
          </a:p>
        </p:txBody>
      </p:sp>
      <p:sp>
        <p:nvSpPr>
          <p:cNvPr id="8" name="Shape 6"/>
          <p:cNvSpPr/>
          <p:nvPr/>
        </p:nvSpPr>
        <p:spPr>
          <a:xfrm>
            <a:off x="274320" y="1783080"/>
            <a:ext cx="36576" cy="1645920"/>
          </a:xfrm>
          <a:prstGeom prst="rect">
            <a:avLst/>
          </a:prstGeom>
          <a:solidFill>
            <a:srgbClr val="B91C1C">
              <a:alpha val="70000"/>
            </a:srgbClr>
          </a:solidFill>
          <a:ln w="12700">
            <a:solidFill>
              <a:srgbClr val="B91C1C"/>
            </a:solidFill>
            <a:prstDash val="solid"/>
          </a:ln>
        </p:spPr>
      </p:sp>
      <p:sp>
        <p:nvSpPr>
          <p:cNvPr id="9" name="Text 7"/>
          <p:cNvSpPr/>
          <p:nvPr/>
        </p:nvSpPr>
        <p:spPr>
          <a:xfrm>
            <a:off x="438912" y="1801368"/>
            <a:ext cx="4370832" cy="1645920"/>
          </a:xfrm>
          <a:prstGeom prst="rect">
            <a:avLst/>
          </a:prstGeom>
          <a:noFill/>
          <a:ln/>
        </p:spPr>
        <p:txBody>
          <a:bodyPr wrap="square" lIns="0" tIns="0" rIns="0" bIns="0" rtlCol="0" anchor="t"/>
          <a:lstStyle/>
          <a:p>
            <a:pPr indent="0" marL="0">
              <a:spcAft>
                <a:spcPts val="600"/>
              </a:spcAft>
              <a:buNone/>
            </a:pPr>
            <a:r>
              <a:rPr lang="en-US" sz="110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Two ResNet-18 branches (BF + FL) with projection heads</a:t>
            </a:r>
            <a:endParaRPr lang="en-US" sz="1100" dirty="0"/>
          </a:p>
          <a:p>
            <a:pPr indent="0" marL="0">
              <a:spcAft>
                <a:spcPts val="600"/>
              </a:spcAft>
              <a:buNone/>
            </a:pPr>
            <a:r>
              <a:rPr lang="en-US" sz="110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NT-Xent contrastive pretrain, τ = 0.1 · 10 epochs</a:t>
            </a:r>
            <a:endParaRPr lang="en-US" sz="1100" dirty="0"/>
          </a:p>
          <a:p>
            <a:pPr indent="0" marL="0">
              <a:spcAft>
                <a:spcPts val="600"/>
              </a:spcAft>
              <a:buNone/>
            </a:pPr>
            <a:r>
              <a:rPr lang="en-US" sz="110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Supervised fine-tune · 8 epochs · discriminative LR</a:t>
            </a:r>
            <a:endParaRPr lang="en-US" sz="1100" dirty="0"/>
          </a:p>
          <a:p>
            <a:pPr indent="0" marL="0">
              <a:spcAft>
                <a:spcPts val="600"/>
              </a:spcAft>
              <a:buNone/>
            </a:pPr>
            <a:r>
              <a:rPr lang="en-US" sz="110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100" b="1" dirty="0">
                <a:solidFill>
                  <a:srgbClr val="334155"/>
                </a:solidFill>
                <a:latin typeface="Calibri" pitchFamily="34" charset="0"/>
                <a:ea typeface="Calibri" pitchFamily="34" charset="-122"/>
                <a:cs typeface="Calibri" pitchFamily="34" charset="-120"/>
              </a:rPr>
              <a:t>3-fold stratified-group CV</a:t>
            </a:r>
            <a:pPr indent="0" marL="0">
              <a:spcAft>
                <a:spcPts val="600"/>
              </a:spcAft>
              <a:buNone/>
            </a:pPr>
            <a:r>
              <a:rPr lang="en-US" sz="1000" i="1" dirty="0">
                <a:solidFill>
                  <a:srgbClr val="64748B"/>
                </a:solidFill>
                <a:latin typeface="Calibri" pitchFamily="34" charset="0"/>
                <a:ea typeface="Calibri" pitchFamily="34" charset="-122"/>
                <a:cs typeface="Calibri" pitchFamily="34" charset="-120"/>
              </a:rPr>
              <a:t>  hid the failure — two of three folds had val patients similar to train</a:t>
            </a:r>
            <a:endParaRPr lang="en-US" sz="1100" dirty="0"/>
          </a:p>
        </p:txBody>
      </p:sp>
      <p:sp>
        <p:nvSpPr>
          <p:cNvPr id="10" name="Shape 8"/>
          <p:cNvSpPr/>
          <p:nvPr/>
        </p:nvSpPr>
        <p:spPr>
          <a:xfrm>
            <a:off x="5120640" y="1508760"/>
            <a:ext cx="3749040" cy="96012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1" name="Shape 9"/>
          <p:cNvSpPr/>
          <p:nvPr/>
        </p:nvSpPr>
        <p:spPr>
          <a:xfrm>
            <a:off x="5120640" y="1508760"/>
            <a:ext cx="64008" cy="960120"/>
          </a:xfrm>
          <a:prstGeom prst="rect">
            <a:avLst/>
          </a:prstGeom>
          <a:solidFill>
            <a:srgbClr val="059669"/>
          </a:solidFill>
          <a:ln w="12700">
            <a:solidFill>
              <a:srgbClr val="059669"/>
            </a:solidFill>
            <a:prstDash val="solid"/>
          </a:ln>
        </p:spPr>
      </p:sp>
      <p:sp>
        <p:nvSpPr>
          <p:cNvPr id="12" name="Text 10"/>
          <p:cNvSpPr/>
          <p:nvPr/>
        </p:nvSpPr>
        <p:spPr>
          <a:xfrm>
            <a:off x="5303520" y="1600200"/>
            <a:ext cx="3474720" cy="528066"/>
          </a:xfrm>
          <a:prstGeom prst="rect">
            <a:avLst/>
          </a:prstGeom>
          <a:noFill/>
          <a:ln/>
        </p:spPr>
        <p:txBody>
          <a:bodyPr wrap="square" lIns="0" tIns="0" rIns="0" bIns="0" rtlCol="0" anchor="t"/>
          <a:lstStyle/>
          <a:p>
            <a:pPr algn="l" indent="0" marL="0">
              <a:buNone/>
            </a:pPr>
            <a:r>
              <a:rPr lang="en-US" sz="3200" b="1" dirty="0">
                <a:solidFill>
                  <a:srgbClr val="059669"/>
                </a:solidFill>
                <a:latin typeface="Georgia" pitchFamily="34" charset="0"/>
                <a:ea typeface="Georgia" pitchFamily="34" charset="-122"/>
                <a:cs typeface="Georgia" pitchFamily="34" charset="-120"/>
              </a:rPr>
              <a:t>0.866</a:t>
            </a:r>
            <a:endParaRPr lang="en-US" sz="3200" dirty="0"/>
          </a:p>
        </p:txBody>
      </p:sp>
      <p:sp>
        <p:nvSpPr>
          <p:cNvPr id="13" name="Text 11"/>
          <p:cNvSpPr/>
          <p:nvPr/>
        </p:nvSpPr>
        <p:spPr>
          <a:xfrm>
            <a:off x="5303520" y="2036826"/>
            <a:ext cx="3474720" cy="432054"/>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CV AUC  ·  3-fold stratified-group  ·  best I'd ever seen</a:t>
            </a:r>
            <a:endParaRPr lang="en-US" sz="1000" dirty="0"/>
          </a:p>
        </p:txBody>
      </p:sp>
      <p:sp>
        <p:nvSpPr>
          <p:cNvPr id="14" name="Shape 12"/>
          <p:cNvSpPr/>
          <p:nvPr/>
        </p:nvSpPr>
        <p:spPr>
          <a:xfrm>
            <a:off x="5120640" y="2560320"/>
            <a:ext cx="3749040" cy="96012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5" name="Shape 13"/>
          <p:cNvSpPr/>
          <p:nvPr/>
        </p:nvSpPr>
        <p:spPr>
          <a:xfrm>
            <a:off x="5120640" y="2560320"/>
            <a:ext cx="64008" cy="960120"/>
          </a:xfrm>
          <a:prstGeom prst="rect">
            <a:avLst/>
          </a:prstGeom>
          <a:solidFill>
            <a:srgbClr val="B91C1C"/>
          </a:solidFill>
          <a:ln w="12700">
            <a:solidFill>
              <a:srgbClr val="B91C1C"/>
            </a:solidFill>
            <a:prstDash val="solid"/>
          </a:ln>
        </p:spPr>
      </p:sp>
      <p:sp>
        <p:nvSpPr>
          <p:cNvPr id="16" name="Text 14"/>
          <p:cNvSpPr/>
          <p:nvPr/>
        </p:nvSpPr>
        <p:spPr>
          <a:xfrm>
            <a:off x="5303520" y="2651760"/>
            <a:ext cx="3474720" cy="528066"/>
          </a:xfrm>
          <a:prstGeom prst="rect">
            <a:avLst/>
          </a:prstGeom>
          <a:noFill/>
          <a:ln/>
        </p:spPr>
        <p:txBody>
          <a:bodyPr wrap="square" lIns="0" tIns="0" rIns="0" bIns="0" rtlCol="0" anchor="t"/>
          <a:lstStyle/>
          <a:p>
            <a:pPr algn="l" indent="0" marL="0">
              <a:buNone/>
            </a:pPr>
            <a:r>
              <a:rPr lang="en-US" sz="3200" b="1" dirty="0">
                <a:solidFill>
                  <a:srgbClr val="B91C1C"/>
                </a:solidFill>
                <a:latin typeface="Georgia" pitchFamily="34" charset="0"/>
                <a:ea typeface="Georgia" pitchFamily="34" charset="-122"/>
                <a:cs typeface="Georgia" pitchFamily="34" charset="-120"/>
              </a:rPr>
              <a:t>0.572</a:t>
            </a:r>
            <a:endParaRPr lang="en-US" sz="3200" dirty="0"/>
          </a:p>
        </p:txBody>
      </p:sp>
      <p:sp>
        <p:nvSpPr>
          <p:cNvPr id="17" name="Text 15"/>
          <p:cNvSpPr/>
          <p:nvPr/>
        </p:nvSpPr>
        <p:spPr>
          <a:xfrm>
            <a:off x="5303520" y="3088386"/>
            <a:ext cx="3474720" cy="432054"/>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PUBLIC LB · v15 submission · 29 AUC points of OOD gap</a:t>
            </a:r>
            <a:endParaRPr lang="en-US" sz="1000" dirty="0"/>
          </a:p>
        </p:txBody>
      </p:sp>
      <p:sp>
        <p:nvSpPr>
          <p:cNvPr id="18" name="Shape 16"/>
          <p:cNvSpPr/>
          <p:nvPr/>
        </p:nvSpPr>
        <p:spPr>
          <a:xfrm>
            <a:off x="5120640" y="3611880"/>
            <a:ext cx="3749040" cy="77724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9" name="Shape 17"/>
          <p:cNvSpPr/>
          <p:nvPr/>
        </p:nvSpPr>
        <p:spPr>
          <a:xfrm>
            <a:off x="5120640" y="3611880"/>
            <a:ext cx="64008" cy="777240"/>
          </a:xfrm>
          <a:prstGeom prst="rect">
            <a:avLst/>
          </a:prstGeom>
          <a:solidFill>
            <a:srgbClr val="B91C1C"/>
          </a:solidFill>
          <a:ln w="12700">
            <a:solidFill>
              <a:srgbClr val="B91C1C"/>
            </a:solidFill>
            <a:prstDash val="solid"/>
          </a:ln>
        </p:spPr>
      </p:sp>
      <p:sp>
        <p:nvSpPr>
          <p:cNvPr id="20" name="Text 18"/>
          <p:cNvSpPr/>
          <p:nvPr/>
        </p:nvSpPr>
        <p:spPr>
          <a:xfrm>
            <a:off x="5303520" y="3703320"/>
            <a:ext cx="3474720" cy="427482"/>
          </a:xfrm>
          <a:prstGeom prst="rect">
            <a:avLst/>
          </a:prstGeom>
          <a:noFill/>
          <a:ln/>
        </p:spPr>
        <p:txBody>
          <a:bodyPr wrap="square" lIns="0" tIns="0" rIns="0" bIns="0" rtlCol="0" anchor="t"/>
          <a:lstStyle/>
          <a:p>
            <a:pPr algn="l" indent="0" marL="0">
              <a:buNone/>
            </a:pPr>
            <a:r>
              <a:rPr lang="en-US" sz="2000" b="1" dirty="0">
                <a:solidFill>
                  <a:srgbClr val="B91C1C"/>
                </a:solidFill>
                <a:latin typeface="Georgia" pitchFamily="34" charset="0"/>
                <a:ea typeface="Georgia" pitchFamily="34" charset="-122"/>
                <a:cs typeface="Georgia" pitchFamily="34" charset="-120"/>
              </a:rPr>
              <a:t>0.943 → 0.503</a:t>
            </a:r>
            <a:endParaRPr lang="en-US" sz="2000" dirty="0"/>
          </a:p>
        </p:txBody>
      </p:sp>
      <p:sp>
        <p:nvSpPr>
          <p:cNvPr id="21" name="Text 19"/>
          <p:cNvSpPr/>
          <p:nvPr/>
        </p:nvSpPr>
        <p:spPr>
          <a:xfrm>
            <a:off x="5303520" y="4039362"/>
            <a:ext cx="3474720" cy="349758"/>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v16 RESPONSE · 9 careful fixes · LOPO CV — patient-OOF up, LB still random</a:t>
            </a:r>
            <a:endParaRPr lang="en-US" sz="1000" dirty="0"/>
          </a:p>
        </p:txBody>
      </p:sp>
      <p:sp>
        <p:nvSpPr>
          <p:cNvPr id="22" name="Shape 20"/>
          <p:cNvSpPr/>
          <p:nvPr/>
        </p:nvSpPr>
        <p:spPr>
          <a:xfrm>
            <a:off x="274320" y="3703320"/>
            <a:ext cx="4572000" cy="685800"/>
          </a:xfrm>
          <a:prstGeom prst="rect">
            <a:avLst/>
          </a:prstGeom>
          <a:solidFill>
            <a:srgbClr val="1A3A52"/>
          </a:solidFill>
          <a:ln w="12700">
            <a:solidFill>
              <a:srgbClr val="1A3A52"/>
            </a:solidFill>
            <a:prstDash val="solid"/>
          </a:ln>
        </p:spPr>
      </p:sp>
      <p:sp>
        <p:nvSpPr>
          <p:cNvPr id="23" name="Shape 21"/>
          <p:cNvSpPr/>
          <p:nvPr/>
        </p:nvSpPr>
        <p:spPr>
          <a:xfrm>
            <a:off x="274320" y="3703320"/>
            <a:ext cx="64008" cy="685800"/>
          </a:xfrm>
          <a:prstGeom prst="rect">
            <a:avLst/>
          </a:prstGeom>
          <a:solidFill>
            <a:srgbClr val="B91C1C"/>
          </a:solidFill>
          <a:ln w="12700">
            <a:solidFill>
              <a:srgbClr val="B91C1C"/>
            </a:solidFill>
            <a:prstDash val="solid"/>
          </a:ln>
        </p:spPr>
      </p:sp>
      <p:sp>
        <p:nvSpPr>
          <p:cNvPr id="24" name="Text 22"/>
          <p:cNvSpPr/>
          <p:nvPr/>
        </p:nvSpPr>
        <p:spPr>
          <a:xfrm>
            <a:off x="475488" y="3813048"/>
            <a:ext cx="4297680" cy="274320"/>
          </a:xfrm>
          <a:prstGeom prst="rect">
            <a:avLst/>
          </a:prstGeom>
          <a:noFill/>
          <a:ln/>
        </p:spPr>
        <p:txBody>
          <a:bodyPr wrap="square" lIns="0" tIns="0" rIns="0" bIns="0" rtlCol="0" anchor="ctr"/>
          <a:lstStyle/>
          <a:p>
            <a:pPr indent="0" marL="0">
              <a:buNone/>
            </a:pPr>
            <a:r>
              <a:rPr lang="en-US" sz="950" b="1" spc="400" kern="0" dirty="0">
                <a:solidFill>
                  <a:srgbClr val="B91C1C"/>
                </a:solidFill>
                <a:latin typeface="Calibri" pitchFamily="34" charset="0"/>
                <a:ea typeface="Calibri" pitchFamily="34" charset="-122"/>
                <a:cs typeface="Calibri" pitchFamily="34" charset="-120"/>
              </a:rPr>
              <a:t>DIAGNOSIS</a:t>
            </a:r>
            <a:endParaRPr lang="en-US" sz="950" dirty="0"/>
          </a:p>
        </p:txBody>
      </p:sp>
      <p:sp>
        <p:nvSpPr>
          <p:cNvPr id="25" name="Text 23"/>
          <p:cNvSpPr/>
          <p:nvPr/>
        </p:nvSpPr>
        <p:spPr>
          <a:xfrm>
            <a:off x="475488" y="4087368"/>
            <a:ext cx="4297680" cy="228600"/>
          </a:xfrm>
          <a:prstGeom prst="rect">
            <a:avLst/>
          </a:prstGeom>
          <a:noFill/>
          <a:ln/>
        </p:spPr>
        <p:txBody>
          <a:bodyPr wrap="square" lIns="0" tIns="0" rIns="0" bIns="0" rtlCol="0" anchor="t"/>
          <a:lstStyle/>
          <a:p>
            <a:pPr indent="0" marL="0">
              <a:buNone/>
            </a:pPr>
            <a:r>
              <a:rPr lang="en-US" sz="1050" i="1" dirty="0">
                <a:solidFill>
                  <a:srgbClr val="FAF7F2"/>
                </a:solidFill>
                <a:latin typeface="Georgia" pitchFamily="34" charset="0"/>
                <a:ea typeface="Georgia" pitchFamily="34" charset="-122"/>
                <a:cs typeface="Georgia" pitchFamily="34" charset="-120"/>
              </a:rPr>
              <a:t>Paired (BF, FL) of cell i always share a patient. Contrastive task solved at ≥95 % by encoding patient identity, not cell content.</a:t>
            </a:r>
            <a:endParaRPr lang="en-US" sz="1050" dirty="0"/>
          </a:p>
        </p:txBody>
      </p:sp>
      <p:sp>
        <p:nvSpPr>
          <p:cNvPr id="26" name="Text 24"/>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27" name="Text 25"/>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§5  ·  ACT 3 — THE PIVOT</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06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v19: drop the SSL, model the test distribution</a:t>
            </a:r>
            <a:endParaRPr lang="en-US" sz="2600" dirty="0"/>
          </a:p>
        </p:txBody>
      </p:sp>
      <p:sp>
        <p:nvSpPr>
          <p:cNvPr id="6" name="Text 4"/>
          <p:cNvSpPr/>
          <p:nvPr/>
        </p:nvSpPr>
        <p:spPr>
          <a:xfrm>
            <a:off x="274320" y="1188720"/>
            <a:ext cx="8595360" cy="320040"/>
          </a:xfrm>
          <a:prstGeom prst="rect">
            <a:avLst/>
          </a:prstGeom>
          <a:noFill/>
          <a:ln/>
        </p:spPr>
        <p:txBody>
          <a:bodyPr wrap="square" lIns="0" tIns="0" rIns="0" bIns="0" rtlCol="0" anchor="ctr"/>
          <a:lstStyle/>
          <a:p>
            <a:pPr indent="0" marL="0">
              <a:buNone/>
            </a:pPr>
            <a:r>
              <a:rPr lang="en-US" sz="1300" i="1" dirty="0">
                <a:solidFill>
                  <a:srgbClr val="64748B"/>
                </a:solidFill>
                <a:latin typeface="Georgia" pitchFamily="34" charset="0"/>
                <a:ea typeface="Georgia" pitchFamily="34" charset="-122"/>
                <a:cs typeface="Georgia" pitchFamily="34" charset="-120"/>
              </a:rPr>
              <a:t>Five ingredients. None of them are new. Together: +0.174 LB over v15.</a:t>
            </a:r>
            <a:endParaRPr lang="en-US" sz="1300" dirty="0"/>
          </a:p>
        </p:txBody>
      </p:sp>
      <p:sp>
        <p:nvSpPr>
          <p:cNvPr id="7" name="Shape 5"/>
          <p:cNvSpPr/>
          <p:nvPr/>
        </p:nvSpPr>
        <p:spPr>
          <a:xfrm>
            <a:off x="274320" y="1508760"/>
            <a:ext cx="2834640" cy="109728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8" name="Shape 6"/>
          <p:cNvSpPr/>
          <p:nvPr/>
        </p:nvSpPr>
        <p:spPr>
          <a:xfrm>
            <a:off x="274320" y="1508760"/>
            <a:ext cx="64008" cy="1097280"/>
          </a:xfrm>
          <a:prstGeom prst="rect">
            <a:avLst/>
          </a:prstGeom>
          <a:solidFill>
            <a:srgbClr val="059669"/>
          </a:solidFill>
          <a:ln w="12700">
            <a:solidFill>
              <a:srgbClr val="059669"/>
            </a:solidFill>
            <a:prstDash val="solid"/>
          </a:ln>
        </p:spPr>
      </p:sp>
      <p:sp>
        <p:nvSpPr>
          <p:cNvPr id="9" name="Text 7"/>
          <p:cNvSpPr/>
          <p:nvPr/>
        </p:nvSpPr>
        <p:spPr>
          <a:xfrm>
            <a:off x="457200" y="1600200"/>
            <a:ext cx="2560320" cy="603504"/>
          </a:xfrm>
          <a:prstGeom prst="rect">
            <a:avLst/>
          </a:prstGeom>
          <a:noFill/>
          <a:ln/>
        </p:spPr>
        <p:txBody>
          <a:bodyPr wrap="square" lIns="0" tIns="0" rIns="0" bIns="0" rtlCol="0" anchor="t"/>
          <a:lstStyle/>
          <a:p>
            <a:pPr algn="l" indent="0" marL="0">
              <a:buNone/>
            </a:pPr>
            <a:r>
              <a:rPr lang="en-US" sz="3200" b="1" dirty="0">
                <a:solidFill>
                  <a:srgbClr val="059669"/>
                </a:solidFill>
                <a:latin typeface="Georgia" pitchFamily="34" charset="0"/>
                <a:ea typeface="Georgia" pitchFamily="34" charset="-122"/>
                <a:cs typeface="Georgia" pitchFamily="34" charset="-120"/>
              </a:rPr>
              <a:t>0.7455</a:t>
            </a:r>
            <a:endParaRPr lang="en-US" sz="3200" dirty="0"/>
          </a:p>
        </p:txBody>
      </p:sp>
      <p:sp>
        <p:nvSpPr>
          <p:cNvPr id="10" name="Text 8"/>
          <p:cNvSpPr/>
          <p:nvPr/>
        </p:nvSpPr>
        <p:spPr>
          <a:xfrm>
            <a:off x="457200" y="2112264"/>
            <a:ext cx="2560320" cy="493776"/>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PUBLIC LB · v19 · supervised floor · held ~3 weeks</a:t>
            </a:r>
            <a:endParaRPr lang="en-US" sz="1000" dirty="0"/>
          </a:p>
        </p:txBody>
      </p:sp>
      <p:sp>
        <p:nvSpPr>
          <p:cNvPr id="11" name="Shape 9"/>
          <p:cNvSpPr/>
          <p:nvPr/>
        </p:nvSpPr>
        <p:spPr>
          <a:xfrm>
            <a:off x="3246120" y="1508760"/>
            <a:ext cx="2834640" cy="109728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2" name="Shape 10"/>
          <p:cNvSpPr/>
          <p:nvPr/>
        </p:nvSpPr>
        <p:spPr>
          <a:xfrm>
            <a:off x="3246120" y="1508760"/>
            <a:ext cx="64008" cy="1097280"/>
          </a:xfrm>
          <a:prstGeom prst="rect">
            <a:avLst/>
          </a:prstGeom>
          <a:solidFill>
            <a:srgbClr val="D97706"/>
          </a:solidFill>
          <a:ln w="12700">
            <a:solidFill>
              <a:srgbClr val="D97706"/>
            </a:solidFill>
            <a:prstDash val="solid"/>
          </a:ln>
        </p:spPr>
      </p:sp>
      <p:sp>
        <p:nvSpPr>
          <p:cNvPr id="13" name="Text 11"/>
          <p:cNvSpPr/>
          <p:nvPr/>
        </p:nvSpPr>
        <p:spPr>
          <a:xfrm>
            <a:off x="3429000" y="1600200"/>
            <a:ext cx="2560320" cy="603504"/>
          </a:xfrm>
          <a:prstGeom prst="rect">
            <a:avLst/>
          </a:prstGeom>
          <a:noFill/>
          <a:ln/>
        </p:spPr>
        <p:txBody>
          <a:bodyPr wrap="square" lIns="0" tIns="0" rIns="0" bIns="0" rtlCol="0" anchor="t"/>
          <a:lstStyle/>
          <a:p>
            <a:pPr algn="l" indent="0" marL="0">
              <a:buNone/>
            </a:pPr>
            <a:r>
              <a:rPr lang="en-US" sz="3200" b="1" dirty="0">
                <a:solidFill>
                  <a:srgbClr val="D97706"/>
                </a:solidFill>
                <a:latin typeface="Georgia" pitchFamily="34" charset="0"/>
                <a:ea typeface="Georgia" pitchFamily="34" charset="-122"/>
                <a:cs typeface="Georgia" pitchFamily="34" charset="-120"/>
              </a:rPr>
              <a:t>+0.174</a:t>
            </a:r>
            <a:endParaRPr lang="en-US" sz="3200" dirty="0"/>
          </a:p>
        </p:txBody>
      </p:sp>
      <p:sp>
        <p:nvSpPr>
          <p:cNvPr id="14" name="Text 12"/>
          <p:cNvSpPr/>
          <p:nvPr/>
        </p:nvSpPr>
        <p:spPr>
          <a:xfrm>
            <a:off x="3429000" y="2112264"/>
            <a:ext cx="2560320" cy="493776"/>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VS V15 SSL collapse → floor</a:t>
            </a:r>
            <a:endParaRPr lang="en-US" sz="1000" dirty="0"/>
          </a:p>
        </p:txBody>
      </p:sp>
      <p:sp>
        <p:nvSpPr>
          <p:cNvPr id="15" name="Shape 13"/>
          <p:cNvSpPr/>
          <p:nvPr/>
        </p:nvSpPr>
        <p:spPr>
          <a:xfrm>
            <a:off x="6217920" y="1508760"/>
            <a:ext cx="2651760" cy="109728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6" name="Shape 14"/>
          <p:cNvSpPr/>
          <p:nvPr/>
        </p:nvSpPr>
        <p:spPr>
          <a:xfrm>
            <a:off x="6217920" y="1508760"/>
            <a:ext cx="64008" cy="1097280"/>
          </a:xfrm>
          <a:prstGeom prst="rect">
            <a:avLst/>
          </a:prstGeom>
          <a:solidFill>
            <a:srgbClr val="1A3A52"/>
          </a:solidFill>
          <a:ln w="12700">
            <a:solidFill>
              <a:srgbClr val="1A3A52"/>
            </a:solidFill>
            <a:prstDash val="solid"/>
          </a:ln>
        </p:spPr>
      </p:sp>
      <p:sp>
        <p:nvSpPr>
          <p:cNvPr id="17" name="Text 15"/>
          <p:cNvSpPr/>
          <p:nvPr/>
        </p:nvSpPr>
        <p:spPr>
          <a:xfrm>
            <a:off x="6400800" y="1600200"/>
            <a:ext cx="2377440" cy="603504"/>
          </a:xfrm>
          <a:prstGeom prst="rect">
            <a:avLst/>
          </a:prstGeom>
          <a:noFill/>
          <a:ln/>
        </p:spPr>
        <p:txBody>
          <a:bodyPr wrap="square" lIns="0" tIns="0" rIns="0" bIns="0" rtlCol="0" anchor="t"/>
          <a:lstStyle/>
          <a:p>
            <a:pPr algn="l" indent="0" marL="0">
              <a:buNone/>
            </a:pPr>
            <a:r>
              <a:rPr lang="en-US" sz="3200" b="1" dirty="0">
                <a:solidFill>
                  <a:srgbClr val="1A3A52"/>
                </a:solidFill>
                <a:latin typeface="Georgia" pitchFamily="34" charset="0"/>
                <a:ea typeface="Georgia" pitchFamily="34" charset="-122"/>
                <a:cs typeface="Georgia" pitchFamily="34" charset="-120"/>
              </a:rPr>
              <a:t>−0.038</a:t>
            </a:r>
            <a:endParaRPr lang="en-US" sz="3200" dirty="0"/>
          </a:p>
        </p:txBody>
      </p:sp>
      <p:sp>
        <p:nvSpPr>
          <p:cNvPr id="18" name="Text 16"/>
          <p:cNvSpPr/>
          <p:nvPr/>
        </p:nvSpPr>
        <p:spPr>
          <a:xfrm>
            <a:off x="6400800" y="2112264"/>
            <a:ext cx="2377440" cy="493776"/>
          </a:xfrm>
          <a:prstGeom prst="rect">
            <a:avLst/>
          </a:prstGeom>
          <a:noFill/>
          <a:ln/>
        </p:spPr>
        <p:txBody>
          <a:bodyPr wrap="square" lIns="0" tIns="0" rIns="0" bIns="0" rtlCol="0" anchor="t"/>
          <a:lstStyle/>
          <a:p>
            <a:pPr algn="l" indent="0" marL="0">
              <a:buNone/>
            </a:pPr>
            <a:r>
              <a:rPr lang="en-US" sz="1000" dirty="0">
                <a:solidFill>
                  <a:srgbClr val="64748B"/>
                </a:solidFill>
                <a:latin typeface="Calibri" pitchFamily="34" charset="0"/>
                <a:ea typeface="Calibri" pitchFamily="34" charset="-122"/>
                <a:cs typeface="Calibri" pitchFamily="34" charset="-120"/>
              </a:rPr>
              <a:t>VS prior LB leader · 0.7832 at the time</a:t>
            </a:r>
            <a:endParaRPr lang="en-US" sz="1000" dirty="0"/>
          </a:p>
        </p:txBody>
      </p:sp>
      <p:sp>
        <p:nvSpPr>
          <p:cNvPr id="19" name="Text 17"/>
          <p:cNvSpPr/>
          <p:nvPr/>
        </p:nvSpPr>
        <p:spPr>
          <a:xfrm>
            <a:off x="274320" y="2788920"/>
            <a:ext cx="8595360" cy="256032"/>
          </a:xfrm>
          <a:prstGeom prst="rect">
            <a:avLst/>
          </a:prstGeom>
          <a:noFill/>
          <a:ln/>
        </p:spPr>
        <p:txBody>
          <a:bodyPr wrap="square" lIns="0" tIns="0" rIns="0" bIns="0" rtlCol="0" anchor="ctr"/>
          <a:lstStyle/>
          <a:p>
            <a:pPr indent="0" marL="0">
              <a:buNone/>
            </a:pPr>
            <a:r>
              <a:rPr lang="en-US" sz="1050" b="1" spc="300" kern="0" dirty="0">
                <a:solidFill>
                  <a:srgbClr val="0D9488"/>
                </a:solidFill>
                <a:latin typeface="Calibri" pitchFamily="34" charset="0"/>
                <a:ea typeface="Calibri" pitchFamily="34" charset="-122"/>
                <a:cs typeface="Calibri" pitchFamily="34" charset="-120"/>
              </a:rPr>
              <a:t>Five ingredients in v19</a:t>
            </a:r>
            <a:endParaRPr lang="en-US" sz="1050" dirty="0"/>
          </a:p>
        </p:txBody>
      </p:sp>
      <p:sp>
        <p:nvSpPr>
          <p:cNvPr id="20" name="Shape 18"/>
          <p:cNvSpPr/>
          <p:nvPr/>
        </p:nvSpPr>
        <p:spPr>
          <a:xfrm>
            <a:off x="274320" y="3063240"/>
            <a:ext cx="36576" cy="1280160"/>
          </a:xfrm>
          <a:prstGeom prst="rect">
            <a:avLst/>
          </a:prstGeom>
          <a:solidFill>
            <a:srgbClr val="059669">
              <a:alpha val="70000"/>
            </a:srgbClr>
          </a:solidFill>
          <a:ln w="12700">
            <a:solidFill>
              <a:srgbClr val="059669"/>
            </a:solidFill>
            <a:prstDash val="solid"/>
          </a:ln>
        </p:spPr>
      </p:sp>
      <p:sp>
        <p:nvSpPr>
          <p:cNvPr id="21" name="Text 19"/>
          <p:cNvSpPr/>
          <p:nvPr/>
        </p:nvSpPr>
        <p:spPr>
          <a:xfrm>
            <a:off x="438912" y="3081528"/>
            <a:ext cx="8394192" cy="1280160"/>
          </a:xfrm>
          <a:prstGeom prst="rect">
            <a:avLst/>
          </a:prstGeom>
          <a:noFill/>
          <a:ln/>
        </p:spPr>
        <p:txBody>
          <a:bodyPr wrap="square" lIns="0" tIns="0" rIns="0" bIns="0" rtlCol="0" anchor="t"/>
          <a:lstStyle/>
          <a:p>
            <a:pPr indent="0" marL="0">
              <a:spcAft>
                <a:spcPts val="600"/>
              </a:spcAft>
              <a:buNone/>
            </a:pPr>
            <a:r>
              <a:rPr lang="en-US" sz="110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EfficientNet-B0 dual-branch (BF + FL), ImageNet-pretrained, late concat fusion</a:t>
            </a:r>
            <a:endParaRPr lang="en-US" sz="1100" dirty="0"/>
          </a:p>
          <a:p>
            <a:pPr indent="0" marL="0">
              <a:spcAft>
                <a:spcPts val="600"/>
              </a:spcAft>
              <a:buNone/>
            </a:pPr>
            <a:r>
              <a:rPr lang="en-US" sz="110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Per-patient MIL auxiliary loss — patient-mean-logit BCE, weight 0.5</a:t>
            </a:r>
            <a:endParaRPr lang="en-US" sz="1100" dirty="0"/>
          </a:p>
          <a:p>
            <a:pPr indent="0" marL="0">
              <a:spcAft>
                <a:spcPts val="600"/>
              </a:spcAft>
              <a:buNone/>
            </a:pPr>
            <a:r>
              <a:rPr lang="en-US" sz="110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AdaBN — refresh BN running stats on the test set (Li 2016)</a:t>
            </a:r>
            <a:endParaRPr lang="en-US" sz="1100" dirty="0"/>
          </a:p>
          <a:p>
            <a:pPr indent="0" marL="0">
              <a:spcAft>
                <a:spcPts val="600"/>
              </a:spcAft>
              <a:buNone/>
            </a:pPr>
            <a:r>
              <a:rPr lang="en-US" sz="110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Test-set stain normalisation — pixel mean/std from test, not train</a:t>
            </a:r>
            <a:endParaRPr lang="en-US" sz="1100" dirty="0"/>
          </a:p>
          <a:p>
            <a:pPr indent="0" marL="0">
              <a:spcAft>
                <a:spcPts val="600"/>
              </a:spcAft>
              <a:buNone/>
            </a:pPr>
            <a:r>
              <a:rPr lang="en-US" sz="110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1100" dirty="0">
                <a:solidFill>
                  <a:srgbClr val="334155"/>
                </a:solidFill>
                <a:latin typeface="Calibri" pitchFamily="34" charset="0"/>
                <a:ea typeface="Calibri" pitchFamily="34" charset="-122"/>
                <a:cs typeface="Calibri" pitchFamily="34" charset="-120"/>
              </a:rPr>
              <a:t>Strong paired augmentation + 8-way D4 group TTA, prob-averaged</a:t>
            </a:r>
            <a:endParaRPr lang="en-US" sz="1100" dirty="0"/>
          </a:p>
        </p:txBody>
      </p:sp>
      <p:sp>
        <p:nvSpPr>
          <p:cNvPr id="22" name="Shape 20"/>
          <p:cNvSpPr/>
          <p:nvPr/>
        </p:nvSpPr>
        <p:spPr>
          <a:xfrm>
            <a:off x="274320" y="4434840"/>
            <a:ext cx="8595360" cy="320040"/>
          </a:xfrm>
          <a:prstGeom prst="rect">
            <a:avLst/>
          </a:prstGeom>
          <a:solidFill>
            <a:srgbClr val="1A3A52"/>
          </a:solidFill>
          <a:ln w="12700">
            <a:solidFill>
              <a:srgbClr val="1A3A52"/>
            </a:solidFill>
            <a:prstDash val="solid"/>
          </a:ln>
        </p:spPr>
      </p:sp>
      <p:sp>
        <p:nvSpPr>
          <p:cNvPr id="23" name="Shape 21"/>
          <p:cNvSpPr/>
          <p:nvPr/>
        </p:nvSpPr>
        <p:spPr>
          <a:xfrm>
            <a:off x="274320" y="4434840"/>
            <a:ext cx="64008" cy="320040"/>
          </a:xfrm>
          <a:prstGeom prst="rect">
            <a:avLst/>
          </a:prstGeom>
          <a:solidFill>
            <a:srgbClr val="D97706"/>
          </a:solidFill>
          <a:ln w="12700">
            <a:solidFill>
              <a:srgbClr val="D97706"/>
            </a:solidFill>
            <a:prstDash val="solid"/>
          </a:ln>
        </p:spPr>
      </p:sp>
      <p:sp>
        <p:nvSpPr>
          <p:cNvPr id="24" name="Text 22"/>
          <p:cNvSpPr/>
          <p:nvPr/>
        </p:nvSpPr>
        <p:spPr>
          <a:xfrm>
            <a:off x="475488" y="4544568"/>
            <a:ext cx="8321040" cy="274320"/>
          </a:xfrm>
          <a:prstGeom prst="rect">
            <a:avLst/>
          </a:prstGeom>
          <a:noFill/>
          <a:ln/>
        </p:spPr>
        <p:txBody>
          <a:bodyPr wrap="square" lIns="0" tIns="0" rIns="0" bIns="0" rtlCol="0" anchor="ctr"/>
          <a:lstStyle/>
          <a:p>
            <a:pPr indent="0" marL="0">
              <a:buNone/>
            </a:pPr>
            <a:r>
              <a:rPr lang="en-US" sz="950" b="1" spc="400" kern="0" dirty="0">
                <a:solidFill>
                  <a:srgbClr val="D97706"/>
                </a:solidFill>
                <a:latin typeface="Calibri" pitchFamily="34" charset="0"/>
                <a:ea typeface="Calibri" pitchFamily="34" charset="-122"/>
                <a:cs typeface="Calibri" pitchFamily="34" charset="-120"/>
              </a:rPr>
              <a:t>TAKE-HOME</a:t>
            </a:r>
            <a:endParaRPr lang="en-US" sz="950" dirty="0"/>
          </a:p>
        </p:txBody>
      </p:sp>
      <p:sp>
        <p:nvSpPr>
          <p:cNvPr id="25" name="Text 23"/>
          <p:cNvSpPr/>
          <p:nvPr/>
        </p:nvSpPr>
        <p:spPr>
          <a:xfrm>
            <a:off x="475488" y="4818888"/>
            <a:ext cx="8321040" cy="-137160"/>
          </a:xfrm>
          <a:prstGeom prst="rect">
            <a:avLst/>
          </a:prstGeom>
          <a:noFill/>
          <a:ln/>
        </p:spPr>
        <p:txBody>
          <a:bodyPr wrap="square" lIns="0" tIns="0" rIns="0" bIns="0" rtlCol="0" anchor="t"/>
          <a:lstStyle/>
          <a:p>
            <a:pPr indent="0" marL="0">
              <a:buNone/>
            </a:pPr>
            <a:r>
              <a:rPr lang="en-US" sz="1050" i="1" dirty="0">
                <a:solidFill>
                  <a:srgbClr val="FAF7F2"/>
                </a:solidFill>
                <a:latin typeface="Georgia" pitchFamily="34" charset="0"/>
                <a:ea typeface="Georgia" pitchFamily="34" charset="-122"/>
                <a:cs typeface="Georgia" pitchFamily="34" charset="-120"/>
              </a:rPr>
              <a:t>The win wasn't a new architecture. It was treating the test distribution as the thing to model.</a:t>
            </a:r>
            <a:endParaRPr lang="en-US" sz="1050" dirty="0"/>
          </a:p>
        </p:txBody>
      </p:sp>
      <p:sp>
        <p:nvSpPr>
          <p:cNvPr id="26" name="Text 24"/>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27" name="Text 25"/>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§6  ·  ACT 4 — THE SEARCH</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07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v41 vs v43: change one thing, not four</a:t>
            </a:r>
            <a:endParaRPr lang="en-US" sz="2600" dirty="0"/>
          </a:p>
        </p:txBody>
      </p:sp>
      <p:sp>
        <p:nvSpPr>
          <p:cNvPr id="6" name="Shape 4"/>
          <p:cNvSpPr/>
          <p:nvPr/>
        </p:nvSpPr>
        <p:spPr>
          <a:xfrm>
            <a:off x="274320" y="1463040"/>
            <a:ext cx="4160520" cy="2606040"/>
          </a:xfrm>
          <a:prstGeom prst="rect">
            <a:avLst/>
          </a:prstGeom>
          <a:solidFill>
            <a:srgbClr val="FFFFFF"/>
          </a:solidFill>
          <a:ln w="8890">
            <a:solidFill>
              <a:srgbClr val="E5E7EB"/>
            </a:solidFill>
            <a:prstDash val="solid"/>
          </a:ln>
          <a:effectLst>
            <a:outerShdw sx="100000" sy="100000" kx="0" ky="0" algn="bl" rotWithShape="0" blurRad="63500" dist="19050" dir="5400000">
              <a:srgbClr val="000000">
                <a:alpha val="5000"/>
              </a:srgbClr>
            </a:outerShdw>
          </a:effectLst>
        </p:spPr>
      </p:sp>
      <p:sp>
        <p:nvSpPr>
          <p:cNvPr id="7" name="Shape 5"/>
          <p:cNvSpPr/>
          <p:nvPr/>
        </p:nvSpPr>
        <p:spPr>
          <a:xfrm>
            <a:off x="274320" y="1463040"/>
            <a:ext cx="4160520" cy="73152"/>
          </a:xfrm>
          <a:prstGeom prst="rect">
            <a:avLst/>
          </a:prstGeom>
          <a:solidFill>
            <a:srgbClr val="059669"/>
          </a:solidFill>
          <a:ln w="12700">
            <a:solidFill>
              <a:srgbClr val="059669"/>
            </a:solidFill>
            <a:prstDash val="solid"/>
          </a:ln>
        </p:spPr>
      </p:sp>
      <p:sp>
        <p:nvSpPr>
          <p:cNvPr id="8" name="Text 6"/>
          <p:cNvSpPr/>
          <p:nvPr/>
        </p:nvSpPr>
        <p:spPr>
          <a:xfrm>
            <a:off x="411480" y="1600200"/>
            <a:ext cx="3931920" cy="274320"/>
          </a:xfrm>
          <a:prstGeom prst="rect">
            <a:avLst/>
          </a:prstGeom>
          <a:noFill/>
          <a:ln/>
        </p:spPr>
        <p:txBody>
          <a:bodyPr wrap="square" lIns="0" tIns="0" rIns="0" bIns="0" rtlCol="0" anchor="ctr"/>
          <a:lstStyle/>
          <a:p>
            <a:pPr indent="0" marL="0">
              <a:buNone/>
            </a:pPr>
            <a:r>
              <a:rPr lang="en-US" sz="1000" b="1" spc="200" kern="0" dirty="0">
                <a:solidFill>
                  <a:srgbClr val="0D9488"/>
                </a:solidFill>
                <a:latin typeface="Calibri" pitchFamily="34" charset="0"/>
                <a:ea typeface="Calibri" pitchFamily="34" charset="-122"/>
                <a:cs typeface="Calibri" pitchFamily="34" charset="-120"/>
              </a:rPr>
              <a:t>v41  ·  clean stack on top of v19</a:t>
            </a:r>
            <a:endParaRPr lang="en-US" sz="1000" dirty="0"/>
          </a:p>
        </p:txBody>
      </p:sp>
      <p:sp>
        <p:nvSpPr>
          <p:cNvPr id="9" name="Text 7"/>
          <p:cNvSpPr/>
          <p:nvPr/>
        </p:nvSpPr>
        <p:spPr>
          <a:xfrm>
            <a:off x="411480" y="1874520"/>
            <a:ext cx="2011680" cy="502920"/>
          </a:xfrm>
          <a:prstGeom prst="rect">
            <a:avLst/>
          </a:prstGeom>
          <a:noFill/>
          <a:ln/>
        </p:spPr>
        <p:txBody>
          <a:bodyPr wrap="square" lIns="0" tIns="0" rIns="0" bIns="0" rtlCol="0" anchor="ctr"/>
          <a:lstStyle/>
          <a:p>
            <a:pPr indent="0" marL="0">
              <a:buNone/>
            </a:pPr>
            <a:r>
              <a:rPr lang="en-US" sz="3000" b="1" dirty="0">
                <a:solidFill>
                  <a:srgbClr val="1A3A52"/>
                </a:solidFill>
                <a:latin typeface="Georgia" pitchFamily="34" charset="0"/>
                <a:ea typeface="Georgia" pitchFamily="34" charset="-122"/>
                <a:cs typeface="Georgia" pitchFamily="34" charset="-120"/>
              </a:rPr>
              <a:t>0.7563</a:t>
            </a:r>
            <a:endParaRPr lang="en-US" sz="3000" dirty="0"/>
          </a:p>
        </p:txBody>
      </p:sp>
      <p:sp>
        <p:nvSpPr>
          <p:cNvPr id="10" name="Text 8"/>
          <p:cNvSpPr/>
          <p:nvPr/>
        </p:nvSpPr>
        <p:spPr>
          <a:xfrm>
            <a:off x="2240280" y="2011680"/>
            <a:ext cx="2103120" cy="365760"/>
          </a:xfrm>
          <a:prstGeom prst="rect">
            <a:avLst/>
          </a:prstGeom>
          <a:noFill/>
          <a:ln/>
        </p:spPr>
        <p:txBody>
          <a:bodyPr wrap="square" lIns="0" tIns="0" rIns="0" bIns="0" rtlCol="0" anchor="ctr"/>
          <a:lstStyle/>
          <a:p>
            <a:pPr indent="0" marL="0">
              <a:buNone/>
            </a:pPr>
            <a:r>
              <a:rPr lang="en-US" sz="1600" b="1" dirty="0">
                <a:solidFill>
                  <a:srgbClr val="059669"/>
                </a:solidFill>
                <a:latin typeface="Georgia" pitchFamily="34" charset="0"/>
                <a:ea typeface="Georgia" pitchFamily="34" charset="-122"/>
                <a:cs typeface="Georgia" pitchFamily="34" charset="-120"/>
              </a:rPr>
              <a:t>+0.011</a:t>
            </a:r>
            <a:endParaRPr lang="en-US" sz="1600" dirty="0"/>
          </a:p>
        </p:txBody>
      </p:sp>
      <p:sp>
        <p:nvSpPr>
          <p:cNvPr id="11" name="Shape 9"/>
          <p:cNvSpPr/>
          <p:nvPr/>
        </p:nvSpPr>
        <p:spPr>
          <a:xfrm>
            <a:off x="411480" y="2468880"/>
            <a:ext cx="36576" cy="1554480"/>
          </a:xfrm>
          <a:prstGeom prst="rect">
            <a:avLst/>
          </a:prstGeom>
          <a:solidFill>
            <a:srgbClr val="059669">
              <a:alpha val="70000"/>
            </a:srgbClr>
          </a:solidFill>
          <a:ln w="12700">
            <a:solidFill>
              <a:srgbClr val="059669"/>
            </a:solidFill>
            <a:prstDash val="solid"/>
          </a:ln>
        </p:spPr>
      </p:sp>
      <p:sp>
        <p:nvSpPr>
          <p:cNvPr id="12" name="Text 10"/>
          <p:cNvSpPr/>
          <p:nvPr/>
        </p:nvSpPr>
        <p:spPr>
          <a:xfrm>
            <a:off x="576072" y="2487168"/>
            <a:ext cx="3730752" cy="1554480"/>
          </a:xfrm>
          <a:prstGeom prst="rect">
            <a:avLst/>
          </a:prstGeom>
          <a:noFill/>
          <a:ln/>
        </p:spPr>
        <p:txBody>
          <a:bodyPr wrap="square" lIns="0" tIns="0" rIns="0" bIns="0" rtlCol="0" anchor="t"/>
          <a:lstStyle/>
          <a:p>
            <a:pPr indent="0" marL="0">
              <a:spcAft>
                <a:spcPts val="600"/>
              </a:spcAft>
              <a:buNone/>
            </a:pPr>
            <a:r>
              <a:rPr lang="en-US" sz="95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label smoothing ε = 0.05</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L4 standard</a:t>
            </a:r>
            <a:endParaRPr lang="en-US" sz="950" dirty="0"/>
          </a:p>
          <a:p>
            <a:pPr indent="0" marL="0">
              <a:spcAft>
                <a:spcPts val="600"/>
              </a:spcAft>
              <a:buNone/>
            </a:pPr>
            <a:r>
              <a:rPr lang="en-US" sz="95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dropout 0.3 → 0.4</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classifier head</a:t>
            </a:r>
            <a:endParaRPr lang="en-US" sz="950" dirty="0"/>
          </a:p>
          <a:p>
            <a:pPr indent="0" marL="0">
              <a:spcAft>
                <a:spcPts val="600"/>
              </a:spcAft>
              <a:buNone/>
            </a:pPr>
            <a:r>
              <a:rPr lang="en-US" sz="95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paired RRC</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RandomResizedCrop scale 0.85-1.0</a:t>
            </a:r>
            <a:endParaRPr lang="en-US" sz="950" dirty="0"/>
          </a:p>
          <a:p>
            <a:pPr indent="0" marL="0">
              <a:spcAft>
                <a:spcPts val="600"/>
              </a:spcAft>
              <a:buNone/>
            </a:pPr>
            <a:r>
              <a:rPr lang="en-US" sz="950" b="1" dirty="0">
                <a:solidFill>
                  <a:srgbClr val="059669"/>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multiscale TTA</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3 scales × 8 D4 = 24-way</a:t>
            </a:r>
            <a:endParaRPr lang="en-US" sz="950" dirty="0"/>
          </a:p>
        </p:txBody>
      </p:sp>
      <p:sp>
        <p:nvSpPr>
          <p:cNvPr id="13" name="Shape 11"/>
          <p:cNvSpPr/>
          <p:nvPr/>
        </p:nvSpPr>
        <p:spPr>
          <a:xfrm>
            <a:off x="4709160" y="1463040"/>
            <a:ext cx="4160520" cy="2606040"/>
          </a:xfrm>
          <a:prstGeom prst="rect">
            <a:avLst/>
          </a:prstGeom>
          <a:solidFill>
            <a:srgbClr val="FFFFFF"/>
          </a:solidFill>
          <a:ln w="8890">
            <a:solidFill>
              <a:srgbClr val="E5E7EB"/>
            </a:solidFill>
            <a:prstDash val="solid"/>
          </a:ln>
          <a:effectLst>
            <a:outerShdw sx="100000" sy="100000" kx="0" ky="0" algn="bl" rotWithShape="0" blurRad="63500" dist="19050" dir="5400000">
              <a:srgbClr val="000000">
                <a:alpha val="5000"/>
              </a:srgbClr>
            </a:outerShdw>
          </a:effectLst>
        </p:spPr>
      </p:sp>
      <p:sp>
        <p:nvSpPr>
          <p:cNvPr id="14" name="Shape 12"/>
          <p:cNvSpPr/>
          <p:nvPr/>
        </p:nvSpPr>
        <p:spPr>
          <a:xfrm>
            <a:off x="4709160" y="1463040"/>
            <a:ext cx="4160520" cy="73152"/>
          </a:xfrm>
          <a:prstGeom prst="rect">
            <a:avLst/>
          </a:prstGeom>
          <a:solidFill>
            <a:srgbClr val="B91C1C"/>
          </a:solidFill>
          <a:ln w="12700">
            <a:solidFill>
              <a:srgbClr val="B91C1C"/>
            </a:solidFill>
            <a:prstDash val="solid"/>
          </a:ln>
        </p:spPr>
      </p:sp>
      <p:sp>
        <p:nvSpPr>
          <p:cNvPr id="15" name="Text 13"/>
          <p:cNvSpPr/>
          <p:nvPr/>
        </p:nvSpPr>
        <p:spPr>
          <a:xfrm>
            <a:off x="4846320" y="1600200"/>
            <a:ext cx="3931920" cy="274320"/>
          </a:xfrm>
          <a:prstGeom prst="rect">
            <a:avLst/>
          </a:prstGeom>
          <a:noFill/>
          <a:ln/>
        </p:spPr>
        <p:txBody>
          <a:bodyPr wrap="square" lIns="0" tIns="0" rIns="0" bIns="0" rtlCol="0" anchor="ctr"/>
          <a:lstStyle/>
          <a:p>
            <a:pPr indent="0" marL="0">
              <a:buNone/>
            </a:pPr>
            <a:r>
              <a:rPr lang="en-US" sz="1000" b="1" spc="200" kern="0" dirty="0">
                <a:solidFill>
                  <a:srgbClr val="B91C1C"/>
                </a:solidFill>
                <a:latin typeface="Calibri" pitchFamily="34" charset="0"/>
                <a:ea typeface="Calibri" pitchFamily="34" charset="-122"/>
                <a:cs typeface="Calibri" pitchFamily="34" charset="-120"/>
              </a:rPr>
              <a:t>v43  ·  four MORE, stacked at once</a:t>
            </a:r>
            <a:endParaRPr lang="en-US" sz="1000" dirty="0"/>
          </a:p>
        </p:txBody>
      </p:sp>
      <p:sp>
        <p:nvSpPr>
          <p:cNvPr id="16" name="Text 14"/>
          <p:cNvSpPr/>
          <p:nvPr/>
        </p:nvSpPr>
        <p:spPr>
          <a:xfrm>
            <a:off x="4846320" y="1874520"/>
            <a:ext cx="2011680" cy="502920"/>
          </a:xfrm>
          <a:prstGeom prst="rect">
            <a:avLst/>
          </a:prstGeom>
          <a:noFill/>
          <a:ln/>
        </p:spPr>
        <p:txBody>
          <a:bodyPr wrap="square" lIns="0" tIns="0" rIns="0" bIns="0" rtlCol="0" anchor="ctr"/>
          <a:lstStyle/>
          <a:p>
            <a:pPr indent="0" marL="0">
              <a:buNone/>
            </a:pPr>
            <a:r>
              <a:rPr lang="en-US" sz="3000" b="1" dirty="0">
                <a:solidFill>
                  <a:srgbClr val="1A3A52"/>
                </a:solidFill>
                <a:latin typeface="Georgia" pitchFamily="34" charset="0"/>
                <a:ea typeface="Georgia" pitchFamily="34" charset="-122"/>
                <a:cs typeface="Georgia" pitchFamily="34" charset="-120"/>
              </a:rPr>
              <a:t>0.7444</a:t>
            </a:r>
            <a:endParaRPr lang="en-US" sz="3000" dirty="0"/>
          </a:p>
        </p:txBody>
      </p:sp>
      <p:sp>
        <p:nvSpPr>
          <p:cNvPr id="17" name="Text 15"/>
          <p:cNvSpPr/>
          <p:nvPr/>
        </p:nvSpPr>
        <p:spPr>
          <a:xfrm>
            <a:off x="6675120" y="2011680"/>
            <a:ext cx="2103120" cy="365760"/>
          </a:xfrm>
          <a:prstGeom prst="rect">
            <a:avLst/>
          </a:prstGeom>
          <a:noFill/>
          <a:ln/>
        </p:spPr>
        <p:txBody>
          <a:bodyPr wrap="square" lIns="0" tIns="0" rIns="0" bIns="0" rtlCol="0" anchor="ctr"/>
          <a:lstStyle/>
          <a:p>
            <a:pPr indent="0" marL="0">
              <a:buNone/>
            </a:pPr>
            <a:r>
              <a:rPr lang="en-US" sz="1600" b="1" dirty="0">
                <a:solidFill>
                  <a:srgbClr val="B91C1C"/>
                </a:solidFill>
                <a:latin typeface="Georgia" pitchFamily="34" charset="0"/>
                <a:ea typeface="Georgia" pitchFamily="34" charset="-122"/>
                <a:cs typeface="Georgia" pitchFamily="34" charset="-120"/>
              </a:rPr>
              <a:t>−0.012</a:t>
            </a:r>
            <a:endParaRPr lang="en-US" sz="1600" dirty="0"/>
          </a:p>
        </p:txBody>
      </p:sp>
      <p:sp>
        <p:nvSpPr>
          <p:cNvPr id="18" name="Shape 16"/>
          <p:cNvSpPr/>
          <p:nvPr/>
        </p:nvSpPr>
        <p:spPr>
          <a:xfrm>
            <a:off x="4846320" y="2468880"/>
            <a:ext cx="36576" cy="1554480"/>
          </a:xfrm>
          <a:prstGeom prst="rect">
            <a:avLst/>
          </a:prstGeom>
          <a:solidFill>
            <a:srgbClr val="B91C1C">
              <a:alpha val="70000"/>
            </a:srgbClr>
          </a:solidFill>
          <a:ln w="12700">
            <a:solidFill>
              <a:srgbClr val="B91C1C"/>
            </a:solidFill>
            <a:prstDash val="solid"/>
          </a:ln>
        </p:spPr>
      </p:sp>
      <p:sp>
        <p:nvSpPr>
          <p:cNvPr id="19" name="Text 17"/>
          <p:cNvSpPr/>
          <p:nvPr/>
        </p:nvSpPr>
        <p:spPr>
          <a:xfrm>
            <a:off x="5010912" y="2487168"/>
            <a:ext cx="3730752" cy="1554480"/>
          </a:xfrm>
          <a:prstGeom prst="rect">
            <a:avLst/>
          </a:prstGeom>
          <a:noFill/>
          <a:ln/>
        </p:spPr>
        <p:txBody>
          <a:bodyPr wrap="square" lIns="0" tIns="0" rIns="0" bIns="0" rtlCol="0" anchor="t"/>
          <a:lstStyle/>
          <a:p>
            <a:pPr indent="0" marL="0">
              <a:spcAft>
                <a:spcPts val="600"/>
              </a:spcAft>
              <a:buNone/>
            </a:pPr>
            <a:r>
              <a:rPr lang="en-US" sz="9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FL-tuned aug</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CJ 0.5/0.3 + RandomGamma on FL only</a:t>
            </a:r>
            <a:endParaRPr lang="en-US" sz="950" dirty="0"/>
          </a:p>
          <a:p>
            <a:pPr indent="0" marL="0">
              <a:spcAft>
                <a:spcPts val="600"/>
              </a:spcAft>
              <a:buNone/>
            </a:pPr>
            <a:r>
              <a:rPr lang="en-US" sz="9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WD bump</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1e-4 → 3e-4</a:t>
            </a:r>
            <a:endParaRPr lang="en-US" sz="950" dirty="0"/>
          </a:p>
          <a:p>
            <a:pPr indent="0" marL="0">
              <a:spcAft>
                <a:spcPts val="600"/>
              </a:spcAft>
              <a:buNone/>
            </a:pPr>
            <a:r>
              <a:rPr lang="en-US" sz="9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3-seed × SWA</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Izmailov 2018 · last 4 epochs</a:t>
            </a:r>
            <a:endParaRPr lang="en-US" sz="950" dirty="0"/>
          </a:p>
          <a:p>
            <a:pPr indent="0" marL="0">
              <a:spcAft>
                <a:spcPts val="600"/>
              </a:spcAft>
              <a:buNone/>
            </a:pPr>
            <a:r>
              <a:rPr lang="en-US" sz="9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950" b="1" dirty="0">
                <a:solidFill>
                  <a:srgbClr val="334155"/>
                </a:solidFill>
                <a:latin typeface="Calibri" pitchFamily="34" charset="0"/>
                <a:ea typeface="Calibri" pitchFamily="34" charset="-122"/>
                <a:cs typeface="Calibri" pitchFamily="34" charset="-120"/>
              </a:rPr>
              <a:t>40-way TTA</a:t>
            </a:r>
            <a:pPr indent="0" marL="0">
              <a:spcAft>
                <a:spcPts val="600"/>
              </a:spcAft>
              <a:buNone/>
            </a:pPr>
            <a:r>
              <a:rPr lang="en-US" sz="850" i="1" dirty="0">
                <a:solidFill>
                  <a:srgbClr val="64748B"/>
                </a:solidFill>
                <a:latin typeface="Calibri" pitchFamily="34" charset="0"/>
                <a:ea typeface="Calibri" pitchFamily="34" charset="-122"/>
                <a:cs typeface="Calibri" pitchFamily="34" charset="-120"/>
              </a:rPr>
              <a:t>  5 scales × 8 D4</a:t>
            </a:r>
            <a:endParaRPr lang="en-US" sz="950" dirty="0"/>
          </a:p>
        </p:txBody>
      </p:sp>
      <p:sp>
        <p:nvSpPr>
          <p:cNvPr id="20" name="Shape 18"/>
          <p:cNvSpPr/>
          <p:nvPr/>
        </p:nvSpPr>
        <p:spPr>
          <a:xfrm>
            <a:off x="274320" y="4251960"/>
            <a:ext cx="8595360" cy="502920"/>
          </a:xfrm>
          <a:prstGeom prst="rect">
            <a:avLst/>
          </a:prstGeom>
          <a:solidFill>
            <a:srgbClr val="FAF7F2"/>
          </a:solidFill>
          <a:ln w="12700">
            <a:solidFill>
              <a:srgbClr val="D97706"/>
            </a:solidFill>
            <a:prstDash val="solid"/>
          </a:ln>
        </p:spPr>
      </p:sp>
      <p:sp>
        <p:nvSpPr>
          <p:cNvPr id="21" name="Text 19"/>
          <p:cNvSpPr/>
          <p:nvPr/>
        </p:nvSpPr>
        <p:spPr>
          <a:xfrm>
            <a:off x="347472" y="4325112"/>
            <a:ext cx="1005840" cy="356616"/>
          </a:xfrm>
          <a:prstGeom prst="rect">
            <a:avLst/>
          </a:prstGeom>
          <a:noFill/>
          <a:ln/>
        </p:spPr>
        <p:txBody>
          <a:bodyPr wrap="square" lIns="0" tIns="0" rIns="0" bIns="0" rtlCol="0" anchor="ctr"/>
          <a:lstStyle/>
          <a:p>
            <a:pPr indent="0" marL="0">
              <a:buNone/>
            </a:pPr>
            <a:r>
              <a:rPr lang="en-US" sz="950" b="1" spc="300" kern="0" dirty="0">
                <a:solidFill>
                  <a:srgbClr val="D97706"/>
                </a:solidFill>
                <a:latin typeface="Calibri" pitchFamily="34" charset="0"/>
                <a:ea typeface="Calibri" pitchFamily="34" charset="-122"/>
                <a:cs typeface="Calibri" pitchFamily="34" charset="-120"/>
              </a:rPr>
              <a:t>RULE  →</a:t>
            </a:r>
            <a:endParaRPr lang="en-US" sz="950" dirty="0"/>
          </a:p>
        </p:txBody>
      </p:sp>
      <p:sp>
        <p:nvSpPr>
          <p:cNvPr id="22" name="Text 20"/>
          <p:cNvSpPr/>
          <p:nvPr/>
        </p:nvSpPr>
        <p:spPr>
          <a:xfrm>
            <a:off x="1325880" y="4325112"/>
            <a:ext cx="7452360" cy="356616"/>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One or two related variables per submitted version. v46 later reverted the FL-tuned aug + WD bump and recovered +0.079.</a:t>
            </a:r>
            <a:endParaRPr lang="en-US" sz="1000" dirty="0"/>
          </a:p>
        </p:txBody>
      </p:sp>
      <p:sp>
        <p:nvSpPr>
          <p:cNvPr id="23" name="Text 21"/>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24" name="Text 22"/>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§7  ·  ACT 5 — THE BREAKTHROUGH</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08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Use the test set itself as training signal</a:t>
            </a:r>
            <a:endParaRPr lang="en-US" sz="2600" dirty="0"/>
          </a:p>
        </p:txBody>
      </p:sp>
      <p:pic>
        <p:nvPicPr>
          <p:cNvPr id="6" name="Image 0" descr="Pseudo-label pipeline: teacher predicts test cells, hard branch (Lee 2013) keeps 9k cells, soft branch (Hinton 2015) keeps all 59k, student trained on real+pseudo loss, round-2 iteration with v46 as new teacher → v47">    </p:cNvPr>
          <p:cNvPicPr>
            <a:picLocks noChangeAspect="1"/>
          </p:cNvPicPr>
          <p:nvPr/>
        </p:nvPicPr>
        <p:blipFill>
          <a:blip r:embed="rId1"/>
          <a:stretch>
            <a:fillRect/>
          </a:stretch>
        </p:blipFill>
        <p:spPr>
          <a:xfrm>
            <a:off x="274320" y="1371600"/>
            <a:ext cx="8595360" cy="2926080"/>
          </a:xfrm>
          <a:prstGeom prst="rect">
            <a:avLst/>
          </a:prstGeom>
        </p:spPr>
      </p:pic>
      <p:sp>
        <p:nvSpPr>
          <p:cNvPr id="7" name="Text 4"/>
          <p:cNvSpPr/>
          <p:nvPr/>
        </p:nvSpPr>
        <p:spPr>
          <a:xfrm>
            <a:off x="274320" y="4343400"/>
            <a:ext cx="8595360" cy="32004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Fig. 2  Same teacher, two ways to use it. Hard discards 84 % of test cells. Soft keeps everything, weighted by teacher confidence. Round 2 uses v46 as the new teacher → v47.</a:t>
            </a:r>
            <a:endParaRPr lang="en-US" sz="850" dirty="0"/>
          </a:p>
        </p:txBody>
      </p:sp>
      <p:sp>
        <p:nvSpPr>
          <p:cNvPr id="8" name="Text 5"/>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9" name="Text 6"/>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§7  ·  HARD VS SOFT PSEUDO-LABELS</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09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Hard discards 84 % of test cells. Soft keeps everything.</a:t>
            </a:r>
            <a:endParaRPr lang="en-US" sz="2600" dirty="0"/>
          </a:p>
        </p:txBody>
      </p:sp>
      <p:sp>
        <p:nvSpPr>
          <p:cNvPr id="6" name="Text 4"/>
          <p:cNvSpPr/>
          <p:nvPr/>
        </p:nvSpPr>
        <p:spPr>
          <a:xfrm>
            <a:off x="274320" y="1188720"/>
            <a:ext cx="8595360" cy="320040"/>
          </a:xfrm>
          <a:prstGeom prst="rect">
            <a:avLst/>
          </a:prstGeom>
          <a:noFill/>
          <a:ln/>
        </p:spPr>
        <p:txBody>
          <a:bodyPr wrap="square" lIns="0" tIns="0" rIns="0" bIns="0" rtlCol="0" anchor="ctr"/>
          <a:lstStyle/>
          <a:p>
            <a:pPr indent="0" marL="0">
              <a:buNone/>
            </a:pPr>
            <a:r>
              <a:rPr lang="en-US" sz="1300" i="1" dirty="0">
                <a:solidFill>
                  <a:srgbClr val="64748B"/>
                </a:solidFill>
                <a:latin typeface="Georgia" pitchFamily="34" charset="0"/>
                <a:ea typeface="Georgia" pitchFamily="34" charset="-122"/>
                <a:cs typeface="Georgia" pitchFamily="34" charset="-120"/>
              </a:rPr>
              <a:t>Same teacher. Same predictions. Different way of using them.</a:t>
            </a:r>
            <a:endParaRPr lang="en-US" sz="1300" dirty="0"/>
          </a:p>
        </p:txBody>
      </p:sp>
      <p:sp>
        <p:nvSpPr>
          <p:cNvPr id="7" name="Text 5"/>
          <p:cNvSpPr/>
          <p:nvPr/>
        </p:nvSpPr>
        <p:spPr>
          <a:xfrm>
            <a:off x="274320" y="1508760"/>
            <a:ext cx="1645920" cy="228600"/>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METHOD</a:t>
            </a:r>
            <a:endParaRPr lang="en-US" sz="900" dirty="0"/>
          </a:p>
        </p:txBody>
      </p:sp>
      <p:sp>
        <p:nvSpPr>
          <p:cNvPr id="8" name="Text 6"/>
          <p:cNvSpPr/>
          <p:nvPr/>
        </p:nvSpPr>
        <p:spPr>
          <a:xfrm>
            <a:off x="1920240" y="1508760"/>
            <a:ext cx="1645920" cy="228600"/>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CELLS USED</a:t>
            </a:r>
            <a:endParaRPr lang="en-US" sz="900" dirty="0"/>
          </a:p>
        </p:txBody>
      </p:sp>
      <p:sp>
        <p:nvSpPr>
          <p:cNvPr id="9" name="Text 7"/>
          <p:cNvSpPr/>
          <p:nvPr/>
        </p:nvSpPr>
        <p:spPr>
          <a:xfrm>
            <a:off x="3566160" y="1508760"/>
            <a:ext cx="914400" cy="228600"/>
          </a:xfrm>
          <a:prstGeom prst="rect">
            <a:avLst/>
          </a:prstGeom>
          <a:noFill/>
          <a:ln/>
        </p:spPr>
        <p:txBody>
          <a:bodyPr wrap="square" lIns="0" tIns="0" rIns="0" bIns="0" rtlCol="0" anchor="ctr"/>
          <a:lstStyle/>
          <a:p>
            <a:pPr indent="0" marL="0">
              <a:buNone/>
            </a:pPr>
            <a:r>
              <a:rPr lang="en-US" sz="900" b="1" spc="300" kern="0" dirty="0">
                <a:solidFill>
                  <a:srgbClr val="0D9488"/>
                </a:solidFill>
                <a:latin typeface="Calibri" pitchFamily="34" charset="0"/>
                <a:ea typeface="Calibri" pitchFamily="34" charset="-122"/>
                <a:cs typeface="Calibri" pitchFamily="34" charset="-120"/>
              </a:rPr>
              <a:t>Δ LB</a:t>
            </a:r>
            <a:endParaRPr lang="en-US" sz="900" dirty="0"/>
          </a:p>
        </p:txBody>
      </p:sp>
      <p:sp>
        <p:nvSpPr>
          <p:cNvPr id="10" name="Shape 8"/>
          <p:cNvSpPr/>
          <p:nvPr/>
        </p:nvSpPr>
        <p:spPr>
          <a:xfrm>
            <a:off x="274320" y="1737360"/>
            <a:ext cx="4206240" cy="36576"/>
          </a:xfrm>
          <a:prstGeom prst="rect">
            <a:avLst/>
          </a:prstGeom>
          <a:solidFill>
            <a:srgbClr val="E5E7EB"/>
          </a:solidFill>
          <a:ln w="12700">
            <a:solidFill>
              <a:srgbClr val="E5E7EB"/>
            </a:solidFill>
            <a:prstDash val="solid"/>
          </a:ln>
        </p:spPr>
      </p:sp>
      <p:sp>
        <p:nvSpPr>
          <p:cNvPr id="11" name="Text 9"/>
          <p:cNvSpPr/>
          <p:nvPr/>
        </p:nvSpPr>
        <p:spPr>
          <a:xfrm>
            <a:off x="274320" y="1783080"/>
            <a:ext cx="1645920" cy="274320"/>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baseline v41</a:t>
            </a:r>
            <a:endParaRPr lang="en-US" sz="1050" dirty="0"/>
          </a:p>
        </p:txBody>
      </p:sp>
      <p:sp>
        <p:nvSpPr>
          <p:cNvPr id="12" name="Text 10"/>
          <p:cNvSpPr/>
          <p:nvPr/>
        </p:nvSpPr>
        <p:spPr>
          <a:xfrm>
            <a:off x="1920240" y="1783080"/>
            <a:ext cx="164592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114,302</a:t>
            </a:r>
            <a:endParaRPr lang="en-US" sz="1050" dirty="0"/>
          </a:p>
        </p:txBody>
      </p:sp>
      <p:sp>
        <p:nvSpPr>
          <p:cNvPr id="13" name="Text 11"/>
          <p:cNvSpPr/>
          <p:nvPr/>
        </p:nvSpPr>
        <p:spPr>
          <a:xfrm>
            <a:off x="3566160" y="1783080"/>
            <a:ext cx="914400" cy="274320"/>
          </a:xfrm>
          <a:prstGeom prst="rect">
            <a:avLst/>
          </a:prstGeom>
          <a:noFill/>
          <a:ln/>
        </p:spPr>
        <p:txBody>
          <a:bodyPr wrap="square" lIns="0" tIns="0" rIns="0" bIns="0" rtlCol="0" anchor="ctr"/>
          <a:lstStyle/>
          <a:p>
            <a:pPr indent="0" marL="0">
              <a:buNone/>
            </a:pPr>
            <a:r>
              <a:rPr lang="en-US" sz="1200" b="1" dirty="0">
                <a:solidFill>
                  <a:srgbClr val="64748B"/>
                </a:solidFill>
                <a:latin typeface="Georgia" pitchFamily="34" charset="0"/>
                <a:ea typeface="Georgia" pitchFamily="34" charset="-122"/>
                <a:cs typeface="Georgia" pitchFamily="34" charset="-120"/>
              </a:rPr>
              <a:t>—</a:t>
            </a:r>
            <a:endParaRPr lang="en-US" sz="1200" dirty="0"/>
          </a:p>
        </p:txBody>
      </p:sp>
      <p:sp>
        <p:nvSpPr>
          <p:cNvPr id="14" name="Shape 12"/>
          <p:cNvSpPr/>
          <p:nvPr/>
        </p:nvSpPr>
        <p:spPr>
          <a:xfrm>
            <a:off x="274320" y="2148840"/>
            <a:ext cx="4206240" cy="36576"/>
          </a:xfrm>
          <a:prstGeom prst="rect">
            <a:avLst/>
          </a:prstGeom>
          <a:solidFill>
            <a:srgbClr val="E5E7EB"/>
          </a:solidFill>
          <a:ln w="12700">
            <a:solidFill>
              <a:srgbClr val="E5E7EB"/>
            </a:solidFill>
            <a:prstDash val="solid"/>
          </a:ln>
        </p:spPr>
      </p:sp>
      <p:sp>
        <p:nvSpPr>
          <p:cNvPr id="15" name="Text 13"/>
          <p:cNvSpPr/>
          <p:nvPr/>
        </p:nvSpPr>
        <p:spPr>
          <a:xfrm>
            <a:off x="274320" y="2194560"/>
            <a:ext cx="1645920" cy="274320"/>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v44 · hard</a:t>
            </a:r>
            <a:endParaRPr lang="en-US" sz="1050" dirty="0"/>
          </a:p>
        </p:txBody>
      </p:sp>
      <p:sp>
        <p:nvSpPr>
          <p:cNvPr id="16" name="Text 14"/>
          <p:cNvSpPr/>
          <p:nvPr/>
        </p:nvSpPr>
        <p:spPr>
          <a:xfrm>
            <a:off x="1920240" y="2194560"/>
            <a:ext cx="164592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+ 9,350  (16 %)</a:t>
            </a:r>
            <a:endParaRPr lang="en-US" sz="1050" dirty="0"/>
          </a:p>
        </p:txBody>
      </p:sp>
      <p:sp>
        <p:nvSpPr>
          <p:cNvPr id="17" name="Text 15"/>
          <p:cNvSpPr/>
          <p:nvPr/>
        </p:nvSpPr>
        <p:spPr>
          <a:xfrm>
            <a:off x="3566160" y="2194560"/>
            <a:ext cx="914400" cy="274320"/>
          </a:xfrm>
          <a:prstGeom prst="rect">
            <a:avLst/>
          </a:prstGeom>
          <a:noFill/>
          <a:ln/>
        </p:spPr>
        <p:txBody>
          <a:bodyPr wrap="square" lIns="0" tIns="0" rIns="0" bIns="0" rtlCol="0" anchor="ctr"/>
          <a:lstStyle/>
          <a:p>
            <a:pPr indent="0" marL="0">
              <a:buNone/>
            </a:pPr>
            <a:r>
              <a:rPr lang="en-US" sz="1200" b="1" dirty="0">
                <a:solidFill>
                  <a:srgbClr val="059669"/>
                </a:solidFill>
                <a:latin typeface="Georgia" pitchFamily="34" charset="0"/>
                <a:ea typeface="Georgia" pitchFamily="34" charset="-122"/>
                <a:cs typeface="Georgia" pitchFamily="34" charset="-120"/>
              </a:rPr>
              <a:t>+0.025</a:t>
            </a:r>
            <a:endParaRPr lang="en-US" sz="1200" dirty="0"/>
          </a:p>
        </p:txBody>
      </p:sp>
      <p:sp>
        <p:nvSpPr>
          <p:cNvPr id="18" name="Shape 16"/>
          <p:cNvSpPr/>
          <p:nvPr/>
        </p:nvSpPr>
        <p:spPr>
          <a:xfrm>
            <a:off x="274320" y="2560320"/>
            <a:ext cx="4206240" cy="36576"/>
          </a:xfrm>
          <a:prstGeom prst="rect">
            <a:avLst/>
          </a:prstGeom>
          <a:solidFill>
            <a:srgbClr val="E5E7EB"/>
          </a:solidFill>
          <a:ln w="12700">
            <a:solidFill>
              <a:srgbClr val="E5E7EB"/>
            </a:solidFill>
            <a:prstDash val="solid"/>
          </a:ln>
        </p:spPr>
      </p:sp>
      <p:sp>
        <p:nvSpPr>
          <p:cNvPr id="19" name="Text 17"/>
          <p:cNvSpPr/>
          <p:nvPr/>
        </p:nvSpPr>
        <p:spPr>
          <a:xfrm>
            <a:off x="274320" y="2606040"/>
            <a:ext cx="1645920" cy="274320"/>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v46 · soft</a:t>
            </a:r>
            <a:endParaRPr lang="en-US" sz="1050" dirty="0"/>
          </a:p>
        </p:txBody>
      </p:sp>
      <p:sp>
        <p:nvSpPr>
          <p:cNvPr id="20" name="Text 18"/>
          <p:cNvSpPr/>
          <p:nvPr/>
        </p:nvSpPr>
        <p:spPr>
          <a:xfrm>
            <a:off x="1920240" y="2606040"/>
            <a:ext cx="164592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+ 59,040 (100 %)</a:t>
            </a:r>
            <a:endParaRPr lang="en-US" sz="1050" dirty="0"/>
          </a:p>
        </p:txBody>
      </p:sp>
      <p:sp>
        <p:nvSpPr>
          <p:cNvPr id="21" name="Text 19"/>
          <p:cNvSpPr/>
          <p:nvPr/>
        </p:nvSpPr>
        <p:spPr>
          <a:xfrm>
            <a:off x="3566160" y="2606040"/>
            <a:ext cx="914400" cy="274320"/>
          </a:xfrm>
          <a:prstGeom prst="rect">
            <a:avLst/>
          </a:prstGeom>
          <a:noFill/>
          <a:ln/>
        </p:spPr>
        <p:txBody>
          <a:bodyPr wrap="square" lIns="0" tIns="0" rIns="0" bIns="0" rtlCol="0" anchor="ctr"/>
          <a:lstStyle/>
          <a:p>
            <a:pPr indent="0" marL="0">
              <a:buNone/>
            </a:pPr>
            <a:r>
              <a:rPr lang="en-US" sz="1200" b="1" dirty="0">
                <a:solidFill>
                  <a:srgbClr val="D97706"/>
                </a:solidFill>
                <a:latin typeface="Georgia" pitchFamily="34" charset="0"/>
                <a:ea typeface="Georgia" pitchFamily="34" charset="-122"/>
                <a:cs typeface="Georgia" pitchFamily="34" charset="-120"/>
              </a:rPr>
              <a:t>+0.039</a:t>
            </a:r>
            <a:endParaRPr lang="en-US" sz="1200" dirty="0"/>
          </a:p>
        </p:txBody>
      </p:sp>
      <p:sp>
        <p:nvSpPr>
          <p:cNvPr id="22" name="Shape 20"/>
          <p:cNvSpPr/>
          <p:nvPr/>
        </p:nvSpPr>
        <p:spPr>
          <a:xfrm>
            <a:off x="274320" y="2971800"/>
            <a:ext cx="4206240" cy="36576"/>
          </a:xfrm>
          <a:prstGeom prst="rect">
            <a:avLst/>
          </a:prstGeom>
          <a:solidFill>
            <a:srgbClr val="E5E7EB"/>
          </a:solidFill>
          <a:ln w="12700">
            <a:solidFill>
              <a:srgbClr val="E5E7EB"/>
            </a:solidFill>
            <a:prstDash val="solid"/>
          </a:ln>
        </p:spPr>
      </p:sp>
      <p:sp>
        <p:nvSpPr>
          <p:cNvPr id="23" name="Text 21"/>
          <p:cNvSpPr/>
          <p:nvPr/>
        </p:nvSpPr>
        <p:spPr>
          <a:xfrm>
            <a:off x="274320" y="3017520"/>
            <a:ext cx="1645920" cy="274320"/>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v47 · round 2</a:t>
            </a:r>
            <a:endParaRPr lang="en-US" sz="1050" dirty="0"/>
          </a:p>
        </p:txBody>
      </p:sp>
      <p:sp>
        <p:nvSpPr>
          <p:cNvPr id="24" name="Text 22"/>
          <p:cNvSpPr/>
          <p:nvPr/>
        </p:nvSpPr>
        <p:spPr>
          <a:xfrm>
            <a:off x="1920240" y="3017520"/>
            <a:ext cx="164592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+ 59,040 (100 %)</a:t>
            </a:r>
            <a:endParaRPr lang="en-US" sz="1050" dirty="0"/>
          </a:p>
        </p:txBody>
      </p:sp>
      <p:sp>
        <p:nvSpPr>
          <p:cNvPr id="25" name="Text 23"/>
          <p:cNvSpPr/>
          <p:nvPr/>
        </p:nvSpPr>
        <p:spPr>
          <a:xfrm>
            <a:off x="3566160" y="3017520"/>
            <a:ext cx="914400" cy="274320"/>
          </a:xfrm>
          <a:prstGeom prst="rect">
            <a:avLst/>
          </a:prstGeom>
          <a:noFill/>
          <a:ln/>
        </p:spPr>
        <p:txBody>
          <a:bodyPr wrap="square" lIns="0" tIns="0" rIns="0" bIns="0" rtlCol="0" anchor="ctr"/>
          <a:lstStyle/>
          <a:p>
            <a:pPr indent="0" marL="0">
              <a:buNone/>
            </a:pPr>
            <a:r>
              <a:rPr lang="en-US" sz="1200" b="1" dirty="0">
                <a:solidFill>
                  <a:srgbClr val="0D9488"/>
                </a:solidFill>
                <a:latin typeface="Georgia" pitchFamily="34" charset="0"/>
                <a:ea typeface="Georgia" pitchFamily="34" charset="-122"/>
                <a:cs typeface="Georgia" pitchFamily="34" charset="-120"/>
              </a:rPr>
              <a:t>+0.003</a:t>
            </a:r>
            <a:endParaRPr lang="en-US" sz="1200" dirty="0"/>
          </a:p>
        </p:txBody>
      </p:sp>
      <p:sp>
        <p:nvSpPr>
          <p:cNvPr id="26" name="Shape 24"/>
          <p:cNvSpPr/>
          <p:nvPr/>
        </p:nvSpPr>
        <p:spPr>
          <a:xfrm>
            <a:off x="274320" y="3520440"/>
            <a:ext cx="4206240" cy="1005840"/>
          </a:xfrm>
          <a:prstGeom prst="rect">
            <a:avLst/>
          </a:prstGeom>
          <a:solidFill>
            <a:srgbClr val="1A3A52"/>
          </a:solidFill>
          <a:ln w="12700">
            <a:solidFill>
              <a:srgbClr val="1A3A52"/>
            </a:solidFill>
            <a:prstDash val="solid"/>
          </a:ln>
        </p:spPr>
      </p:sp>
      <p:sp>
        <p:nvSpPr>
          <p:cNvPr id="27" name="Shape 25"/>
          <p:cNvSpPr/>
          <p:nvPr/>
        </p:nvSpPr>
        <p:spPr>
          <a:xfrm>
            <a:off x="274320" y="3520440"/>
            <a:ext cx="64008" cy="1005840"/>
          </a:xfrm>
          <a:prstGeom prst="rect">
            <a:avLst/>
          </a:prstGeom>
          <a:solidFill>
            <a:srgbClr val="D97706"/>
          </a:solidFill>
          <a:ln w="12700">
            <a:solidFill>
              <a:srgbClr val="D97706"/>
            </a:solidFill>
            <a:prstDash val="solid"/>
          </a:ln>
        </p:spPr>
      </p:sp>
      <p:sp>
        <p:nvSpPr>
          <p:cNvPr id="28" name="Text 26"/>
          <p:cNvSpPr/>
          <p:nvPr/>
        </p:nvSpPr>
        <p:spPr>
          <a:xfrm>
            <a:off x="475488" y="3630168"/>
            <a:ext cx="3931920" cy="274320"/>
          </a:xfrm>
          <a:prstGeom prst="rect">
            <a:avLst/>
          </a:prstGeom>
          <a:noFill/>
          <a:ln/>
        </p:spPr>
        <p:txBody>
          <a:bodyPr wrap="square" lIns="0" tIns="0" rIns="0" bIns="0" rtlCol="0" anchor="ctr"/>
          <a:lstStyle/>
          <a:p>
            <a:pPr indent="0" marL="0">
              <a:buNone/>
            </a:pPr>
            <a:r>
              <a:rPr lang="en-US" sz="950" b="1" spc="400" kern="0" dirty="0">
                <a:solidFill>
                  <a:srgbClr val="D97706"/>
                </a:solidFill>
                <a:latin typeface="Calibri" pitchFamily="34" charset="0"/>
                <a:ea typeface="Calibri" pitchFamily="34" charset="-122"/>
                <a:cs typeface="Calibri" pitchFamily="34" charset="-120"/>
              </a:rPr>
              <a:t>DARK KNOWLEDGE (HINTON 2015)</a:t>
            </a:r>
            <a:endParaRPr lang="en-US" sz="950" dirty="0"/>
          </a:p>
        </p:txBody>
      </p:sp>
      <p:sp>
        <p:nvSpPr>
          <p:cNvPr id="29" name="Text 27"/>
          <p:cNvSpPr/>
          <p:nvPr/>
        </p:nvSpPr>
        <p:spPr>
          <a:xfrm>
            <a:off x="475488" y="3904488"/>
            <a:ext cx="3931920" cy="548640"/>
          </a:xfrm>
          <a:prstGeom prst="rect">
            <a:avLst/>
          </a:prstGeom>
          <a:noFill/>
          <a:ln/>
        </p:spPr>
        <p:txBody>
          <a:bodyPr wrap="square" lIns="0" tIns="0" rIns="0" bIns="0" rtlCol="0" anchor="t"/>
          <a:lstStyle/>
          <a:p>
            <a:pPr indent="0" marL="0">
              <a:buNone/>
            </a:pPr>
            <a:r>
              <a:rPr lang="en-US" sz="1000" i="1" dirty="0">
                <a:solidFill>
                  <a:srgbClr val="FAF7F2"/>
                </a:solidFill>
                <a:latin typeface="Georgia" pitchFamily="34" charset="0"/>
                <a:ea typeface="Georgia" pitchFamily="34" charset="-122"/>
                <a:cs typeface="Georgia" pitchFamily="34" charset="-120"/>
              </a:rPr>
              <a:t>A cell labelled p = 0.78 by the teacher carries directional + magnitude information that hard binarisation discards. Soft targets preserve all of it.</a:t>
            </a:r>
            <a:endParaRPr lang="en-US" sz="1000" dirty="0"/>
          </a:p>
        </p:txBody>
      </p:sp>
      <p:pic>
        <p:nvPicPr>
          <p:cNvPr id="30" name="Image 0" descr="Distribution of v46 teacher predictions over 59,040 test cells. Red dashed lines at p=0.05 and p=0.95 mark the hard-pseudo thresholds. The middle 84.1% of cells (49,636) is the soft-only 'dark knowledge' zone.">    </p:cNvPr>
          <p:cNvPicPr>
            <a:picLocks noChangeAspect="1"/>
          </p:cNvPicPr>
          <p:nvPr/>
        </p:nvPicPr>
        <p:blipFill>
          <a:blip r:embed="rId1"/>
          <a:stretch>
            <a:fillRect/>
          </a:stretch>
        </p:blipFill>
        <p:spPr>
          <a:xfrm>
            <a:off x="4572000" y="1417320"/>
            <a:ext cx="4434840" cy="1783080"/>
          </a:xfrm>
          <a:prstGeom prst="rect">
            <a:avLst/>
          </a:prstGeom>
        </p:spPr>
      </p:pic>
      <p:sp>
        <p:nvSpPr>
          <p:cNvPr id="31" name="Text 28"/>
          <p:cNvSpPr/>
          <p:nvPr/>
        </p:nvSpPr>
        <p:spPr>
          <a:xfrm>
            <a:off x="4572000" y="3246120"/>
            <a:ext cx="4434840" cy="27432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Fig. 3  Distribution of teacher predictions. Red dashed = hard thresholds. Soft keeps every column.</a:t>
            </a:r>
            <a:endParaRPr lang="en-US" sz="850" dirty="0"/>
          </a:p>
        </p:txBody>
      </p:sp>
      <p:sp>
        <p:nvSpPr>
          <p:cNvPr id="32" name="Shape 29"/>
          <p:cNvSpPr/>
          <p:nvPr/>
        </p:nvSpPr>
        <p:spPr>
          <a:xfrm>
            <a:off x="4572000" y="3611880"/>
            <a:ext cx="4297680" cy="914400"/>
          </a:xfrm>
          <a:prstGeom prst="rect">
            <a:avLst/>
          </a:prstGeom>
          <a:solidFill>
            <a:srgbClr val="1A3A52"/>
          </a:solidFill>
          <a:ln w="12700">
            <a:solidFill>
              <a:srgbClr val="1A3A52"/>
            </a:solidFill>
            <a:prstDash val="solid"/>
          </a:ln>
        </p:spPr>
      </p:sp>
      <p:sp>
        <p:nvSpPr>
          <p:cNvPr id="33" name="Shape 30"/>
          <p:cNvSpPr/>
          <p:nvPr/>
        </p:nvSpPr>
        <p:spPr>
          <a:xfrm>
            <a:off x="4572000" y="3611880"/>
            <a:ext cx="64008" cy="914400"/>
          </a:xfrm>
          <a:prstGeom prst="rect">
            <a:avLst/>
          </a:prstGeom>
          <a:solidFill>
            <a:srgbClr val="0D9488"/>
          </a:solidFill>
          <a:ln w="12700">
            <a:solidFill>
              <a:srgbClr val="0D9488"/>
            </a:solidFill>
            <a:prstDash val="solid"/>
          </a:ln>
        </p:spPr>
      </p:sp>
      <p:sp>
        <p:nvSpPr>
          <p:cNvPr id="34" name="Text 31"/>
          <p:cNvSpPr/>
          <p:nvPr/>
        </p:nvSpPr>
        <p:spPr>
          <a:xfrm>
            <a:off x="4773168" y="3721608"/>
            <a:ext cx="4023360" cy="274320"/>
          </a:xfrm>
          <a:prstGeom prst="rect">
            <a:avLst/>
          </a:prstGeom>
          <a:noFill/>
          <a:ln/>
        </p:spPr>
        <p:txBody>
          <a:bodyPr wrap="square" lIns="0" tIns="0" rIns="0" bIns="0" rtlCol="0" anchor="ctr"/>
          <a:lstStyle/>
          <a:p>
            <a:pPr indent="0" marL="0">
              <a:buNone/>
            </a:pPr>
            <a:r>
              <a:rPr lang="en-US" sz="950" b="1" spc="400" kern="0" dirty="0">
                <a:solidFill>
                  <a:srgbClr val="0D9488"/>
                </a:solidFill>
                <a:latin typeface="Calibri" pitchFamily="34" charset="0"/>
                <a:ea typeface="Calibri" pitchFamily="34" charset="-122"/>
                <a:cs typeface="Calibri" pitchFamily="34" charset="-120"/>
              </a:rPr>
              <a:t>WHY SOFT ALSO HELPS ROUND 2</a:t>
            </a:r>
            <a:endParaRPr lang="en-US" sz="950" dirty="0"/>
          </a:p>
        </p:txBody>
      </p:sp>
      <p:sp>
        <p:nvSpPr>
          <p:cNvPr id="35" name="Text 32"/>
          <p:cNvSpPr/>
          <p:nvPr/>
        </p:nvSpPr>
        <p:spPr>
          <a:xfrm>
            <a:off x="4773168" y="3995928"/>
            <a:ext cx="4023360" cy="457200"/>
          </a:xfrm>
          <a:prstGeom prst="rect">
            <a:avLst/>
          </a:prstGeom>
          <a:noFill/>
          <a:ln/>
        </p:spPr>
        <p:txBody>
          <a:bodyPr wrap="square" lIns="0" tIns="0" rIns="0" bIns="0" rtlCol="0" anchor="t"/>
          <a:lstStyle/>
          <a:p>
            <a:pPr indent="0" marL="0">
              <a:buNone/>
            </a:pPr>
            <a:r>
              <a:rPr lang="en-US" sz="950" i="1" dirty="0">
                <a:solidFill>
                  <a:srgbClr val="FAF7F2"/>
                </a:solidFill>
                <a:latin typeface="Georgia" pitchFamily="34" charset="0"/>
                <a:ea typeface="Georgia" pitchFamily="34" charset="-122"/>
                <a:cs typeface="Georgia" pitchFamily="34" charset="-120"/>
              </a:rPr>
              <a:t>v47's +0.003 lift on top of v46's +0.039 is small in mean — but per-seed tr_auc tightened (0.989-0.993 → 0.993-0.994). Round-2 acts as a variance reducer.</a:t>
            </a:r>
            <a:endParaRPr lang="en-US" sz="950" dirty="0"/>
          </a:p>
        </p:txBody>
      </p:sp>
      <p:sp>
        <p:nvSpPr>
          <p:cNvPr id="36" name="Text 33"/>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37" name="Text 34"/>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§8  ·  EVIDENCE</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The whole story in one chart</a:t>
            </a:r>
            <a:endParaRPr lang="en-US" sz="2600" dirty="0"/>
          </a:p>
        </p:txBody>
      </p:sp>
      <p:pic>
        <p:nvPicPr>
          <p:cNvPr id="6" name="Image 0" descr="Public LB progression across 30 logged Kaggle submissions: v19 baseline 0.7455 → v47_s2 best single seed 0.8355 (peaked #1, currently #3). Dashed red line marks the current leader at 0.8448; v48+ backbone-diversity runs queued at the right edge.">    </p:cNvPr>
          <p:cNvPicPr>
            <a:picLocks noChangeAspect="1"/>
          </p:cNvPicPr>
          <p:nvPr/>
        </p:nvPicPr>
        <p:blipFill>
          <a:blip r:embed="rId1"/>
          <a:stretch>
            <a:fillRect/>
          </a:stretch>
        </p:blipFill>
        <p:spPr>
          <a:xfrm>
            <a:off x="274320" y="1371600"/>
            <a:ext cx="8595360" cy="3108960"/>
          </a:xfrm>
          <a:prstGeom prst="rect">
            <a:avLst/>
          </a:prstGeom>
        </p:spPr>
      </p:pic>
      <p:sp>
        <p:nvSpPr>
          <p:cNvPr id="7" name="Text 4"/>
          <p:cNvSpPr/>
          <p:nvPr/>
        </p:nvSpPr>
        <p:spPr>
          <a:xfrm>
            <a:off x="274320" y="4526280"/>
            <a:ext cx="8595360" cy="32004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Fig. 4  Public LB across 30 logged submissions. Green = breakthrough · blue = useful gain · red = regression · grey = neutral. Dashed red = current leader; v48+ (orange) = queued backbone-diversity runs.</a:t>
            </a:r>
            <a:endParaRPr lang="en-US" sz="900" dirty="0"/>
          </a:p>
        </p:txBody>
      </p:sp>
      <p:sp>
        <p:nvSpPr>
          <p:cNvPr id="8" name="Text 5"/>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9" name="Text 6"/>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§9  ·  NEGATIVE RESULTS</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Six diagnosed failures that shaped the winning recipe</a:t>
            </a:r>
            <a:endParaRPr lang="en-US" sz="2600" dirty="0"/>
          </a:p>
        </p:txBody>
      </p:sp>
      <p:sp>
        <p:nvSpPr>
          <p:cNvPr id="6" name="Shape 4"/>
          <p:cNvSpPr/>
          <p:nvPr/>
        </p:nvSpPr>
        <p:spPr>
          <a:xfrm>
            <a:off x="274320" y="1417320"/>
            <a:ext cx="2834640" cy="1508760"/>
          </a:xfrm>
          <a:prstGeom prst="rect">
            <a:avLst/>
          </a:prstGeom>
          <a:solidFill>
            <a:srgbClr val="FFFFFF"/>
          </a:solidFill>
          <a:ln w="7620">
            <a:solidFill>
              <a:srgbClr val="E5E7EB"/>
            </a:solidFill>
            <a:prstDash val="solid"/>
          </a:ln>
          <a:effectLst>
            <a:outerShdw sx="100000" sy="100000" kx="0" ky="0" algn="bl" rotWithShape="0" blurRad="63500" dist="19050" dir="5400000">
              <a:srgbClr val="000000">
                <a:alpha val="5000"/>
              </a:srgbClr>
            </a:outerShdw>
          </a:effectLst>
        </p:spPr>
      </p:sp>
      <p:sp>
        <p:nvSpPr>
          <p:cNvPr id="7" name="Shape 5"/>
          <p:cNvSpPr/>
          <p:nvPr/>
        </p:nvSpPr>
        <p:spPr>
          <a:xfrm>
            <a:off x="274320" y="1417320"/>
            <a:ext cx="2834640" cy="54864"/>
          </a:xfrm>
          <a:prstGeom prst="rect">
            <a:avLst/>
          </a:prstGeom>
          <a:solidFill>
            <a:srgbClr val="B91C1C"/>
          </a:solidFill>
          <a:ln w="12700">
            <a:solidFill>
              <a:srgbClr val="B91C1C"/>
            </a:solidFill>
            <a:prstDash val="solid"/>
          </a:ln>
        </p:spPr>
      </p:sp>
      <p:sp>
        <p:nvSpPr>
          <p:cNvPr id="8" name="Text 6"/>
          <p:cNvSpPr/>
          <p:nvPr/>
        </p:nvSpPr>
        <p:spPr>
          <a:xfrm>
            <a:off x="411480" y="1527048"/>
            <a:ext cx="1645920" cy="256032"/>
          </a:xfrm>
          <a:prstGeom prst="rect">
            <a:avLst/>
          </a:prstGeom>
          <a:noFill/>
          <a:ln/>
        </p:spPr>
        <p:txBody>
          <a:bodyPr wrap="square" lIns="0" tIns="0" rIns="0" bIns="0" rtlCol="0" anchor="ctr"/>
          <a:lstStyle/>
          <a:p>
            <a:pPr indent="0" marL="0">
              <a:buNone/>
            </a:pPr>
            <a:r>
              <a:rPr lang="en-US" sz="1250" b="1" dirty="0">
                <a:solidFill>
                  <a:srgbClr val="B91C1C"/>
                </a:solidFill>
                <a:latin typeface="Georgia" pitchFamily="34" charset="0"/>
                <a:ea typeface="Georgia" pitchFamily="34" charset="-122"/>
                <a:cs typeface="Georgia" pitchFamily="34" charset="-120"/>
              </a:rPr>
              <a:t>v22</a:t>
            </a:r>
            <a:endParaRPr lang="en-US" sz="1250" dirty="0"/>
          </a:p>
        </p:txBody>
      </p:sp>
      <p:sp>
        <p:nvSpPr>
          <p:cNvPr id="9" name="Text 7"/>
          <p:cNvSpPr/>
          <p:nvPr/>
        </p:nvSpPr>
        <p:spPr>
          <a:xfrm>
            <a:off x="411480" y="1764792"/>
            <a:ext cx="2560320" cy="256032"/>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Cross-recipe ensemble collapse</a:t>
            </a:r>
            <a:endParaRPr lang="en-US" sz="1050" dirty="0"/>
          </a:p>
        </p:txBody>
      </p:sp>
      <p:sp>
        <p:nvSpPr>
          <p:cNvPr id="10" name="Text 8"/>
          <p:cNvSpPr/>
          <p:nvPr/>
        </p:nvSpPr>
        <p:spPr>
          <a:xfrm>
            <a:off x="411480" y="2002536"/>
            <a:ext cx="2560320" cy="5486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Sigmoid-avg of v19 + v21 at a 0.05 LB gap regressed below v19 alone (0.7422 vs 0.7455).</a:t>
            </a:r>
            <a:endParaRPr lang="en-US" sz="900" dirty="0"/>
          </a:p>
        </p:txBody>
      </p:sp>
      <p:sp>
        <p:nvSpPr>
          <p:cNvPr id="11" name="Text 9"/>
          <p:cNvSpPr/>
          <p:nvPr/>
        </p:nvSpPr>
        <p:spPr>
          <a:xfrm>
            <a:off x="411480" y="2578608"/>
            <a:ext cx="777240" cy="274320"/>
          </a:xfrm>
          <a:prstGeom prst="rect">
            <a:avLst/>
          </a:prstGeom>
          <a:noFill/>
          <a:ln/>
        </p:spPr>
        <p:txBody>
          <a:bodyPr wrap="square" lIns="0" tIns="0" rIns="0" bIns="0" rtlCol="0" anchor="ctr"/>
          <a:lstStyle/>
          <a:p>
            <a:pPr indent="0" marL="0">
              <a:buNone/>
            </a:pPr>
            <a:r>
              <a:rPr lang="en-US" sz="850" b="1" spc="200" kern="0" dirty="0">
                <a:solidFill>
                  <a:srgbClr val="D97706"/>
                </a:solidFill>
                <a:latin typeface="Calibri" pitchFamily="34" charset="0"/>
                <a:ea typeface="Calibri" pitchFamily="34" charset="-122"/>
                <a:cs typeface="Calibri" pitchFamily="34" charset="-120"/>
              </a:rPr>
              <a:t>RULE →</a:t>
            </a:r>
            <a:endParaRPr lang="en-US" sz="850" dirty="0"/>
          </a:p>
        </p:txBody>
      </p:sp>
      <p:sp>
        <p:nvSpPr>
          <p:cNvPr id="12" name="Text 10"/>
          <p:cNvSpPr/>
          <p:nvPr/>
        </p:nvSpPr>
        <p:spPr>
          <a:xfrm>
            <a:off x="1188720" y="2578608"/>
            <a:ext cx="1828800" cy="274320"/>
          </a:xfrm>
          <a:prstGeom prst="rect">
            <a:avLst/>
          </a:prstGeom>
          <a:noFill/>
          <a:ln/>
        </p:spPr>
        <p:txBody>
          <a:bodyPr wrap="square" lIns="0" tIns="0" rIns="0" bIns="0"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Don't ensemble across recipes beyond a 0.02 LB gap.</a:t>
            </a:r>
            <a:endParaRPr lang="en-US" sz="850" dirty="0"/>
          </a:p>
        </p:txBody>
      </p:sp>
      <p:sp>
        <p:nvSpPr>
          <p:cNvPr id="13" name="Shape 11"/>
          <p:cNvSpPr/>
          <p:nvPr/>
        </p:nvSpPr>
        <p:spPr>
          <a:xfrm>
            <a:off x="3154680" y="1417320"/>
            <a:ext cx="2834640" cy="1508760"/>
          </a:xfrm>
          <a:prstGeom prst="rect">
            <a:avLst/>
          </a:prstGeom>
          <a:solidFill>
            <a:srgbClr val="FFFFFF"/>
          </a:solidFill>
          <a:ln w="7620">
            <a:solidFill>
              <a:srgbClr val="E5E7EB"/>
            </a:solidFill>
            <a:prstDash val="solid"/>
          </a:ln>
          <a:effectLst>
            <a:outerShdw sx="100000" sy="100000" kx="0" ky="0" algn="bl" rotWithShape="0" blurRad="63500" dist="19050" dir="5400000">
              <a:srgbClr val="000000">
                <a:alpha val="5000"/>
              </a:srgbClr>
            </a:outerShdw>
          </a:effectLst>
        </p:spPr>
      </p:sp>
      <p:sp>
        <p:nvSpPr>
          <p:cNvPr id="14" name="Shape 12"/>
          <p:cNvSpPr/>
          <p:nvPr/>
        </p:nvSpPr>
        <p:spPr>
          <a:xfrm>
            <a:off x="3154680" y="1417320"/>
            <a:ext cx="2834640" cy="54864"/>
          </a:xfrm>
          <a:prstGeom prst="rect">
            <a:avLst/>
          </a:prstGeom>
          <a:solidFill>
            <a:srgbClr val="B91C1C"/>
          </a:solidFill>
          <a:ln w="12700">
            <a:solidFill>
              <a:srgbClr val="B91C1C"/>
            </a:solidFill>
            <a:prstDash val="solid"/>
          </a:ln>
        </p:spPr>
      </p:sp>
      <p:sp>
        <p:nvSpPr>
          <p:cNvPr id="15" name="Text 13"/>
          <p:cNvSpPr/>
          <p:nvPr/>
        </p:nvSpPr>
        <p:spPr>
          <a:xfrm>
            <a:off x="3291840" y="1527048"/>
            <a:ext cx="1645920" cy="256032"/>
          </a:xfrm>
          <a:prstGeom prst="rect">
            <a:avLst/>
          </a:prstGeom>
          <a:noFill/>
          <a:ln/>
        </p:spPr>
        <p:txBody>
          <a:bodyPr wrap="square" lIns="0" tIns="0" rIns="0" bIns="0" rtlCol="0" anchor="ctr"/>
          <a:lstStyle/>
          <a:p>
            <a:pPr indent="0" marL="0">
              <a:buNone/>
            </a:pPr>
            <a:r>
              <a:rPr lang="en-US" sz="1250" b="1" dirty="0">
                <a:solidFill>
                  <a:srgbClr val="B91C1C"/>
                </a:solidFill>
                <a:latin typeface="Georgia" pitchFamily="34" charset="0"/>
                <a:ea typeface="Georgia" pitchFamily="34" charset="-122"/>
                <a:cs typeface="Georgia" pitchFamily="34" charset="-120"/>
              </a:rPr>
              <a:t>v27</a:t>
            </a:r>
            <a:endParaRPr lang="en-US" sz="1250" dirty="0"/>
          </a:p>
        </p:txBody>
      </p:sp>
      <p:sp>
        <p:nvSpPr>
          <p:cNvPr id="16" name="Text 14"/>
          <p:cNvSpPr/>
          <p:nvPr/>
        </p:nvSpPr>
        <p:spPr>
          <a:xfrm>
            <a:off x="3291840" y="1764792"/>
            <a:ext cx="2560320" cy="256032"/>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Held-out val too noisy on N=12</a:t>
            </a:r>
            <a:endParaRPr lang="en-US" sz="1050" dirty="0"/>
          </a:p>
        </p:txBody>
      </p:sp>
      <p:sp>
        <p:nvSpPr>
          <p:cNvPr id="17" name="Text 15"/>
          <p:cNvSpPr/>
          <p:nvPr/>
        </p:nvSpPr>
        <p:spPr>
          <a:xfrm>
            <a:off x="3291840" y="2002536"/>
            <a:ext cx="2560320" cy="5486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2-patient holdout (pat_5 saturated FL, pat_14 dark FL) selected best_epoch = 0 — untrained.</a:t>
            </a:r>
            <a:endParaRPr lang="en-US" sz="900" dirty="0"/>
          </a:p>
        </p:txBody>
      </p:sp>
      <p:sp>
        <p:nvSpPr>
          <p:cNvPr id="18" name="Text 16"/>
          <p:cNvSpPr/>
          <p:nvPr/>
        </p:nvSpPr>
        <p:spPr>
          <a:xfrm>
            <a:off x="3291840" y="2578608"/>
            <a:ext cx="777240" cy="274320"/>
          </a:xfrm>
          <a:prstGeom prst="rect">
            <a:avLst/>
          </a:prstGeom>
          <a:noFill/>
          <a:ln/>
        </p:spPr>
        <p:txBody>
          <a:bodyPr wrap="square" lIns="0" tIns="0" rIns="0" bIns="0" rtlCol="0" anchor="ctr"/>
          <a:lstStyle/>
          <a:p>
            <a:pPr indent="0" marL="0">
              <a:buNone/>
            </a:pPr>
            <a:r>
              <a:rPr lang="en-US" sz="850" b="1" spc="200" kern="0" dirty="0">
                <a:solidFill>
                  <a:srgbClr val="D97706"/>
                </a:solidFill>
                <a:latin typeface="Calibri" pitchFamily="34" charset="0"/>
                <a:ea typeface="Calibri" pitchFamily="34" charset="-122"/>
                <a:cs typeface="Calibri" pitchFamily="34" charset="-120"/>
              </a:rPr>
              <a:t>RULE →</a:t>
            </a:r>
            <a:endParaRPr lang="en-US" sz="850" dirty="0"/>
          </a:p>
        </p:txBody>
      </p:sp>
      <p:sp>
        <p:nvSpPr>
          <p:cNvPr id="19" name="Text 17"/>
          <p:cNvSpPr/>
          <p:nvPr/>
        </p:nvSpPr>
        <p:spPr>
          <a:xfrm>
            <a:off x="4069080" y="2578608"/>
            <a:ext cx="1828800" cy="274320"/>
          </a:xfrm>
          <a:prstGeom prst="rect">
            <a:avLst/>
          </a:prstGeom>
          <a:noFill/>
          <a:ln/>
        </p:spPr>
        <p:txBody>
          <a:bodyPr wrap="square" lIns="0" tIns="0" rIns="0" bIns="0"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Use public LB as external validator; abandon held-out splits.</a:t>
            </a:r>
            <a:endParaRPr lang="en-US" sz="850" dirty="0"/>
          </a:p>
        </p:txBody>
      </p:sp>
      <p:sp>
        <p:nvSpPr>
          <p:cNvPr id="20" name="Shape 18"/>
          <p:cNvSpPr/>
          <p:nvPr/>
        </p:nvSpPr>
        <p:spPr>
          <a:xfrm>
            <a:off x="6035040" y="1417320"/>
            <a:ext cx="2834640" cy="1508760"/>
          </a:xfrm>
          <a:prstGeom prst="rect">
            <a:avLst/>
          </a:prstGeom>
          <a:solidFill>
            <a:srgbClr val="FFFFFF"/>
          </a:solidFill>
          <a:ln w="7620">
            <a:solidFill>
              <a:srgbClr val="E5E7EB"/>
            </a:solidFill>
            <a:prstDash val="solid"/>
          </a:ln>
          <a:effectLst>
            <a:outerShdw sx="100000" sy="100000" kx="0" ky="0" algn="bl" rotWithShape="0" blurRad="63500" dist="19050" dir="5400000">
              <a:srgbClr val="000000">
                <a:alpha val="5000"/>
              </a:srgbClr>
            </a:outerShdw>
          </a:effectLst>
        </p:spPr>
      </p:sp>
      <p:sp>
        <p:nvSpPr>
          <p:cNvPr id="21" name="Shape 19"/>
          <p:cNvSpPr/>
          <p:nvPr/>
        </p:nvSpPr>
        <p:spPr>
          <a:xfrm>
            <a:off x="6035040" y="1417320"/>
            <a:ext cx="2834640" cy="54864"/>
          </a:xfrm>
          <a:prstGeom prst="rect">
            <a:avLst/>
          </a:prstGeom>
          <a:solidFill>
            <a:srgbClr val="B91C1C"/>
          </a:solidFill>
          <a:ln w="12700">
            <a:solidFill>
              <a:srgbClr val="B91C1C"/>
            </a:solidFill>
            <a:prstDash val="solid"/>
          </a:ln>
        </p:spPr>
      </p:sp>
      <p:sp>
        <p:nvSpPr>
          <p:cNvPr id="22" name="Text 20"/>
          <p:cNvSpPr/>
          <p:nvPr/>
        </p:nvSpPr>
        <p:spPr>
          <a:xfrm>
            <a:off x="6172200" y="1527048"/>
            <a:ext cx="1645920" cy="256032"/>
          </a:xfrm>
          <a:prstGeom prst="rect">
            <a:avLst/>
          </a:prstGeom>
          <a:noFill/>
          <a:ln/>
        </p:spPr>
        <p:txBody>
          <a:bodyPr wrap="square" lIns="0" tIns="0" rIns="0" bIns="0" rtlCol="0" anchor="ctr"/>
          <a:lstStyle/>
          <a:p>
            <a:pPr indent="0" marL="0">
              <a:buNone/>
            </a:pPr>
            <a:r>
              <a:rPr lang="en-US" sz="1250" b="1" dirty="0">
                <a:solidFill>
                  <a:srgbClr val="B91C1C"/>
                </a:solidFill>
                <a:latin typeface="Georgia" pitchFamily="34" charset="0"/>
                <a:ea typeface="Georgia" pitchFamily="34" charset="-122"/>
                <a:cs typeface="Georgia" pitchFamily="34" charset="-120"/>
              </a:rPr>
              <a:t>v37 / v38</a:t>
            </a:r>
            <a:endParaRPr lang="en-US" sz="1250" dirty="0"/>
          </a:p>
        </p:txBody>
      </p:sp>
      <p:sp>
        <p:nvSpPr>
          <p:cNvPr id="23" name="Text 21"/>
          <p:cNvSpPr/>
          <p:nvPr/>
        </p:nvSpPr>
        <p:spPr>
          <a:xfrm>
            <a:off x="6172200" y="1764792"/>
            <a:ext cx="2560320" cy="256032"/>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Lian 2024 transfer attempts</a:t>
            </a:r>
            <a:endParaRPr lang="en-US" sz="1050" dirty="0"/>
          </a:p>
        </p:txBody>
      </p:sp>
      <p:sp>
        <p:nvSpPr>
          <p:cNvPr id="24" name="Text 22"/>
          <p:cNvSpPr/>
          <p:nvPr/>
        </p:nvSpPr>
        <p:spPr>
          <a:xfrm>
            <a:off x="6172200" y="2002536"/>
            <a:ext cx="2560320" cy="5486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Heavy FL aug + early fusion both regressed (−0.036, −0.031). Lian's 4-ch ≠ our 1-ch grayscale.</a:t>
            </a:r>
            <a:endParaRPr lang="en-US" sz="900" dirty="0"/>
          </a:p>
        </p:txBody>
      </p:sp>
      <p:sp>
        <p:nvSpPr>
          <p:cNvPr id="25" name="Text 23"/>
          <p:cNvSpPr/>
          <p:nvPr/>
        </p:nvSpPr>
        <p:spPr>
          <a:xfrm>
            <a:off x="6172200" y="2578608"/>
            <a:ext cx="777240" cy="274320"/>
          </a:xfrm>
          <a:prstGeom prst="rect">
            <a:avLst/>
          </a:prstGeom>
          <a:noFill/>
          <a:ln/>
        </p:spPr>
        <p:txBody>
          <a:bodyPr wrap="square" lIns="0" tIns="0" rIns="0" bIns="0" rtlCol="0" anchor="ctr"/>
          <a:lstStyle/>
          <a:p>
            <a:pPr indent="0" marL="0">
              <a:buNone/>
            </a:pPr>
            <a:r>
              <a:rPr lang="en-US" sz="850" b="1" spc="200" kern="0" dirty="0">
                <a:solidFill>
                  <a:srgbClr val="D97706"/>
                </a:solidFill>
                <a:latin typeface="Calibri" pitchFamily="34" charset="0"/>
                <a:ea typeface="Calibri" pitchFamily="34" charset="-122"/>
                <a:cs typeface="Calibri" pitchFamily="34" charset="-120"/>
              </a:rPr>
              <a:t>RULE →</a:t>
            </a:r>
            <a:endParaRPr lang="en-US" sz="850" dirty="0"/>
          </a:p>
        </p:txBody>
      </p:sp>
      <p:sp>
        <p:nvSpPr>
          <p:cNvPr id="26" name="Text 24"/>
          <p:cNvSpPr/>
          <p:nvPr/>
        </p:nvSpPr>
        <p:spPr>
          <a:xfrm>
            <a:off x="6949440" y="2578608"/>
            <a:ext cx="1828800" cy="274320"/>
          </a:xfrm>
          <a:prstGeom prst="rect">
            <a:avLst/>
          </a:prstGeom>
          <a:noFill/>
          <a:ln/>
        </p:spPr>
        <p:txBody>
          <a:bodyPr wrap="square" lIns="0" tIns="0" rIns="0" bIns="0"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Re-validate any borrowed ablation on the actual modality.</a:t>
            </a:r>
            <a:endParaRPr lang="en-US" sz="850" dirty="0"/>
          </a:p>
        </p:txBody>
      </p:sp>
      <p:sp>
        <p:nvSpPr>
          <p:cNvPr id="27" name="Shape 25"/>
          <p:cNvSpPr/>
          <p:nvPr/>
        </p:nvSpPr>
        <p:spPr>
          <a:xfrm>
            <a:off x="274320" y="3017520"/>
            <a:ext cx="2834640" cy="1508760"/>
          </a:xfrm>
          <a:prstGeom prst="rect">
            <a:avLst/>
          </a:prstGeom>
          <a:solidFill>
            <a:srgbClr val="FFFFFF"/>
          </a:solidFill>
          <a:ln w="7620">
            <a:solidFill>
              <a:srgbClr val="E5E7EB"/>
            </a:solidFill>
            <a:prstDash val="solid"/>
          </a:ln>
          <a:effectLst>
            <a:outerShdw sx="100000" sy="100000" kx="0" ky="0" algn="bl" rotWithShape="0" blurRad="63500" dist="19050" dir="5400000">
              <a:srgbClr val="000000">
                <a:alpha val="5000"/>
              </a:srgbClr>
            </a:outerShdw>
          </a:effectLst>
        </p:spPr>
      </p:sp>
      <p:sp>
        <p:nvSpPr>
          <p:cNvPr id="28" name="Shape 26"/>
          <p:cNvSpPr/>
          <p:nvPr/>
        </p:nvSpPr>
        <p:spPr>
          <a:xfrm>
            <a:off x="274320" y="3017520"/>
            <a:ext cx="2834640" cy="54864"/>
          </a:xfrm>
          <a:prstGeom prst="rect">
            <a:avLst/>
          </a:prstGeom>
          <a:solidFill>
            <a:srgbClr val="B91C1C"/>
          </a:solidFill>
          <a:ln w="12700">
            <a:solidFill>
              <a:srgbClr val="B91C1C"/>
            </a:solidFill>
            <a:prstDash val="solid"/>
          </a:ln>
        </p:spPr>
      </p:sp>
      <p:sp>
        <p:nvSpPr>
          <p:cNvPr id="29" name="Text 27"/>
          <p:cNvSpPr/>
          <p:nvPr/>
        </p:nvSpPr>
        <p:spPr>
          <a:xfrm>
            <a:off x="411480" y="3127248"/>
            <a:ext cx="1645920" cy="256032"/>
          </a:xfrm>
          <a:prstGeom prst="rect">
            <a:avLst/>
          </a:prstGeom>
          <a:noFill/>
          <a:ln/>
        </p:spPr>
        <p:txBody>
          <a:bodyPr wrap="square" lIns="0" tIns="0" rIns="0" bIns="0" rtlCol="0" anchor="ctr"/>
          <a:lstStyle/>
          <a:p>
            <a:pPr indent="0" marL="0">
              <a:buNone/>
            </a:pPr>
            <a:r>
              <a:rPr lang="en-US" sz="1250" b="1" dirty="0">
                <a:solidFill>
                  <a:srgbClr val="B91C1C"/>
                </a:solidFill>
                <a:latin typeface="Georgia" pitchFamily="34" charset="0"/>
                <a:ea typeface="Georgia" pitchFamily="34" charset="-122"/>
                <a:cs typeface="Georgia" pitchFamily="34" charset="-120"/>
              </a:rPr>
              <a:t>v42</a:t>
            </a:r>
            <a:endParaRPr lang="en-US" sz="1250" dirty="0"/>
          </a:p>
        </p:txBody>
      </p:sp>
      <p:sp>
        <p:nvSpPr>
          <p:cNvPr id="30" name="Text 28"/>
          <p:cNvSpPr/>
          <p:nvPr/>
        </p:nvSpPr>
        <p:spPr>
          <a:xfrm>
            <a:off x="411480" y="3364992"/>
            <a:ext cx="2560320" cy="256032"/>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SSL patient-shortcut collapse</a:t>
            </a:r>
            <a:endParaRPr lang="en-US" sz="1050" dirty="0"/>
          </a:p>
        </p:txBody>
      </p:sp>
      <p:sp>
        <p:nvSpPr>
          <p:cNvPr id="31" name="Text 29"/>
          <p:cNvSpPr/>
          <p:nvPr/>
        </p:nvSpPr>
        <p:spPr>
          <a:xfrm>
            <a:off x="411480" y="3602736"/>
            <a:ext cx="2560320" cy="5486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CoMIR InfoNCE solved by patient-ID (loss = 0.02 in epoch 1). tr_auc 0.96 · LB 0.59.</a:t>
            </a:r>
            <a:endParaRPr lang="en-US" sz="900" dirty="0"/>
          </a:p>
        </p:txBody>
      </p:sp>
      <p:sp>
        <p:nvSpPr>
          <p:cNvPr id="32" name="Text 30"/>
          <p:cNvSpPr/>
          <p:nvPr/>
        </p:nvSpPr>
        <p:spPr>
          <a:xfrm>
            <a:off x="411480" y="4178808"/>
            <a:ext cx="777240" cy="274320"/>
          </a:xfrm>
          <a:prstGeom prst="rect">
            <a:avLst/>
          </a:prstGeom>
          <a:noFill/>
          <a:ln/>
        </p:spPr>
        <p:txBody>
          <a:bodyPr wrap="square" lIns="0" tIns="0" rIns="0" bIns="0" rtlCol="0" anchor="ctr"/>
          <a:lstStyle/>
          <a:p>
            <a:pPr indent="0" marL="0">
              <a:buNone/>
            </a:pPr>
            <a:r>
              <a:rPr lang="en-US" sz="850" b="1" spc="200" kern="0" dirty="0">
                <a:solidFill>
                  <a:srgbClr val="D97706"/>
                </a:solidFill>
                <a:latin typeface="Calibri" pitchFamily="34" charset="0"/>
                <a:ea typeface="Calibri" pitchFamily="34" charset="-122"/>
                <a:cs typeface="Calibri" pitchFamily="34" charset="-120"/>
              </a:rPr>
              <a:t>RULE →</a:t>
            </a:r>
            <a:endParaRPr lang="en-US" sz="850" dirty="0"/>
          </a:p>
        </p:txBody>
      </p:sp>
      <p:sp>
        <p:nvSpPr>
          <p:cNvPr id="33" name="Text 31"/>
          <p:cNvSpPr/>
          <p:nvPr/>
        </p:nvSpPr>
        <p:spPr>
          <a:xfrm>
            <a:off x="1188720" y="4178808"/>
            <a:ext cx="1828800" cy="274320"/>
          </a:xfrm>
          <a:prstGeom prst="rect">
            <a:avLst/>
          </a:prstGeom>
          <a:noFill/>
          <a:ln/>
        </p:spPr>
        <p:txBody>
          <a:bodyPr wrap="square" lIns="0" tIns="0" rIns="0" bIns="0"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Cross-modal SSL amplifies patient-grouped shortcuts.</a:t>
            </a:r>
            <a:endParaRPr lang="en-US" sz="850" dirty="0"/>
          </a:p>
        </p:txBody>
      </p:sp>
      <p:sp>
        <p:nvSpPr>
          <p:cNvPr id="34" name="Shape 32"/>
          <p:cNvSpPr/>
          <p:nvPr/>
        </p:nvSpPr>
        <p:spPr>
          <a:xfrm>
            <a:off x="3154680" y="3017520"/>
            <a:ext cx="2834640" cy="1508760"/>
          </a:xfrm>
          <a:prstGeom prst="rect">
            <a:avLst/>
          </a:prstGeom>
          <a:solidFill>
            <a:srgbClr val="FFFFFF"/>
          </a:solidFill>
          <a:ln w="7620">
            <a:solidFill>
              <a:srgbClr val="E5E7EB"/>
            </a:solidFill>
            <a:prstDash val="solid"/>
          </a:ln>
          <a:effectLst>
            <a:outerShdw sx="100000" sy="100000" kx="0" ky="0" algn="bl" rotWithShape="0" blurRad="63500" dist="19050" dir="5400000">
              <a:srgbClr val="000000">
                <a:alpha val="5000"/>
              </a:srgbClr>
            </a:outerShdw>
          </a:effectLst>
        </p:spPr>
      </p:sp>
      <p:sp>
        <p:nvSpPr>
          <p:cNvPr id="35" name="Shape 33"/>
          <p:cNvSpPr/>
          <p:nvPr/>
        </p:nvSpPr>
        <p:spPr>
          <a:xfrm>
            <a:off x="3154680" y="3017520"/>
            <a:ext cx="2834640" cy="54864"/>
          </a:xfrm>
          <a:prstGeom prst="rect">
            <a:avLst/>
          </a:prstGeom>
          <a:solidFill>
            <a:srgbClr val="B91C1C"/>
          </a:solidFill>
          <a:ln w="12700">
            <a:solidFill>
              <a:srgbClr val="B91C1C"/>
            </a:solidFill>
            <a:prstDash val="solid"/>
          </a:ln>
        </p:spPr>
      </p:sp>
      <p:sp>
        <p:nvSpPr>
          <p:cNvPr id="36" name="Text 34"/>
          <p:cNvSpPr/>
          <p:nvPr/>
        </p:nvSpPr>
        <p:spPr>
          <a:xfrm>
            <a:off x="3291840" y="3127248"/>
            <a:ext cx="1645920" cy="256032"/>
          </a:xfrm>
          <a:prstGeom prst="rect">
            <a:avLst/>
          </a:prstGeom>
          <a:noFill/>
          <a:ln/>
        </p:spPr>
        <p:txBody>
          <a:bodyPr wrap="square" lIns="0" tIns="0" rIns="0" bIns="0" rtlCol="0" anchor="ctr"/>
          <a:lstStyle/>
          <a:p>
            <a:pPr indent="0" marL="0">
              <a:buNone/>
            </a:pPr>
            <a:r>
              <a:rPr lang="en-US" sz="1250" b="1" dirty="0">
                <a:solidFill>
                  <a:srgbClr val="B91C1C"/>
                </a:solidFill>
                <a:latin typeface="Georgia" pitchFamily="34" charset="0"/>
                <a:ea typeface="Georgia" pitchFamily="34" charset="-122"/>
                <a:cs typeface="Georgia" pitchFamily="34" charset="-120"/>
              </a:rPr>
              <a:t>v43</a:t>
            </a:r>
            <a:endParaRPr lang="en-US" sz="1250" dirty="0"/>
          </a:p>
        </p:txBody>
      </p:sp>
      <p:sp>
        <p:nvSpPr>
          <p:cNvPr id="37" name="Text 35"/>
          <p:cNvSpPr/>
          <p:nvPr/>
        </p:nvSpPr>
        <p:spPr>
          <a:xfrm>
            <a:off x="3291840" y="3364992"/>
            <a:ext cx="2560320" cy="256032"/>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Stacked regulariser regression</a:t>
            </a:r>
            <a:endParaRPr lang="en-US" sz="1050" dirty="0"/>
          </a:p>
        </p:txBody>
      </p:sp>
      <p:sp>
        <p:nvSpPr>
          <p:cNvPr id="38" name="Text 36"/>
          <p:cNvSpPr/>
          <p:nvPr/>
        </p:nvSpPr>
        <p:spPr>
          <a:xfrm>
            <a:off x="3291840" y="3602736"/>
            <a:ext cx="2560320" cy="5486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Four simultaneous changes on top of v41 → −0.012 LB. No attribution possible.</a:t>
            </a:r>
            <a:endParaRPr lang="en-US" sz="900" dirty="0"/>
          </a:p>
        </p:txBody>
      </p:sp>
      <p:sp>
        <p:nvSpPr>
          <p:cNvPr id="39" name="Text 37"/>
          <p:cNvSpPr/>
          <p:nvPr/>
        </p:nvSpPr>
        <p:spPr>
          <a:xfrm>
            <a:off x="3291840" y="4178808"/>
            <a:ext cx="777240" cy="274320"/>
          </a:xfrm>
          <a:prstGeom prst="rect">
            <a:avLst/>
          </a:prstGeom>
          <a:noFill/>
          <a:ln/>
        </p:spPr>
        <p:txBody>
          <a:bodyPr wrap="square" lIns="0" tIns="0" rIns="0" bIns="0" rtlCol="0" anchor="ctr"/>
          <a:lstStyle/>
          <a:p>
            <a:pPr indent="0" marL="0">
              <a:buNone/>
            </a:pPr>
            <a:r>
              <a:rPr lang="en-US" sz="850" b="1" spc="200" kern="0" dirty="0">
                <a:solidFill>
                  <a:srgbClr val="D97706"/>
                </a:solidFill>
                <a:latin typeface="Calibri" pitchFamily="34" charset="0"/>
                <a:ea typeface="Calibri" pitchFamily="34" charset="-122"/>
                <a:cs typeface="Calibri" pitchFamily="34" charset="-120"/>
              </a:rPr>
              <a:t>RULE →</a:t>
            </a:r>
            <a:endParaRPr lang="en-US" sz="850" dirty="0"/>
          </a:p>
        </p:txBody>
      </p:sp>
      <p:sp>
        <p:nvSpPr>
          <p:cNvPr id="40" name="Text 38"/>
          <p:cNvSpPr/>
          <p:nvPr/>
        </p:nvSpPr>
        <p:spPr>
          <a:xfrm>
            <a:off x="4069080" y="4178808"/>
            <a:ext cx="1828800" cy="274320"/>
          </a:xfrm>
          <a:prstGeom prst="rect">
            <a:avLst/>
          </a:prstGeom>
          <a:noFill/>
          <a:ln/>
        </p:spPr>
        <p:txBody>
          <a:bodyPr wrap="square" lIns="0" tIns="0" rIns="0" bIns="0"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One or two related variables per submission.</a:t>
            </a:r>
            <a:endParaRPr lang="en-US" sz="850" dirty="0"/>
          </a:p>
        </p:txBody>
      </p:sp>
      <p:sp>
        <p:nvSpPr>
          <p:cNvPr id="41" name="Shape 39"/>
          <p:cNvSpPr/>
          <p:nvPr/>
        </p:nvSpPr>
        <p:spPr>
          <a:xfrm>
            <a:off x="6035040" y="3017520"/>
            <a:ext cx="2834640" cy="1508760"/>
          </a:xfrm>
          <a:prstGeom prst="rect">
            <a:avLst/>
          </a:prstGeom>
          <a:solidFill>
            <a:srgbClr val="FFFFFF"/>
          </a:solidFill>
          <a:ln w="7620">
            <a:solidFill>
              <a:srgbClr val="E5E7EB"/>
            </a:solidFill>
            <a:prstDash val="solid"/>
          </a:ln>
          <a:effectLst>
            <a:outerShdw sx="100000" sy="100000" kx="0" ky="0" algn="bl" rotWithShape="0" blurRad="63500" dist="19050" dir="5400000">
              <a:srgbClr val="000000">
                <a:alpha val="5000"/>
              </a:srgbClr>
            </a:outerShdw>
          </a:effectLst>
        </p:spPr>
      </p:sp>
      <p:sp>
        <p:nvSpPr>
          <p:cNvPr id="42" name="Shape 40"/>
          <p:cNvSpPr/>
          <p:nvPr/>
        </p:nvSpPr>
        <p:spPr>
          <a:xfrm>
            <a:off x="6035040" y="3017520"/>
            <a:ext cx="2834640" cy="54864"/>
          </a:xfrm>
          <a:prstGeom prst="rect">
            <a:avLst/>
          </a:prstGeom>
          <a:solidFill>
            <a:srgbClr val="B91C1C"/>
          </a:solidFill>
          <a:ln w="12700">
            <a:solidFill>
              <a:srgbClr val="B91C1C"/>
            </a:solidFill>
            <a:prstDash val="solid"/>
          </a:ln>
        </p:spPr>
      </p:sp>
      <p:sp>
        <p:nvSpPr>
          <p:cNvPr id="43" name="Text 41"/>
          <p:cNvSpPr/>
          <p:nvPr/>
        </p:nvSpPr>
        <p:spPr>
          <a:xfrm>
            <a:off x="6172200" y="3127248"/>
            <a:ext cx="1645920" cy="256032"/>
          </a:xfrm>
          <a:prstGeom prst="rect">
            <a:avLst/>
          </a:prstGeom>
          <a:noFill/>
          <a:ln/>
        </p:spPr>
        <p:txBody>
          <a:bodyPr wrap="square" lIns="0" tIns="0" rIns="0" bIns="0" rtlCol="0" anchor="ctr"/>
          <a:lstStyle/>
          <a:p>
            <a:pPr indent="0" marL="0">
              <a:buNone/>
            </a:pPr>
            <a:r>
              <a:rPr lang="en-US" sz="1250" b="1" dirty="0">
                <a:solidFill>
                  <a:srgbClr val="B91C1C"/>
                </a:solidFill>
                <a:latin typeface="Georgia" pitchFamily="34" charset="0"/>
                <a:ea typeface="Georgia" pitchFamily="34" charset="-122"/>
                <a:cs typeface="Georgia" pitchFamily="34" charset="-120"/>
              </a:rPr>
              <a:t>v45_probe</a:t>
            </a:r>
            <a:endParaRPr lang="en-US" sz="1250" dirty="0"/>
          </a:p>
        </p:txBody>
      </p:sp>
      <p:sp>
        <p:nvSpPr>
          <p:cNvPr id="44" name="Text 42"/>
          <p:cNvSpPr/>
          <p:nvPr/>
        </p:nvSpPr>
        <p:spPr>
          <a:xfrm>
            <a:off x="6172200" y="3364992"/>
            <a:ext cx="2560320" cy="256032"/>
          </a:xfrm>
          <a:prstGeom prst="rect">
            <a:avLst/>
          </a:prstGeom>
          <a:noFill/>
          <a:ln/>
        </p:spPr>
        <p:txBody>
          <a:bodyPr wrap="square" lIns="0" tIns="0" rIns="0" bIns="0" rtlCol="0" anchor="ctr"/>
          <a:lstStyle/>
          <a:p>
            <a:pPr indent="0" marL="0">
              <a:buNone/>
            </a:pPr>
            <a:r>
              <a:rPr lang="en-US" sz="1050" b="1" dirty="0">
                <a:solidFill>
                  <a:srgbClr val="1A3A52"/>
                </a:solidFill>
                <a:latin typeface="Calibri" pitchFamily="34" charset="0"/>
                <a:ea typeface="Calibri" pitchFamily="34" charset="-122"/>
                <a:cs typeface="Calibri" pitchFamily="34" charset="-120"/>
              </a:rPr>
              <a:t>Ensemble rule confirmation</a:t>
            </a:r>
            <a:endParaRPr lang="en-US" sz="1050" dirty="0"/>
          </a:p>
        </p:txBody>
      </p:sp>
      <p:sp>
        <p:nvSpPr>
          <p:cNvPr id="45" name="Text 43"/>
          <p:cNvSpPr/>
          <p:nvPr/>
        </p:nvSpPr>
        <p:spPr>
          <a:xfrm>
            <a:off x="6172200" y="3602736"/>
            <a:ext cx="2560320" cy="548640"/>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Sigmoid-avg of v41 + v44 (0.025 LB gap) regressed 0.008 below v44. Pearson 0.936.</a:t>
            </a:r>
            <a:endParaRPr lang="en-US" sz="900" dirty="0"/>
          </a:p>
        </p:txBody>
      </p:sp>
      <p:sp>
        <p:nvSpPr>
          <p:cNvPr id="46" name="Text 44"/>
          <p:cNvSpPr/>
          <p:nvPr/>
        </p:nvSpPr>
        <p:spPr>
          <a:xfrm>
            <a:off x="6172200" y="4178808"/>
            <a:ext cx="777240" cy="274320"/>
          </a:xfrm>
          <a:prstGeom prst="rect">
            <a:avLst/>
          </a:prstGeom>
          <a:noFill/>
          <a:ln/>
        </p:spPr>
        <p:txBody>
          <a:bodyPr wrap="square" lIns="0" tIns="0" rIns="0" bIns="0" rtlCol="0" anchor="ctr"/>
          <a:lstStyle/>
          <a:p>
            <a:pPr indent="0" marL="0">
              <a:buNone/>
            </a:pPr>
            <a:r>
              <a:rPr lang="en-US" sz="850" b="1" spc="200" kern="0" dirty="0">
                <a:solidFill>
                  <a:srgbClr val="D97706"/>
                </a:solidFill>
                <a:latin typeface="Calibri" pitchFamily="34" charset="0"/>
                <a:ea typeface="Calibri" pitchFamily="34" charset="-122"/>
                <a:cs typeface="Calibri" pitchFamily="34" charset="-120"/>
              </a:rPr>
              <a:t>RULE →</a:t>
            </a:r>
            <a:endParaRPr lang="en-US" sz="850" dirty="0"/>
          </a:p>
        </p:txBody>
      </p:sp>
      <p:sp>
        <p:nvSpPr>
          <p:cNvPr id="47" name="Text 45"/>
          <p:cNvSpPr/>
          <p:nvPr/>
        </p:nvSpPr>
        <p:spPr>
          <a:xfrm>
            <a:off x="6949440" y="4178808"/>
            <a:ext cx="1828800" cy="274320"/>
          </a:xfrm>
          <a:prstGeom prst="rect">
            <a:avLst/>
          </a:prstGeom>
          <a:noFill/>
          <a:ln/>
        </p:spPr>
        <p:txBody>
          <a:bodyPr wrap="square" lIns="0" tIns="0" rIns="0" bIns="0" rtlCol="0" anchor="ctr"/>
          <a:lstStyle/>
          <a:p>
            <a:pPr indent="0" marL="0">
              <a:buNone/>
            </a:pPr>
            <a:r>
              <a:rPr lang="en-US" sz="850" i="1" dirty="0">
                <a:solidFill>
                  <a:srgbClr val="334155"/>
                </a:solidFill>
                <a:latin typeface="Calibri" pitchFamily="34" charset="0"/>
                <a:ea typeface="Calibri" pitchFamily="34" charset="-122"/>
                <a:cs typeface="Calibri" pitchFamily="34" charset="-120"/>
              </a:rPr>
              <a:t>Tightened the rule from §22 to ≤ 0.015 LB gap.</a:t>
            </a:r>
            <a:endParaRPr lang="en-US" sz="850" dirty="0"/>
          </a:p>
        </p:txBody>
      </p:sp>
      <p:sp>
        <p:nvSpPr>
          <p:cNvPr id="48" name="Shape 46"/>
          <p:cNvSpPr/>
          <p:nvPr/>
        </p:nvSpPr>
        <p:spPr>
          <a:xfrm>
            <a:off x="274320" y="4617720"/>
            <a:ext cx="8595360" cy="274320"/>
          </a:xfrm>
          <a:prstGeom prst="rect">
            <a:avLst/>
          </a:prstGeom>
          <a:solidFill>
            <a:srgbClr val="1A3A52"/>
          </a:solidFill>
          <a:ln w="12700">
            <a:solidFill>
              <a:srgbClr val="1A3A52"/>
            </a:solidFill>
            <a:prstDash val="solid"/>
          </a:ln>
        </p:spPr>
      </p:sp>
      <p:sp>
        <p:nvSpPr>
          <p:cNvPr id="49" name="Shape 47"/>
          <p:cNvSpPr/>
          <p:nvPr/>
        </p:nvSpPr>
        <p:spPr>
          <a:xfrm>
            <a:off x="274320" y="4617720"/>
            <a:ext cx="64008" cy="274320"/>
          </a:xfrm>
          <a:prstGeom prst="rect">
            <a:avLst/>
          </a:prstGeom>
          <a:solidFill>
            <a:srgbClr val="D97706"/>
          </a:solidFill>
          <a:ln w="12700">
            <a:solidFill>
              <a:srgbClr val="D97706"/>
            </a:solidFill>
            <a:prstDash val="solid"/>
          </a:ln>
        </p:spPr>
      </p:sp>
      <p:sp>
        <p:nvSpPr>
          <p:cNvPr id="50" name="Text 48"/>
          <p:cNvSpPr/>
          <p:nvPr/>
        </p:nvSpPr>
        <p:spPr>
          <a:xfrm>
            <a:off x="475488" y="4727448"/>
            <a:ext cx="8321040" cy="274320"/>
          </a:xfrm>
          <a:prstGeom prst="rect">
            <a:avLst/>
          </a:prstGeom>
          <a:noFill/>
          <a:ln/>
        </p:spPr>
        <p:txBody>
          <a:bodyPr wrap="square" lIns="0" tIns="0" rIns="0" bIns="0" rtlCol="0" anchor="ctr"/>
          <a:lstStyle/>
          <a:p>
            <a:pPr indent="0" marL="0">
              <a:buNone/>
            </a:pPr>
            <a:r>
              <a:rPr lang="en-US" sz="950" b="1" spc="400" kern="0" dirty="0">
                <a:solidFill>
                  <a:srgbClr val="D97706"/>
                </a:solidFill>
                <a:latin typeface="Calibri" pitchFamily="34" charset="0"/>
                <a:ea typeface="Calibri" pitchFamily="34" charset="-122"/>
                <a:cs typeface="Calibri" pitchFamily="34" charset="-120"/>
              </a:rPr>
              <a:t>SYNTHESIS</a:t>
            </a:r>
            <a:endParaRPr lang="en-US" sz="950" dirty="0"/>
          </a:p>
        </p:txBody>
      </p:sp>
      <p:sp>
        <p:nvSpPr>
          <p:cNvPr id="51" name="Text 49"/>
          <p:cNvSpPr/>
          <p:nvPr/>
        </p:nvSpPr>
        <p:spPr>
          <a:xfrm>
            <a:off x="475488" y="5001768"/>
            <a:ext cx="8321040" cy="-182880"/>
          </a:xfrm>
          <a:prstGeom prst="rect">
            <a:avLst/>
          </a:prstGeom>
          <a:noFill/>
          <a:ln/>
        </p:spPr>
        <p:txBody>
          <a:bodyPr wrap="square" lIns="0" tIns="0" rIns="0" bIns="0" rtlCol="0" anchor="t"/>
          <a:lstStyle/>
          <a:p>
            <a:pPr indent="0" marL="0">
              <a:buNone/>
            </a:pPr>
            <a:r>
              <a:rPr lang="en-US" sz="1000" i="1" dirty="0">
                <a:solidFill>
                  <a:srgbClr val="FAF7F2"/>
                </a:solidFill>
                <a:latin typeface="Georgia" pitchFamily="34" charset="0"/>
                <a:ea typeface="Georgia" pitchFamily="34" charset="-122"/>
                <a:cs typeface="Georgia" pitchFamily="34" charset="-120"/>
              </a:rPr>
              <a:t>Every failure has a one-line rule that propagated forward. v46 recipe is the cumulative response.</a:t>
            </a:r>
            <a:endParaRPr lang="en-US" sz="1000" dirty="0"/>
          </a:p>
        </p:txBody>
      </p:sp>
      <p:sp>
        <p:nvSpPr>
          <p:cNvPr id="52" name="Text 50"/>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53" name="Text 51"/>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§10  ·  ENSEMBLING FAILED</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Every ensemble I tried lost to the best single model</a:t>
            </a:r>
            <a:endParaRPr lang="en-US" sz="2600" dirty="0"/>
          </a:p>
        </p:txBody>
      </p:sp>
      <p:sp>
        <p:nvSpPr>
          <p:cNvPr id="6" name="Shape 4"/>
          <p:cNvSpPr/>
          <p:nvPr/>
        </p:nvSpPr>
        <p:spPr>
          <a:xfrm>
            <a:off x="274320" y="1554480"/>
            <a:ext cx="2743200" cy="118872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7" name="Shape 5"/>
          <p:cNvSpPr/>
          <p:nvPr/>
        </p:nvSpPr>
        <p:spPr>
          <a:xfrm>
            <a:off x="274320" y="1554480"/>
            <a:ext cx="64008" cy="1188720"/>
          </a:xfrm>
          <a:prstGeom prst="rect">
            <a:avLst/>
          </a:prstGeom>
          <a:solidFill>
            <a:srgbClr val="B91C1C"/>
          </a:solidFill>
          <a:ln w="12700">
            <a:solidFill>
              <a:srgbClr val="B91C1C"/>
            </a:solidFill>
            <a:prstDash val="solid"/>
          </a:ln>
        </p:spPr>
      </p:sp>
      <p:sp>
        <p:nvSpPr>
          <p:cNvPr id="8" name="Text 6"/>
          <p:cNvSpPr/>
          <p:nvPr/>
        </p:nvSpPr>
        <p:spPr>
          <a:xfrm>
            <a:off x="457200" y="1645920"/>
            <a:ext cx="2468880" cy="653796"/>
          </a:xfrm>
          <a:prstGeom prst="rect">
            <a:avLst/>
          </a:prstGeom>
          <a:noFill/>
          <a:ln/>
        </p:spPr>
        <p:txBody>
          <a:bodyPr wrap="square" lIns="0" tIns="0" rIns="0" bIns="0" rtlCol="0" anchor="t"/>
          <a:lstStyle/>
          <a:p>
            <a:pPr algn="l" indent="0" marL="0">
              <a:buNone/>
            </a:pPr>
            <a:r>
              <a:rPr lang="en-US" sz="3000" b="1" dirty="0">
                <a:solidFill>
                  <a:srgbClr val="B91C1C"/>
                </a:solidFill>
                <a:latin typeface="Georgia" pitchFamily="34" charset="0"/>
                <a:ea typeface="Georgia" pitchFamily="34" charset="-122"/>
                <a:cs typeface="Georgia" pitchFamily="34" charset="-120"/>
              </a:rPr>
              <a:t>0.8264</a:t>
            </a:r>
            <a:endParaRPr lang="en-US" sz="3000" dirty="0"/>
          </a:p>
        </p:txBody>
      </p:sp>
      <p:sp>
        <p:nvSpPr>
          <p:cNvPr id="9" name="Text 7"/>
          <p:cNvSpPr/>
          <p:nvPr/>
        </p:nvSpPr>
        <p:spPr>
          <a:xfrm>
            <a:off x="457200" y="2208276"/>
            <a:ext cx="2468880" cy="534924"/>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3-seed average — BELOW the 0.8355 best single seed</a:t>
            </a:r>
            <a:endParaRPr lang="en-US" sz="950" dirty="0"/>
          </a:p>
        </p:txBody>
      </p:sp>
      <p:sp>
        <p:nvSpPr>
          <p:cNvPr id="10" name="Shape 8"/>
          <p:cNvSpPr/>
          <p:nvPr/>
        </p:nvSpPr>
        <p:spPr>
          <a:xfrm>
            <a:off x="3200400" y="1554480"/>
            <a:ext cx="2743200" cy="118872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1" name="Shape 9"/>
          <p:cNvSpPr/>
          <p:nvPr/>
        </p:nvSpPr>
        <p:spPr>
          <a:xfrm>
            <a:off x="3200400" y="1554480"/>
            <a:ext cx="64008" cy="1188720"/>
          </a:xfrm>
          <a:prstGeom prst="rect">
            <a:avLst/>
          </a:prstGeom>
          <a:solidFill>
            <a:srgbClr val="B91C1C"/>
          </a:solidFill>
          <a:ln w="12700">
            <a:solidFill>
              <a:srgbClr val="B91C1C"/>
            </a:solidFill>
            <a:prstDash val="solid"/>
          </a:ln>
        </p:spPr>
      </p:sp>
      <p:sp>
        <p:nvSpPr>
          <p:cNvPr id="12" name="Text 10"/>
          <p:cNvSpPr/>
          <p:nvPr/>
        </p:nvSpPr>
        <p:spPr>
          <a:xfrm>
            <a:off x="3383280" y="1645920"/>
            <a:ext cx="2468880" cy="653796"/>
          </a:xfrm>
          <a:prstGeom prst="rect">
            <a:avLst/>
          </a:prstGeom>
          <a:noFill/>
          <a:ln/>
        </p:spPr>
        <p:txBody>
          <a:bodyPr wrap="square" lIns="0" tIns="0" rIns="0" bIns="0" rtlCol="0" anchor="t"/>
          <a:lstStyle/>
          <a:p>
            <a:pPr algn="l" indent="0" marL="0">
              <a:buNone/>
            </a:pPr>
            <a:r>
              <a:rPr lang="en-US" sz="3000" b="1" dirty="0">
                <a:solidFill>
                  <a:srgbClr val="B91C1C"/>
                </a:solidFill>
                <a:latin typeface="Georgia" pitchFamily="34" charset="0"/>
                <a:ea typeface="Georgia" pitchFamily="34" charset="-122"/>
                <a:cs typeface="Georgia" pitchFamily="34" charset="-120"/>
              </a:rPr>
              <a:t>0.7074</a:t>
            </a:r>
            <a:endParaRPr lang="en-US" sz="3000" dirty="0"/>
          </a:p>
        </p:txBody>
      </p:sp>
      <p:sp>
        <p:nvSpPr>
          <p:cNvPr id="13" name="Text 11"/>
          <p:cNvSpPr/>
          <p:nvPr/>
        </p:nvSpPr>
        <p:spPr>
          <a:xfrm>
            <a:off x="3383280" y="2208276"/>
            <a:ext cx="2468880" cy="534924"/>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orthogonal feature-GBM blend — CV said 0.82, the LB said this</a:t>
            </a:r>
            <a:endParaRPr lang="en-US" sz="950" dirty="0"/>
          </a:p>
        </p:txBody>
      </p:sp>
      <p:sp>
        <p:nvSpPr>
          <p:cNvPr id="14" name="Shape 12"/>
          <p:cNvSpPr/>
          <p:nvPr/>
        </p:nvSpPr>
        <p:spPr>
          <a:xfrm>
            <a:off x="6126480" y="1554480"/>
            <a:ext cx="2743200" cy="118872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5" name="Shape 13"/>
          <p:cNvSpPr/>
          <p:nvPr/>
        </p:nvSpPr>
        <p:spPr>
          <a:xfrm>
            <a:off x="6126480" y="1554480"/>
            <a:ext cx="64008" cy="1188720"/>
          </a:xfrm>
          <a:prstGeom prst="rect">
            <a:avLst/>
          </a:prstGeom>
          <a:solidFill>
            <a:srgbClr val="B91C1C"/>
          </a:solidFill>
          <a:ln w="12700">
            <a:solidFill>
              <a:srgbClr val="B91C1C"/>
            </a:solidFill>
            <a:prstDash val="solid"/>
          </a:ln>
        </p:spPr>
      </p:sp>
      <p:sp>
        <p:nvSpPr>
          <p:cNvPr id="16" name="Text 14"/>
          <p:cNvSpPr/>
          <p:nvPr/>
        </p:nvSpPr>
        <p:spPr>
          <a:xfrm>
            <a:off x="6309360" y="1645920"/>
            <a:ext cx="2468880" cy="653796"/>
          </a:xfrm>
          <a:prstGeom prst="rect">
            <a:avLst/>
          </a:prstGeom>
          <a:noFill/>
          <a:ln/>
        </p:spPr>
        <p:txBody>
          <a:bodyPr wrap="square" lIns="0" tIns="0" rIns="0" bIns="0" rtlCol="0" anchor="t"/>
          <a:lstStyle/>
          <a:p>
            <a:pPr algn="l" indent="0" marL="0">
              <a:buNone/>
            </a:pPr>
            <a:r>
              <a:rPr lang="en-US" sz="3000" b="1" dirty="0">
                <a:solidFill>
                  <a:srgbClr val="B91C1C"/>
                </a:solidFill>
                <a:latin typeface="Georgia" pitchFamily="34" charset="0"/>
                <a:ea typeface="Georgia" pitchFamily="34" charset="-122"/>
                <a:cs typeface="Georgia" pitchFamily="34" charset="-120"/>
              </a:rPr>
              <a:t>0.7422</a:t>
            </a:r>
            <a:endParaRPr lang="en-US" sz="3000" dirty="0"/>
          </a:p>
        </p:txBody>
      </p:sp>
      <p:sp>
        <p:nvSpPr>
          <p:cNvPr id="17" name="Text 15"/>
          <p:cNvSpPr/>
          <p:nvPr/>
        </p:nvSpPr>
        <p:spPr>
          <a:xfrm>
            <a:off x="6309360" y="2208276"/>
            <a:ext cx="2468880" cy="534924"/>
          </a:xfrm>
          <a:prstGeom prst="rect">
            <a:avLst/>
          </a:prstGeom>
          <a:noFill/>
          <a:ln/>
        </p:spPr>
        <p:txBody>
          <a:bodyPr wrap="square" lIns="0" tIns="0" rIns="0" bIns="0" rtlCol="0" anchor="t"/>
          <a:lstStyle/>
          <a:p>
            <a:pPr algn="l" indent="0" marL="0">
              <a:buNone/>
            </a:pPr>
            <a:r>
              <a:rPr lang="en-US" sz="950" dirty="0">
                <a:solidFill>
                  <a:srgbClr val="64748B"/>
                </a:solidFill>
                <a:latin typeface="Calibri" pitchFamily="34" charset="0"/>
                <a:ea typeface="Calibri" pitchFamily="34" charset="-122"/>
                <a:cs typeface="Calibri" pitchFamily="34" charset="-120"/>
              </a:rPr>
              <a:t>cross-recipe average (v22) — below v19 (0.7455) alone</a:t>
            </a:r>
            <a:endParaRPr lang="en-US" sz="950" dirty="0"/>
          </a:p>
        </p:txBody>
      </p:sp>
      <p:sp>
        <p:nvSpPr>
          <p:cNvPr id="18" name="Shape 16"/>
          <p:cNvSpPr/>
          <p:nvPr/>
        </p:nvSpPr>
        <p:spPr>
          <a:xfrm>
            <a:off x="274320" y="3017520"/>
            <a:ext cx="36576" cy="1417320"/>
          </a:xfrm>
          <a:prstGeom prst="rect">
            <a:avLst/>
          </a:prstGeom>
          <a:solidFill>
            <a:srgbClr val="B91C1C">
              <a:alpha val="70000"/>
            </a:srgbClr>
          </a:solidFill>
          <a:ln w="12700">
            <a:solidFill>
              <a:srgbClr val="B91C1C"/>
            </a:solidFill>
            <a:prstDash val="solid"/>
          </a:ln>
        </p:spPr>
      </p:sp>
      <p:sp>
        <p:nvSpPr>
          <p:cNvPr id="19" name="Text 17"/>
          <p:cNvSpPr/>
          <p:nvPr/>
        </p:nvSpPr>
        <p:spPr>
          <a:xfrm>
            <a:off x="438912" y="3035808"/>
            <a:ext cx="8394192" cy="1417320"/>
          </a:xfrm>
          <a:prstGeom prst="rect">
            <a:avLst/>
          </a:prstGeom>
          <a:noFill/>
          <a:ln/>
        </p:spPr>
        <p:txBody>
          <a:bodyPr wrap="square" lIns="0" tIns="0" rIns="0" bIns="0" rtlCol="0" anchor="t"/>
          <a:lstStyle/>
          <a:p>
            <a:pPr indent="0" marL="0">
              <a:spcAft>
                <a:spcPts val="600"/>
              </a:spcAft>
              <a:buNone/>
            </a:pPr>
            <a:r>
              <a:rPr lang="en-US" sz="10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Within-recipe: averaging regresses.</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The per-seed LB spans 0.023 on N=12. The 3-seed mean lands below the lucky best seed every time — the variance is signal-destroying, not noise to average out.</a:t>
            </a:r>
            <a:endParaRPr lang="en-US" sz="1050" dirty="0"/>
          </a:p>
          <a:p>
            <a:pPr indent="0" marL="0">
              <a:spcAft>
                <a:spcPts val="600"/>
              </a:spcAft>
              <a:buNone/>
            </a:pPr>
            <a:r>
              <a:rPr lang="en-US" sz="10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Cross-model: the stronger member is always pulled down.</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Symmetric averaging drags toward the weaker member, and on this data the quality gap is always wide (v22, v45_probe, and the GBM blend all regressed).</a:t>
            </a:r>
            <a:endParaRPr lang="en-US" sz="1050" dirty="0"/>
          </a:p>
          <a:p>
            <a:pPr indent="0" marL="0">
              <a:spcAft>
                <a:spcPts val="600"/>
              </a:spcAft>
              <a:buNone/>
            </a:pPr>
            <a:r>
              <a:rPr lang="en-US" sz="1050" b="1" dirty="0">
                <a:solidFill>
                  <a:srgbClr val="B91C1C"/>
                </a:solidFill>
                <a:latin typeface="Calibri" pitchFamily="34" charset="0"/>
                <a:ea typeface="Calibri" pitchFamily="34" charset="-122"/>
                <a:cs typeface="Calibri" pitchFamily="34" charset="-120"/>
              </a:rPr>
              <a:t>— </a:t>
            </a:r>
            <a:pPr indent="0" marL="0">
              <a:spcAft>
                <a:spcPts val="600"/>
              </a:spcAft>
              <a:buNone/>
            </a:pPr>
            <a:r>
              <a:rPr lang="en-US" sz="1050" b="1" dirty="0">
                <a:solidFill>
                  <a:srgbClr val="334155"/>
                </a:solidFill>
                <a:latin typeface="Calibri" pitchFamily="34" charset="0"/>
                <a:ea typeface="Calibri" pitchFamily="34" charset="-122"/>
                <a:cs typeface="Calibri" pitchFamily="34" charset="-120"/>
              </a:rPr>
              <a:t>Even an orthogonal model couldn't save it.</a:t>
            </a:r>
            <a:pPr indent="0" marL="0">
              <a:spcAft>
                <a:spcPts val="600"/>
              </a:spcAft>
              <a:buNone/>
            </a:pPr>
            <a:r>
              <a:rPr lang="en-US" sz="950" i="1" dirty="0">
                <a:solidFill>
                  <a:srgbClr val="64748B"/>
                </a:solidFill>
                <a:latin typeface="Calibri" pitchFamily="34" charset="0"/>
                <a:ea typeface="Calibri" pitchFamily="34" charset="-122"/>
                <a:cs typeface="Calibri" pitchFamily="34" charset="-120"/>
              </a:rPr>
              <a:t>  A decorrelated feature-GBM (rank-corr 0.41) looked perfect on paper — but its CV (0.82) did not transfer (LB ~0.60). CV-vs-LB struck the ensemble too.</a:t>
            </a:r>
            <a:endParaRPr lang="en-US" sz="1050" dirty="0"/>
          </a:p>
        </p:txBody>
      </p:sp>
      <p:sp>
        <p:nvSpPr>
          <p:cNvPr id="20" name="Shape 18"/>
          <p:cNvSpPr/>
          <p:nvPr/>
        </p:nvSpPr>
        <p:spPr>
          <a:xfrm>
            <a:off x="274320" y="4590288"/>
            <a:ext cx="8595360" cy="256032"/>
          </a:xfrm>
          <a:prstGeom prst="rect">
            <a:avLst/>
          </a:prstGeom>
          <a:solidFill>
            <a:srgbClr val="1A3A52"/>
          </a:solidFill>
          <a:ln w="12700">
            <a:solidFill>
              <a:srgbClr val="1A3A52"/>
            </a:solidFill>
            <a:prstDash val="solid"/>
          </a:ln>
        </p:spPr>
      </p:sp>
      <p:sp>
        <p:nvSpPr>
          <p:cNvPr id="21" name="Shape 19"/>
          <p:cNvSpPr/>
          <p:nvPr/>
        </p:nvSpPr>
        <p:spPr>
          <a:xfrm>
            <a:off x="274320" y="4590288"/>
            <a:ext cx="64008" cy="256032"/>
          </a:xfrm>
          <a:prstGeom prst="rect">
            <a:avLst/>
          </a:prstGeom>
          <a:solidFill>
            <a:srgbClr val="B91C1C"/>
          </a:solidFill>
          <a:ln w="12700">
            <a:solidFill>
              <a:srgbClr val="B91C1C"/>
            </a:solidFill>
            <a:prstDash val="solid"/>
          </a:ln>
        </p:spPr>
      </p:sp>
      <p:sp>
        <p:nvSpPr>
          <p:cNvPr id="22" name="Text 20"/>
          <p:cNvSpPr/>
          <p:nvPr/>
        </p:nvSpPr>
        <p:spPr>
          <a:xfrm>
            <a:off x="475488" y="4700016"/>
            <a:ext cx="8321040" cy="274320"/>
          </a:xfrm>
          <a:prstGeom prst="rect">
            <a:avLst/>
          </a:prstGeom>
          <a:noFill/>
          <a:ln/>
        </p:spPr>
        <p:txBody>
          <a:bodyPr wrap="square" lIns="0" tIns="0" rIns="0" bIns="0" rtlCol="0" anchor="ctr"/>
          <a:lstStyle/>
          <a:p>
            <a:pPr indent="0" marL="0">
              <a:buNone/>
            </a:pPr>
            <a:r>
              <a:rPr lang="en-US" sz="950" b="1" spc="400" kern="0" dirty="0">
                <a:solidFill>
                  <a:srgbClr val="B91C1C"/>
                </a:solidFill>
                <a:latin typeface="Calibri" pitchFamily="34" charset="0"/>
                <a:ea typeface="Calibri" pitchFamily="34" charset="-122"/>
                <a:cs typeface="Calibri" pitchFamily="34" charset="-120"/>
              </a:rPr>
              <a:t>TAKE-HOME</a:t>
            </a:r>
            <a:endParaRPr lang="en-US" sz="950" dirty="0"/>
          </a:p>
        </p:txBody>
      </p:sp>
      <p:sp>
        <p:nvSpPr>
          <p:cNvPr id="23" name="Text 21"/>
          <p:cNvSpPr/>
          <p:nvPr/>
        </p:nvSpPr>
        <p:spPr>
          <a:xfrm>
            <a:off x="475488" y="4974336"/>
            <a:ext cx="8321040" cy="-201168"/>
          </a:xfrm>
          <a:prstGeom prst="rect">
            <a:avLst/>
          </a:prstGeom>
          <a:noFill/>
          <a:ln/>
        </p:spPr>
        <p:txBody>
          <a:bodyPr wrap="square" lIns="0" tIns="0" rIns="0" bIns="0" rtlCol="0" anchor="t"/>
          <a:lstStyle/>
          <a:p>
            <a:pPr indent="0" marL="0">
              <a:buNone/>
            </a:pPr>
            <a:r>
              <a:rPr lang="en-US" sz="950" i="1" dirty="0">
                <a:solidFill>
                  <a:srgbClr val="FAF7F2"/>
                </a:solidFill>
                <a:latin typeface="Georgia" pitchFamily="34" charset="0"/>
                <a:ea typeface="Georgia" pitchFamily="34" charset="-122"/>
                <a:cs typeface="Georgia" pitchFamily="34" charset="-120"/>
              </a:rPr>
              <a:t>On N=12, variance dominates — any averaging regresses below the best single draw. The submission is one well-chosen seed, never a blend.</a:t>
            </a:r>
            <a:endParaRPr lang="en-US" sz="950" dirty="0"/>
          </a:p>
        </p:txBody>
      </p:sp>
      <p:sp>
        <p:nvSpPr>
          <p:cNvPr id="24" name="Text 22"/>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25" name="Text 23"/>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274320" y="201168"/>
            <a:ext cx="6858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§11  ·  THE FINAL PUSH</a:t>
            </a:r>
            <a:endParaRPr lang="en-US" sz="1050" dirty="0"/>
          </a:p>
        </p:txBody>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 / 14</a:t>
            </a:r>
            <a:endParaRPr lang="en-US" sz="1000" dirty="0"/>
          </a:p>
        </p:txBody>
      </p:sp>
      <p:sp>
        <p:nvSpPr>
          <p:cNvPr id="4" name="Shape 2"/>
          <p:cNvSpPr/>
          <p:nvPr/>
        </p:nvSpPr>
        <p:spPr>
          <a:xfrm>
            <a:off x="274320" y="475488"/>
            <a:ext cx="8595360" cy="18288"/>
          </a:xfrm>
          <a:prstGeom prst="rect">
            <a:avLst/>
          </a:prstGeom>
          <a:solidFill>
            <a:srgbClr val="0D9488">
              <a:alpha val="40000"/>
            </a:srgbClr>
          </a:solidFill>
          <a:ln w="12700">
            <a:solidFill>
              <a:srgbClr val="0D9488"/>
            </a:solidFill>
            <a:prstDash val="solid"/>
          </a:ln>
        </p:spPr>
      </p:sp>
      <p:sp>
        <p:nvSpPr>
          <p:cNvPr id="5" name="Text 3"/>
          <p:cNvSpPr/>
          <p:nvPr/>
        </p:nvSpPr>
        <p:spPr>
          <a:xfrm>
            <a:off x="274320" y="594360"/>
            <a:ext cx="8595360" cy="777240"/>
          </a:xfrm>
          <a:prstGeom prst="rect">
            <a:avLst/>
          </a:prstGeom>
          <a:noFill/>
          <a:ln/>
        </p:spPr>
        <p:txBody>
          <a:bodyPr wrap="square" lIns="0" tIns="0" rIns="0" bIns="0" rtlCol="0" anchor="ctr"/>
          <a:lstStyle/>
          <a:p>
            <a:pPr indent="0" marL="0">
              <a:buNone/>
            </a:pPr>
            <a:r>
              <a:rPr lang="en-US" sz="2600" b="1" dirty="0">
                <a:solidFill>
                  <a:srgbClr val="1A3A52"/>
                </a:solidFill>
                <a:latin typeface="Georgia" pitchFamily="34" charset="0"/>
                <a:ea typeface="Georgia" pitchFamily="34" charset="-122"/>
                <a:cs typeface="Georgia" pitchFamily="34" charset="-120"/>
              </a:rPr>
              <a:t>Co-attention broke the plateau — a new best, 0.8392</a:t>
            </a:r>
            <a:endParaRPr lang="en-US" sz="2600" dirty="0"/>
          </a:p>
        </p:txBody>
      </p:sp>
      <p:pic>
        <p:nvPicPr>
          <p:cNvPr id="6" name="Image 0" descr="Training curves for the v58 co-attention model: per-cell train AUC climbs smoothly from ~0.83 to ~0.99 over 12 epochs for both seeds, and loss decreases monotonically with no divergence (fp32 attention + ReZero gate kept it stable).">    </p:cNvPr>
          <p:cNvPicPr>
            <a:picLocks noChangeAspect="1"/>
          </p:cNvPicPr>
          <p:nvPr/>
        </p:nvPicPr>
        <p:blipFill>
          <a:blip r:embed="rId1"/>
          <a:srcRect l="0" r="0" t="0" b="0"/>
          <a:stretch/>
        </p:blipFill>
        <p:spPr>
          <a:xfrm>
            <a:off x="274320" y="1481328"/>
            <a:ext cx="4800600" cy="2788920"/>
          </a:xfrm>
          <a:prstGeom prst="rect">
            <a:avLst/>
          </a:prstGeom>
        </p:spPr>
      </p:pic>
      <p:sp>
        <p:nvSpPr>
          <p:cNvPr id="7" name="Text 4"/>
          <p:cNvSpPr/>
          <p:nvPr/>
        </p:nvSpPr>
        <p:spPr>
          <a:xfrm>
            <a:off x="274320" y="4334256"/>
            <a:ext cx="4800600" cy="38404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Fig. 5  v58 co-attention learning curves — train AUC + loss, 2 seeds, 12 epochs. Clean, no instability.</a:t>
            </a:r>
            <a:endParaRPr lang="en-US" sz="900" dirty="0"/>
          </a:p>
        </p:txBody>
      </p:sp>
      <p:sp>
        <p:nvSpPr>
          <p:cNvPr id="8" name="Shape 5"/>
          <p:cNvSpPr/>
          <p:nvPr/>
        </p:nvSpPr>
        <p:spPr>
          <a:xfrm>
            <a:off x="5303520" y="1554480"/>
            <a:ext cx="3566160" cy="82296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9" name="Shape 6"/>
          <p:cNvSpPr/>
          <p:nvPr/>
        </p:nvSpPr>
        <p:spPr>
          <a:xfrm>
            <a:off x="5303520" y="1554480"/>
            <a:ext cx="64008" cy="822960"/>
          </a:xfrm>
          <a:prstGeom prst="rect">
            <a:avLst/>
          </a:prstGeom>
          <a:solidFill>
            <a:srgbClr val="0D9488"/>
          </a:solidFill>
          <a:ln w="12700">
            <a:solidFill>
              <a:srgbClr val="0D9488"/>
            </a:solidFill>
            <a:prstDash val="solid"/>
          </a:ln>
        </p:spPr>
      </p:sp>
      <p:sp>
        <p:nvSpPr>
          <p:cNvPr id="10" name="Text 7"/>
          <p:cNvSpPr/>
          <p:nvPr/>
        </p:nvSpPr>
        <p:spPr>
          <a:xfrm>
            <a:off x="5486400" y="1645920"/>
            <a:ext cx="3291840" cy="452628"/>
          </a:xfrm>
          <a:prstGeom prst="rect">
            <a:avLst/>
          </a:prstGeom>
          <a:noFill/>
          <a:ln/>
        </p:spPr>
        <p:txBody>
          <a:bodyPr wrap="square" lIns="0" tIns="0" rIns="0" bIns="0" rtlCol="0" anchor="t"/>
          <a:lstStyle/>
          <a:p>
            <a:pPr algn="l" indent="0" marL="0">
              <a:buNone/>
            </a:pPr>
            <a:r>
              <a:rPr lang="en-US" sz="2100" b="1" dirty="0">
                <a:solidFill>
                  <a:srgbClr val="0D9488"/>
                </a:solidFill>
                <a:latin typeface="Georgia" pitchFamily="34" charset="0"/>
                <a:ea typeface="Georgia" pitchFamily="34" charset="-122"/>
                <a:cs typeface="Georgia" pitchFamily="34" charset="-120"/>
              </a:rPr>
              <a:t>0.8392  ✓</a:t>
            </a:r>
            <a:endParaRPr lang="en-US" sz="2100" dirty="0"/>
          </a:p>
        </p:txBody>
      </p:sp>
      <p:sp>
        <p:nvSpPr>
          <p:cNvPr id="11" name="Text 8"/>
          <p:cNvSpPr/>
          <p:nvPr/>
        </p:nvSpPr>
        <p:spPr>
          <a:xfrm>
            <a:off x="5486400" y="2007108"/>
            <a:ext cx="3291840" cy="370332"/>
          </a:xfrm>
          <a:prstGeom prst="rect">
            <a:avLst/>
          </a:prstGeom>
          <a:noFill/>
          <a:ln/>
        </p:spPr>
        <p:txBody>
          <a:bodyPr wrap="square" lIns="0" tIns="0" rIns="0" bIns="0" rtlCol="0" anchor="t"/>
          <a:lstStyle/>
          <a:p>
            <a:pPr algn="l" indent="0" marL="0">
              <a:buNone/>
            </a:pPr>
            <a:r>
              <a:rPr lang="en-US" sz="900" dirty="0">
                <a:solidFill>
                  <a:srgbClr val="64748B"/>
                </a:solidFill>
                <a:latin typeface="Calibri" pitchFamily="34" charset="0"/>
                <a:ea typeface="Calibri" pitchFamily="34" charset="-122"/>
                <a:cs typeface="Calibri" pitchFamily="34" charset="-120"/>
              </a:rPr>
              <a:t>intermediate CO-ATTENTION (CAFNet-style) — new best, beats v47's 0.8355</a:t>
            </a:r>
            <a:endParaRPr lang="en-US" sz="900" dirty="0"/>
          </a:p>
        </p:txBody>
      </p:sp>
      <p:sp>
        <p:nvSpPr>
          <p:cNvPr id="12" name="Shape 9"/>
          <p:cNvSpPr/>
          <p:nvPr/>
        </p:nvSpPr>
        <p:spPr>
          <a:xfrm>
            <a:off x="5303520" y="2468880"/>
            <a:ext cx="3566160" cy="82296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3" name="Shape 10"/>
          <p:cNvSpPr/>
          <p:nvPr/>
        </p:nvSpPr>
        <p:spPr>
          <a:xfrm>
            <a:off x="5303520" y="2468880"/>
            <a:ext cx="64008" cy="822960"/>
          </a:xfrm>
          <a:prstGeom prst="rect">
            <a:avLst/>
          </a:prstGeom>
          <a:solidFill>
            <a:srgbClr val="B91C1C"/>
          </a:solidFill>
          <a:ln w="12700">
            <a:solidFill>
              <a:srgbClr val="B91C1C"/>
            </a:solidFill>
            <a:prstDash val="solid"/>
          </a:ln>
        </p:spPr>
      </p:sp>
      <p:sp>
        <p:nvSpPr>
          <p:cNvPr id="14" name="Text 11"/>
          <p:cNvSpPr/>
          <p:nvPr/>
        </p:nvSpPr>
        <p:spPr>
          <a:xfrm>
            <a:off x="5486400" y="2560320"/>
            <a:ext cx="3291840" cy="452628"/>
          </a:xfrm>
          <a:prstGeom prst="rect">
            <a:avLst/>
          </a:prstGeom>
          <a:noFill/>
          <a:ln/>
        </p:spPr>
        <p:txBody>
          <a:bodyPr wrap="square" lIns="0" tIns="0" rIns="0" bIns="0" rtlCol="0" anchor="t"/>
          <a:lstStyle/>
          <a:p>
            <a:pPr algn="l" indent="0" marL="0">
              <a:buNone/>
            </a:pPr>
            <a:r>
              <a:rPr lang="en-US" sz="2100" b="1" dirty="0">
                <a:solidFill>
                  <a:srgbClr val="B91C1C"/>
                </a:solidFill>
                <a:latin typeface="Georgia" pitchFamily="34" charset="0"/>
                <a:ea typeface="Georgia" pitchFamily="34" charset="-122"/>
                <a:cs typeface="Georgia" pitchFamily="34" charset="-120"/>
              </a:rPr>
              <a:t>0.7823  ✗</a:t>
            </a:r>
            <a:endParaRPr lang="en-US" sz="2100" dirty="0"/>
          </a:p>
        </p:txBody>
      </p:sp>
      <p:sp>
        <p:nvSpPr>
          <p:cNvPr id="15" name="Text 12"/>
          <p:cNvSpPr/>
          <p:nvPr/>
        </p:nvSpPr>
        <p:spPr>
          <a:xfrm>
            <a:off x="5486400" y="2921508"/>
            <a:ext cx="3291840" cy="370332"/>
          </a:xfrm>
          <a:prstGeom prst="rect">
            <a:avLst/>
          </a:prstGeom>
          <a:noFill/>
          <a:ln/>
        </p:spPr>
        <p:txBody>
          <a:bodyPr wrap="square" lIns="0" tIns="0" rIns="0" bIns="0" rtlCol="0" anchor="t"/>
          <a:lstStyle/>
          <a:p>
            <a:pPr algn="l" indent="0" marL="0">
              <a:buNone/>
            </a:pPr>
            <a:r>
              <a:rPr lang="en-US" sz="900" dirty="0">
                <a:solidFill>
                  <a:srgbClr val="64748B"/>
                </a:solidFill>
                <a:latin typeface="Calibri" pitchFamily="34" charset="0"/>
                <a:ea typeface="Calibri" pitchFamily="34" charset="-122"/>
                <a:cs typeface="Calibri" pitchFamily="34" charset="-120"/>
              </a:rPr>
              <a:t>higher resolution (192 px) — regressed</a:t>
            </a:r>
            <a:endParaRPr lang="en-US" sz="900" dirty="0"/>
          </a:p>
        </p:txBody>
      </p:sp>
      <p:sp>
        <p:nvSpPr>
          <p:cNvPr id="16" name="Shape 13"/>
          <p:cNvSpPr/>
          <p:nvPr/>
        </p:nvSpPr>
        <p:spPr>
          <a:xfrm>
            <a:off x="5303520" y="3383280"/>
            <a:ext cx="3566160" cy="822960"/>
          </a:xfrm>
          <a:prstGeom prst="rect">
            <a:avLst/>
          </a:prstGeom>
          <a:solidFill>
            <a:srgbClr val="FFFFFF"/>
          </a:solidFill>
          <a:ln w="6350">
            <a:solidFill>
              <a:srgbClr val="E5E7EB"/>
            </a:solidFill>
            <a:prstDash val="solid"/>
          </a:ln>
          <a:effectLst>
            <a:outerShdw sx="100000" sy="100000" kx="0" ky="0" algn="bl" rotWithShape="0" blurRad="63500" dist="19050" dir="5400000">
              <a:srgbClr val="000000">
                <a:alpha val="6000"/>
              </a:srgbClr>
            </a:outerShdw>
          </a:effectLst>
        </p:spPr>
      </p:sp>
      <p:sp>
        <p:nvSpPr>
          <p:cNvPr id="17" name="Shape 14"/>
          <p:cNvSpPr/>
          <p:nvPr/>
        </p:nvSpPr>
        <p:spPr>
          <a:xfrm>
            <a:off x="5303520" y="3383280"/>
            <a:ext cx="64008" cy="822960"/>
          </a:xfrm>
          <a:prstGeom prst="rect">
            <a:avLst/>
          </a:prstGeom>
          <a:solidFill>
            <a:srgbClr val="B91C1C"/>
          </a:solidFill>
          <a:ln w="12700">
            <a:solidFill>
              <a:srgbClr val="B91C1C"/>
            </a:solidFill>
            <a:prstDash val="solid"/>
          </a:ln>
        </p:spPr>
      </p:sp>
      <p:sp>
        <p:nvSpPr>
          <p:cNvPr id="18" name="Text 15"/>
          <p:cNvSpPr/>
          <p:nvPr/>
        </p:nvSpPr>
        <p:spPr>
          <a:xfrm>
            <a:off x="5486400" y="3474720"/>
            <a:ext cx="3291840" cy="452628"/>
          </a:xfrm>
          <a:prstGeom prst="rect">
            <a:avLst/>
          </a:prstGeom>
          <a:noFill/>
          <a:ln/>
        </p:spPr>
        <p:txBody>
          <a:bodyPr wrap="square" lIns="0" tIns="0" rIns="0" bIns="0" rtlCol="0" anchor="t"/>
          <a:lstStyle/>
          <a:p>
            <a:pPr algn="l" indent="0" marL="0">
              <a:buNone/>
            </a:pPr>
            <a:r>
              <a:rPr lang="en-US" sz="2100" b="1" dirty="0">
                <a:solidFill>
                  <a:srgbClr val="B91C1C"/>
                </a:solidFill>
                <a:latin typeface="Georgia" pitchFamily="34" charset="0"/>
                <a:ea typeface="Georgia" pitchFamily="34" charset="-122"/>
                <a:cs typeface="Georgia" pitchFamily="34" charset="-120"/>
              </a:rPr>
              <a:t>0.7376  ✗</a:t>
            </a:r>
            <a:endParaRPr lang="en-US" sz="2100" dirty="0"/>
          </a:p>
        </p:txBody>
      </p:sp>
      <p:sp>
        <p:nvSpPr>
          <p:cNvPr id="19" name="Text 16"/>
          <p:cNvSpPr/>
          <p:nvPr/>
        </p:nvSpPr>
        <p:spPr>
          <a:xfrm>
            <a:off x="5486400" y="3835908"/>
            <a:ext cx="3291840" cy="370332"/>
          </a:xfrm>
          <a:prstGeom prst="rect">
            <a:avLst/>
          </a:prstGeom>
          <a:noFill/>
          <a:ln/>
        </p:spPr>
        <p:txBody>
          <a:bodyPr wrap="square" lIns="0" tIns="0" rIns="0" bIns="0" rtlCol="0" anchor="t"/>
          <a:lstStyle/>
          <a:p>
            <a:pPr algn="l" indent="0" marL="0">
              <a:buNone/>
            </a:pPr>
            <a:r>
              <a:rPr lang="en-US" sz="900" dirty="0">
                <a:solidFill>
                  <a:srgbClr val="64748B"/>
                </a:solidFill>
                <a:latin typeface="Calibri" pitchFamily="34" charset="0"/>
                <a:ea typeface="Calibri" pitchFamily="34" charset="-122"/>
                <a:cs typeface="Calibri" pitchFamily="34" charset="-120"/>
              </a:rPr>
              <a:t>more capacity (EfficientNetV2-S) — regressed</a:t>
            </a:r>
            <a:endParaRPr lang="en-US" sz="900" dirty="0"/>
          </a:p>
        </p:txBody>
      </p:sp>
      <p:sp>
        <p:nvSpPr>
          <p:cNvPr id="20" name="Text 17"/>
          <p:cNvSpPr/>
          <p:nvPr/>
        </p:nvSpPr>
        <p:spPr>
          <a:xfrm>
            <a:off x="5303520" y="4334256"/>
            <a:ext cx="3566160" cy="502920"/>
          </a:xfrm>
          <a:prstGeom prst="rect">
            <a:avLst/>
          </a:prstGeom>
          <a:noFill/>
          <a:ln/>
        </p:spPr>
        <p:txBody>
          <a:bodyPr wrap="square" lIns="0" tIns="0" rIns="0" bIns="0" rtlCol="0" anchor="ctr"/>
          <a:lstStyle/>
          <a:p>
            <a:pPr indent="0" marL="0">
              <a:buNone/>
            </a:pPr>
            <a:r>
              <a:rPr lang="en-US" sz="950" i="1" dirty="0">
                <a:solidFill>
                  <a:srgbClr val="334155"/>
                </a:solidFill>
                <a:latin typeface="Calibri" pitchFamily="34" charset="0"/>
                <a:ea typeface="Calibri" pitchFamily="34" charset="-122"/>
                <a:cs typeface="Calibri" pitchFamily="34" charset="-120"/>
              </a:rPr>
              <a:t>Of every architecture tried, only fusion design moved the needle — the model is data-bound. Capacity and resolution both hurt.</a:t>
            </a:r>
            <a:endParaRPr lang="en-US" sz="950" dirty="0"/>
          </a:p>
        </p:txBody>
      </p:sp>
      <p:sp>
        <p:nvSpPr>
          <p:cNvPr id="21" name="Text 18"/>
          <p:cNvSpPr/>
          <p:nvPr/>
        </p:nvSpPr>
        <p:spPr>
          <a:xfrm>
            <a:off x="274320" y="4846320"/>
            <a:ext cx="594360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A3  ·  Multimodal Cancer Cell Classification</a:t>
            </a:r>
            <a:endParaRPr lang="en-US" sz="900" dirty="0"/>
          </a:p>
        </p:txBody>
      </p:sp>
      <p:sp>
        <p:nvSpPr>
          <p:cNvPr id="22" name="Text 19"/>
          <p:cNvSpPr/>
          <p:nvPr/>
        </p:nvSpPr>
        <p:spPr>
          <a:xfrm>
            <a:off x="6400800" y="4846320"/>
            <a:ext cx="2468880" cy="201168"/>
          </a:xfrm>
          <a:prstGeom prst="rect">
            <a:avLst/>
          </a:prstGeom>
          <a:noFill/>
          <a:ln/>
        </p:spPr>
        <p:txBody>
          <a:bodyPr wrap="square" lIns="0" tIns="0" rIns="0" bIns="0" rtlCol="0" anchor="ctr"/>
          <a:lstStyle/>
          <a:p>
            <a:pPr algn="r" indent="0" marL="0">
              <a:buNone/>
            </a:pPr>
            <a:r>
              <a:rPr lang="en-US" sz="900" i="1" dirty="0">
                <a:solidFill>
                  <a:srgbClr val="64748B"/>
                </a:solidFill>
                <a:latin typeface="Calibri" pitchFamily="34" charset="0"/>
                <a:ea typeface="Calibri" pitchFamily="34" charset="-122"/>
                <a:cs typeface="Calibri" pitchFamily="34" charset="-120"/>
              </a:rPr>
              <a:t>Uppsala 1MD042  ·  §11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A52"/>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D9488"/>
            </a:solidFill>
            <a:prstDash val="solid"/>
          </a:ln>
        </p:spPr>
      </p:sp>
      <p:sp>
        <p:nvSpPr>
          <p:cNvPr id="3" name="Text 1"/>
          <p:cNvSpPr/>
          <p:nvPr/>
        </p:nvSpPr>
        <p:spPr>
          <a:xfrm>
            <a:off x="7589520" y="201168"/>
            <a:ext cx="128016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 / 14</a:t>
            </a:r>
            <a:endParaRPr lang="en-US" sz="1000" dirty="0"/>
          </a:p>
        </p:txBody>
      </p:sp>
      <p:sp>
        <p:nvSpPr>
          <p:cNvPr id="4" name="Text 2"/>
          <p:cNvSpPr/>
          <p:nvPr/>
        </p:nvSpPr>
        <p:spPr>
          <a:xfrm>
            <a:off x="731520" y="274320"/>
            <a:ext cx="4572000" cy="274320"/>
          </a:xfrm>
          <a:prstGeom prst="rect">
            <a:avLst/>
          </a:prstGeom>
          <a:noFill/>
          <a:ln/>
        </p:spPr>
        <p:txBody>
          <a:bodyPr wrap="square" lIns="0" tIns="0" rIns="0" bIns="0" rtlCol="0" anchor="ctr"/>
          <a:lstStyle/>
          <a:p>
            <a:pPr indent="0" marL="0">
              <a:buNone/>
            </a:pPr>
            <a:r>
              <a:rPr lang="en-US" sz="1050" b="1" spc="500" kern="0" dirty="0">
                <a:solidFill>
                  <a:srgbClr val="0D9488"/>
                </a:solidFill>
                <a:latin typeface="Calibri" pitchFamily="34" charset="0"/>
                <a:ea typeface="Calibri" pitchFamily="34" charset="-122"/>
                <a:cs typeface="Calibri" pitchFamily="34" charset="-120"/>
              </a:rPr>
              <a:t>§12  ·  TAKE-HOME</a:t>
            </a:r>
            <a:endParaRPr lang="en-US" sz="1050" dirty="0"/>
          </a:p>
        </p:txBody>
      </p:sp>
      <p:sp>
        <p:nvSpPr>
          <p:cNvPr id="5" name="Text 3"/>
          <p:cNvSpPr/>
          <p:nvPr/>
        </p:nvSpPr>
        <p:spPr>
          <a:xfrm>
            <a:off x="731520" y="594360"/>
            <a:ext cx="7863840" cy="5943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Five things I'll carry forward</a:t>
            </a:r>
            <a:endParaRPr lang="en-US" sz="2800" dirty="0"/>
          </a:p>
        </p:txBody>
      </p:sp>
      <p:sp>
        <p:nvSpPr>
          <p:cNvPr id="6" name="Text 4"/>
          <p:cNvSpPr/>
          <p:nvPr/>
        </p:nvSpPr>
        <p:spPr>
          <a:xfrm>
            <a:off x="731520" y="1463040"/>
            <a:ext cx="594360" cy="457200"/>
          </a:xfrm>
          <a:prstGeom prst="rect">
            <a:avLst/>
          </a:prstGeom>
          <a:noFill/>
          <a:ln/>
        </p:spPr>
        <p:txBody>
          <a:bodyPr wrap="square" lIns="0" tIns="0" rIns="0" bIns="0" rtlCol="0" anchor="ctr"/>
          <a:lstStyle/>
          <a:p>
            <a:pPr algn="l" indent="0" marL="0">
              <a:buNone/>
            </a:pPr>
            <a:r>
              <a:rPr lang="en-US" sz="2200" b="1" dirty="0">
                <a:solidFill>
                  <a:srgbClr val="D97706"/>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417320" y="1463040"/>
            <a:ext cx="74066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Higher CV ≠ higher LB.</a:t>
            </a:r>
            <a:endParaRPr lang="en-US" sz="1300" dirty="0"/>
          </a:p>
        </p:txBody>
      </p:sp>
      <p:sp>
        <p:nvSpPr>
          <p:cNvPr id="8" name="Text 6"/>
          <p:cNvSpPr/>
          <p:nvPr/>
        </p:nvSpPr>
        <p:spPr>
          <a:xfrm>
            <a:off x="1417320" y="1755648"/>
            <a:ext cx="7406640" cy="292608"/>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v15 had my best CV (0.866) and my worst LB (0.572). On patient-grouped OOD, CV alone is not a signal.</a:t>
            </a:r>
            <a:endParaRPr lang="en-US" sz="1050" dirty="0"/>
          </a:p>
        </p:txBody>
      </p:sp>
      <p:sp>
        <p:nvSpPr>
          <p:cNvPr id="9" name="Text 7"/>
          <p:cNvSpPr/>
          <p:nvPr/>
        </p:nvSpPr>
        <p:spPr>
          <a:xfrm>
            <a:off x="731520" y="2066544"/>
            <a:ext cx="594360" cy="457200"/>
          </a:xfrm>
          <a:prstGeom prst="rect">
            <a:avLst/>
          </a:prstGeom>
          <a:noFill/>
          <a:ln/>
        </p:spPr>
        <p:txBody>
          <a:bodyPr wrap="square" lIns="0" tIns="0" rIns="0" bIns="0" rtlCol="0" anchor="ctr"/>
          <a:lstStyle/>
          <a:p>
            <a:pPr algn="l" indent="0" marL="0">
              <a:buNone/>
            </a:pPr>
            <a:r>
              <a:rPr lang="en-US" sz="2200" b="1" dirty="0">
                <a:solidFill>
                  <a:srgbClr val="D97706"/>
                </a:solidFill>
                <a:latin typeface="Georgia" pitchFamily="34" charset="0"/>
                <a:ea typeface="Georgia" pitchFamily="34" charset="-122"/>
                <a:cs typeface="Georgia" pitchFamily="34" charset="-120"/>
              </a:rPr>
              <a:t>02</a:t>
            </a:r>
            <a:endParaRPr lang="en-US" sz="2200" dirty="0"/>
          </a:p>
        </p:txBody>
      </p:sp>
      <p:sp>
        <p:nvSpPr>
          <p:cNvPr id="10" name="Text 8"/>
          <p:cNvSpPr/>
          <p:nvPr/>
        </p:nvSpPr>
        <p:spPr>
          <a:xfrm>
            <a:off x="1417320" y="2066544"/>
            <a:ext cx="74066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Don't stack unvalidated changes.</a:t>
            </a:r>
            <a:endParaRPr lang="en-US" sz="1300" dirty="0"/>
          </a:p>
        </p:txBody>
      </p:sp>
      <p:sp>
        <p:nvSpPr>
          <p:cNvPr id="11" name="Text 9"/>
          <p:cNvSpPr/>
          <p:nvPr/>
        </p:nvSpPr>
        <p:spPr>
          <a:xfrm>
            <a:off x="1417320" y="2359152"/>
            <a:ext cx="7406640" cy="292608"/>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v43 added four tweaks at once → −0.012 LB with no attribution. One or two related variables per experiment.</a:t>
            </a:r>
            <a:endParaRPr lang="en-US" sz="1050" dirty="0"/>
          </a:p>
        </p:txBody>
      </p:sp>
      <p:sp>
        <p:nvSpPr>
          <p:cNvPr id="12" name="Text 10"/>
          <p:cNvSpPr/>
          <p:nvPr/>
        </p:nvSpPr>
        <p:spPr>
          <a:xfrm>
            <a:off x="731520" y="2670048"/>
            <a:ext cx="594360" cy="457200"/>
          </a:xfrm>
          <a:prstGeom prst="rect">
            <a:avLst/>
          </a:prstGeom>
          <a:noFill/>
          <a:ln/>
        </p:spPr>
        <p:txBody>
          <a:bodyPr wrap="square" lIns="0" tIns="0" rIns="0" bIns="0" rtlCol="0" anchor="ctr"/>
          <a:lstStyle/>
          <a:p>
            <a:pPr algn="l" indent="0" marL="0">
              <a:buNone/>
            </a:pPr>
            <a:r>
              <a:rPr lang="en-US" sz="2200" b="1" dirty="0">
                <a:solidFill>
                  <a:srgbClr val="D97706"/>
                </a:solidFill>
                <a:latin typeface="Georgia" pitchFamily="34" charset="0"/>
                <a:ea typeface="Georgia" pitchFamily="34" charset="-122"/>
                <a:cs typeface="Georgia" pitchFamily="34" charset="-120"/>
              </a:rPr>
              <a:t>03</a:t>
            </a:r>
            <a:endParaRPr lang="en-US" sz="2200" dirty="0"/>
          </a:p>
        </p:txBody>
      </p:sp>
      <p:sp>
        <p:nvSpPr>
          <p:cNvPr id="13" name="Text 11"/>
          <p:cNvSpPr/>
          <p:nvPr/>
        </p:nvSpPr>
        <p:spPr>
          <a:xfrm>
            <a:off x="1417320" y="2670048"/>
            <a:ext cx="74066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Seed variance is huge.</a:t>
            </a:r>
            <a:endParaRPr lang="en-US" sz="1300" dirty="0"/>
          </a:p>
        </p:txBody>
      </p:sp>
      <p:sp>
        <p:nvSpPr>
          <p:cNvPr id="14" name="Text 12"/>
          <p:cNvSpPr/>
          <p:nvPr/>
        </p:nvSpPr>
        <p:spPr>
          <a:xfrm>
            <a:off x="1417320" y="2962656"/>
            <a:ext cx="7406640" cy="292608"/>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Same recipe, different seed: 0.03 LB shift (v19 vs v23). Single-seed A/B claims under 0.03 are noise.</a:t>
            </a:r>
            <a:endParaRPr lang="en-US" sz="1050" dirty="0"/>
          </a:p>
        </p:txBody>
      </p:sp>
      <p:sp>
        <p:nvSpPr>
          <p:cNvPr id="15" name="Text 13"/>
          <p:cNvSpPr/>
          <p:nvPr/>
        </p:nvSpPr>
        <p:spPr>
          <a:xfrm>
            <a:off x="731520" y="3273552"/>
            <a:ext cx="594360" cy="457200"/>
          </a:xfrm>
          <a:prstGeom prst="rect">
            <a:avLst/>
          </a:prstGeom>
          <a:noFill/>
          <a:ln/>
        </p:spPr>
        <p:txBody>
          <a:bodyPr wrap="square" lIns="0" tIns="0" rIns="0" bIns="0" rtlCol="0" anchor="ctr"/>
          <a:lstStyle/>
          <a:p>
            <a:pPr algn="l" indent="0" marL="0">
              <a:buNone/>
            </a:pPr>
            <a:r>
              <a:rPr lang="en-US" sz="2200" b="1" dirty="0">
                <a:solidFill>
                  <a:srgbClr val="D97706"/>
                </a:solidFill>
                <a:latin typeface="Georgia" pitchFamily="34" charset="0"/>
                <a:ea typeface="Georgia" pitchFamily="34" charset="-122"/>
                <a:cs typeface="Georgia" pitchFamily="34" charset="-120"/>
              </a:rPr>
              <a:t>04</a:t>
            </a:r>
            <a:endParaRPr lang="en-US" sz="2200" dirty="0"/>
          </a:p>
        </p:txBody>
      </p:sp>
      <p:sp>
        <p:nvSpPr>
          <p:cNvPr id="16" name="Text 14"/>
          <p:cNvSpPr/>
          <p:nvPr/>
        </p:nvSpPr>
        <p:spPr>
          <a:xfrm>
            <a:off x="1417320" y="3273552"/>
            <a:ext cx="74066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 small-N, data is the lever — not architecture.</a:t>
            </a:r>
            <a:endParaRPr lang="en-US" sz="1300" dirty="0"/>
          </a:p>
        </p:txBody>
      </p:sp>
      <p:sp>
        <p:nvSpPr>
          <p:cNvPr id="17" name="Text 15"/>
          <p:cNvSpPr/>
          <p:nvPr/>
        </p:nvSpPr>
        <p:spPr>
          <a:xfrm>
            <a:off x="1417320" y="3566160"/>
            <a:ext cx="7406640" cy="292608"/>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Four regularisers gained +0.011; soft-pseudo distillation gained +0.042. Even the SOTA co-attention fusion ≈ plain late fusion (0.97 corr, both 0.83). Only co-attention fusion nudged architecture (+0.004 to a new best 0.8392); data was ~10x bigger.</a:t>
            </a:r>
            <a:endParaRPr lang="en-US" sz="1050" dirty="0"/>
          </a:p>
        </p:txBody>
      </p:sp>
      <p:sp>
        <p:nvSpPr>
          <p:cNvPr id="18" name="Text 16"/>
          <p:cNvSpPr/>
          <p:nvPr/>
        </p:nvSpPr>
        <p:spPr>
          <a:xfrm>
            <a:off x="731520" y="3877056"/>
            <a:ext cx="594360" cy="457200"/>
          </a:xfrm>
          <a:prstGeom prst="rect">
            <a:avLst/>
          </a:prstGeom>
          <a:noFill/>
          <a:ln/>
        </p:spPr>
        <p:txBody>
          <a:bodyPr wrap="square" lIns="0" tIns="0" rIns="0" bIns="0" rtlCol="0" anchor="ctr"/>
          <a:lstStyle/>
          <a:p>
            <a:pPr algn="l" indent="0" marL="0">
              <a:buNone/>
            </a:pPr>
            <a:r>
              <a:rPr lang="en-US" sz="2200" b="1" dirty="0">
                <a:solidFill>
                  <a:srgbClr val="D97706"/>
                </a:solidFill>
                <a:latin typeface="Georgia" pitchFamily="34" charset="0"/>
                <a:ea typeface="Georgia" pitchFamily="34" charset="-122"/>
                <a:cs typeface="Georgia" pitchFamily="34" charset="-120"/>
              </a:rPr>
              <a:t>05</a:t>
            </a:r>
            <a:endParaRPr lang="en-US" sz="2200" dirty="0"/>
          </a:p>
        </p:txBody>
      </p:sp>
      <p:sp>
        <p:nvSpPr>
          <p:cNvPr id="19" name="Text 17"/>
          <p:cNvSpPr/>
          <p:nvPr/>
        </p:nvSpPr>
        <p:spPr>
          <a:xfrm>
            <a:off x="1417320" y="3877056"/>
            <a:ext cx="74066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Negative results are the methodology.</a:t>
            </a:r>
            <a:endParaRPr lang="en-US" sz="1300" dirty="0"/>
          </a:p>
        </p:txBody>
      </p:sp>
      <p:sp>
        <p:nvSpPr>
          <p:cNvPr id="20" name="Text 18"/>
          <p:cNvSpPr/>
          <p:nvPr/>
        </p:nvSpPr>
        <p:spPr>
          <a:xfrm>
            <a:off x="1417320" y="4169664"/>
            <a:ext cx="7406640" cy="292608"/>
          </a:xfrm>
          <a:prstGeom prst="rect">
            <a:avLst/>
          </a:prstGeom>
          <a:noFill/>
          <a:ln/>
        </p:spPr>
        <p:txBody>
          <a:bodyPr wrap="square" lIns="0" tIns="0" rIns="0" bIns="0" rtlCol="0" anchor="ctr"/>
          <a:lstStyle/>
          <a:p>
            <a:pPr indent="0" marL="0">
              <a:buNone/>
            </a:pPr>
            <a:r>
              <a:rPr lang="en-US" sz="1050" i="1" dirty="0">
                <a:solidFill>
                  <a:srgbClr val="FAF7F2"/>
                </a:solidFill>
                <a:latin typeface="Calibri" pitchFamily="34" charset="0"/>
                <a:ea typeface="Calibri" pitchFamily="34" charset="-122"/>
                <a:cs typeface="Calibri" pitchFamily="34" charset="-120"/>
              </a:rPr>
              <a:t>The v46/v47 winning recipe traces directly to six diagnosed failures. Reading the failures faithfully is what produced the win.</a:t>
            </a:r>
            <a:endParaRPr lang="en-US" sz="1050" dirty="0"/>
          </a:p>
        </p:txBody>
      </p:sp>
      <p:sp>
        <p:nvSpPr>
          <p:cNvPr id="21" name="Text 19"/>
          <p:cNvSpPr/>
          <p:nvPr/>
        </p:nvSpPr>
        <p:spPr>
          <a:xfrm>
            <a:off x="731520" y="4663440"/>
            <a:ext cx="59436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Code &amp; LB history  ·  github.com/rafallex/multimodal-microscopy-distillation</a:t>
            </a:r>
            <a:endParaRPr lang="en-US" sz="1050" dirty="0"/>
          </a:p>
        </p:txBody>
      </p:sp>
      <p:sp>
        <p:nvSpPr>
          <p:cNvPr id="22" name="Text 20"/>
          <p:cNvSpPr/>
          <p:nvPr/>
        </p:nvSpPr>
        <p:spPr>
          <a:xfrm>
            <a:off x="6675120" y="4663440"/>
            <a:ext cx="2194560" cy="274320"/>
          </a:xfrm>
          <a:prstGeom prst="rect">
            <a:avLst/>
          </a:prstGeom>
          <a:noFill/>
          <a:ln/>
        </p:spPr>
        <p:txBody>
          <a:bodyPr wrap="square" lIns="0" tIns="0" rIns="0" bIns="0" rtlCol="0" anchor="ctr"/>
          <a:lstStyle/>
          <a:p>
            <a:pPr algn="r" indent="0" marL="0">
              <a:buNone/>
            </a:pPr>
            <a:r>
              <a:rPr lang="en-US" sz="1050" i="1" dirty="0">
                <a:solidFill>
                  <a:srgbClr val="D97706"/>
                </a:solidFill>
                <a:latin typeface="Calibri" pitchFamily="34" charset="0"/>
                <a:ea typeface="Calibri" pitchFamily="34" charset="-122"/>
                <a:cs typeface="Calibri" pitchFamily="34" charset="-120"/>
              </a:rPr>
              <a:t>Thank you. Questions?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Cancer Cell Classification</dc:title>
  <dc:subject>PptxGenJS Presentation</dc:subject>
  <dc:creator>Rafael Tavares Proença</dc:creator>
  <cp:lastModifiedBy>Rafael Tavares Proença</cp:lastModifiedBy>
  <cp:revision>1</cp:revision>
  <dcterms:created xsi:type="dcterms:W3CDTF">2026-05-31T11:20:40Z</dcterms:created>
  <dcterms:modified xsi:type="dcterms:W3CDTF">2026-05-31T11:20:40Z</dcterms:modified>
</cp:coreProperties>
</file>