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 I'm Rafael. Today I'll walk you through the Multimodal Cancer Cell Classification Challenge: 29 logged Kaggle versions, five acts of experimentation, and a +0.078 LB lift over the supervised baseline. We currently hold #1 on the public leaderboard at 0.8236. But this talk isn't about the score — the instructor explicitly told us grades are based on methodology and presentation, not on the leaderboard. So I'll spend most of the time on what didn't work and why, since the diagnosed failures were what shaped the version that won.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Per-cell binary classification — malignant vs benign oral cancer cells — from paired brightfield and fluorescence microscopy, both 128×128 grayscale.
Two structural challenges. First: only 12 training patients. Small N. Second: test patients are completely unseen — strict patient-disjoint OOD. That second constraint dominates everything that follows.
Anchor for the audience: we currently hold #1 on the public LB at 0.8236. The amber card on the right is our current position. The path to get there is the rest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acts, anchored to version numbers. We tracked every Kaggle submission in a LB_HISTORY.md file in the repo, so when I say 'v19' or 'v46' I mean a specific notebook with a specific recipe.
Act 1+2, v10 through v16, was early iteration and an ambitious CoMIR-style SSL attempt. v15 scored 0.866 in cross-validation — our highest CV ever — then collapsed to 0.572 on the leaderboard. That single experiment taught us patient-grouped OOD breaks naive CV.
Act 3, v17–v19, was the pivot back to a simple EffNet-B0 supervised recipe. LB 0.7455.
Act 4, v20–v41, was the regularizer search. v41 stacked four L4-textbook regularizers cleanly for +0.011 to 0.7563.
Act 5 was the breakthrough — pseudo-labels and distillation. v44 added Lee 2013 pseudo-labels for +0.025. Then v46 swapped to Hinton 2015 soft-target distillation for another +0.039. We landed at 0.8236, taking #1 on the public 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2 is the canonical 'too clever' moment. CoMIR-style cross-modal contrastive SSL: two encoders for BF and FL, paired images of the same cell as positives, unpaired as negatives. Pretrain 10 epochs, finetune 8.
The CV looked spectacular. 0.866 AUC. We'd never seen that high. We submitted to Kaggle, expecting 0.75 or so. We got 0.572. Essentially random.
Diagnosis. Under our data structure, every cell has exactly one source patient. Paired BF+FL of cell i ALWAYS share a patient. Unpaired BF+FL of cell i and j with i≠j USUALLY don't share a patient. So the contrastive task can be solved at ≥95% accuracy by encoding patient identity rather than cell content. The pretrain backbone optimized that shortcut. The supervised stage memorized within-patient class distributions. The test patients were different patients. Collapse.
Lesson: SSL on a strongly patient-grouped dataset amplifies the patient shortcut. To use it as a generalization aid, positive pairs would need to span patient boundaries — which our annotations don't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3 was the pivot. Drop the SSL complexity. Drop the leave-one-patient-out CV. Train a standard EfficientNet-B0 with five ingredients that directly model the OOD problem.
Five ingredients: dual-branch backbone for BF and FL with late concat fusion. A per-patient MIL auxiliary loss that aggregates cell logits to the patient level — regularizes against pure within-patient memorization. AdaBN to refresh batch-norm statistics to the test distribution. Test-set stain normalization, since FL test is measurably 19.7% brighter than FL train. Strong augmentation including RandomErasing. And 8-way dihedral TTA.
Public LB 0.7455. Up 0.29 from the SSL collapse. v19 became our supervised floor and our reference recipe for the rest of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had two contrasting experiments — one clean, one cautionary.
v41 was the clean win. Four well-motivated L4-textbook additions on top of v19: label smoothing at 0.05, dropout from 0.3 up to 0.4, paired RandomResizedCrop, and multiscale TTA — 3 input scales × 8 D4 group elements = 24-way. Net: +0.011 LB to 0.7563. Each component additively reasonable, all consistent with the L4 slides.
v43 was the cautionary tale. We added four MORE changes simultaneously — FL-tuned augmentation, weight decay bump, 3-seed × SWA ensembling, 40-way TTA. Result: regressed by 0.012 LB. We had no way to attribute blame. Five hours of Kaggle GPU produced no isolable signal. After v43 we adopted a one-or-two-variables-per-experiment rule.
Lesson: stacking unvalidated changes is methodological malpractice.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was the breakthrough. Two experiments, +0.064 LB combined.
v44 added Lee 2013-style hard pseudo-labels. Teacher (v41) predicts on the test set; keep cells where teacher is &gt;0.95 or &lt;0.05 confident; assign hard 0/1 labels; merge into training. Sentinel patient_id = -1 so the MIL loss skips these. About 9,350 cells. +0.025 LB.
v46 was the bigger insight. Hard thresholding discards 84% of test cells — only 9k of 59k make the cutoff. Switch to Hinton 2015 soft-target distillation. Use ALL 59,000 test cells. Use the teacher's raw probability as the BCE target — preserves what Hinton calls 'dark knowledge'. Down-weight pseudo loss by 0.5 so real labels still dominate. +0.039 LB more.
The combined +0.064 LB lift is six times larger than the +0.011 we got from four textbook regularizers. On 12 patients, the dataset-size lever is bigger than the model-quality 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in one image. X-axis: chronological version order. Y-axis: public LB AUC. Color-coding: green for breakthroughs, blue for useful gains, red for regressions and negative results.
Read it left to right:
- v19 at 0.7455 sets the supervised floor (dotted blue line).
- v42 at 0.59 is the SSL collapse — that one took weeks to diagnose.
- v43 at 0.7444 is the stacked-changes regression.
- v44 at 0.7812 is the hard-pseudo breakthrough.
- v45_probe at 0.7729 confirms cross-recipe ensembles still fail at 0.025 LB gaps.
- v46 at 0.8236 is the distillation breakthrough — current #1 (annotated in green).
- v47 (orange '?') is round 2 of noisy student, training as I present this.
The +0.078 lift from v19 to v46 is the headline.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positive findings that compounded into the v46 result.
One. Dataset size beat regularization on this small-N problem. We tried both levers. Four textbook regularizers added +0.011 LB. Soft pseudo-labels expanding the effective training set by 50,000 cells added +0.039. Three and a half times the gain from a different mechanism entirely.
Two. Within-recipe ensembling — same model, different seeds, SWA on the last few epochs — added a clean small gain in v46. But cross-recipe sigmoid-averaging failed both times we tried it: v22 with v19+v21 at a 0.05 LB gap, and v45_probe with v41+v44 at a 0.025 gap. Both regressed below the stronger member. The operational rule is: don't ensemble across recipes unless members are within 0.02 LB.
Three. Patient identity is the dominant adversarial signal on this data. Every mitigation that worked — patient-grouped MIL, AdaBN, test-stain norm, the patient_id=-1 sentinel for pseudo cells — directly addresses the failure mode that broke v42.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diagnosed failures. Each one fed forward into the v46 winning recipe.
v22: cross-recipe ensemble at 0.05 LB gap — regressed below v19. Rule encoded.
v27: tried a held-out 2-patient validation split. The selected patients had extreme FL exposure. Best-epoch policy locked onto random init. Switched to public LB as our external validator.
v37/v38: tried to transfer Lian 2024's modality-specific FL aug and early fusion. Lian's setup is 4-channel emission stacks at higher resolution; ours is 1-channel grayscale at 128. Didn't transfer.
v42: the SSL collapse we discussed earlier. Patient shortcut.
v43: the four-stacked-changes regression. Confounded experiment.
v45_probe: cross-recipe ensemble at a tighter 0.025 gap. Still regressed. Rule confirmed.
Every one of these has a one-line rule that propagated forward. v46 is the cumulative response to all six failures. The negative results are not separate from the methodology — they ARE the methodology.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Kaggle lets us pick two submissions for the private leaderboard. Our plan:
Pick 1 is v46 — our LB 0.8236 result, currently #1 on the public board. Soft-pseudo distillation, 3 seeds × SWA, 40-way TTA. The headline.
Pick 2 is v41 — our LB 0.7563 result. The intuition: if v46 overfits to the public split or to v44's pseudo distribution, we want a maximally-different safety net. v41 uses no pseudo-labels, no SWA, no FL aug — it's a completely different mechanism. If the private LB shakes out badly for v46, v41 is the best uncorrelated backup we have.
We deliberately do not pick v44 or v47 as the safety. Both share the pseudo-label lineage with v46. A correlated pair offers no diversification. v41 is the lowest-correlation pick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carry forward.
One. Higher CV doesn't mean higher LB. v15 had our best cross-validation result, 0.866, and our worst leaderboard, 0.572. If you only have CV, you don't know what you have.
Two. Don't stack unvalidated changes. v43 added four tweaks at once on top of v41 and regressed by 0.012 LB. The run cost 5 hours of GPU and produced no isolable signal. We now change at most one or two related variables per submission.
Three. Seed variance is huge. v23 was v19 with only the random seed changed. 0.03 LB shift. Most A/B comparisons with deltas under 0.03 are noise, not signal.
Four. On 12 patients, dataset size beats regularization. v41's four textbook regularizers gained 0.011 LB. v46's soft pseudo-labels gained 0.039. Three and a half times the lift from a different lever entirely.
Five. Negative results are the methodology. The v46 winning recipe is a direct response to six diagnosed failures: v22, v27, v37, v38, v42, v43, and v45_probe. Reading the failures faithfully is what produced the win.
Thanks. The full code and version-by-version LB history is at github.com/rafallex/A3-ADL.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731520" y="777240"/>
            <a:ext cx="7772400" cy="274320"/>
          </a:xfrm>
          <a:prstGeom prst="rect">
            <a:avLst/>
          </a:prstGeom>
          <a:noFill/>
          <a:ln/>
        </p:spPr>
        <p:txBody>
          <a:bodyPr wrap="square" lIns="0" tIns="0" rIns="0" bIns="0" rtlCol="0" anchor="ctr"/>
          <a:lstStyle/>
          <a:p>
            <a:pPr indent="0" marL="0">
              <a:buNone/>
            </a:pPr>
            <a:r>
              <a:rPr lang="en-US" sz="1150" b="1" spc="500" kern="0" dirty="0">
                <a:solidFill>
                  <a:srgbClr val="0D9488"/>
                </a:solidFill>
                <a:latin typeface="Calibri" pitchFamily="34" charset="0"/>
                <a:ea typeface="Calibri" pitchFamily="34" charset="-122"/>
                <a:cs typeface="Calibri" pitchFamily="34" charset="-120"/>
              </a:rPr>
              <a:t>ASSIGNMENT 3  ·  KAGGLE CHALLENGE</a:t>
            </a:r>
            <a:endParaRPr lang="en-US" sz="1150" dirty="0"/>
          </a:p>
        </p:txBody>
      </p:sp>
      <p:sp>
        <p:nvSpPr>
          <p:cNvPr id="4" name="Text 2"/>
          <p:cNvSpPr/>
          <p:nvPr/>
        </p:nvSpPr>
        <p:spPr>
          <a:xfrm>
            <a:off x="731520" y="1188720"/>
            <a:ext cx="7863840" cy="1554480"/>
          </a:xfrm>
          <a:prstGeom prst="rect">
            <a:avLst/>
          </a:prstGeom>
          <a:noFill/>
          <a:ln/>
        </p:spPr>
        <p:txBody>
          <a:bodyPr wrap="square" lIns="0" tIns="0" rIns="0" bIns="0"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Multimodal Cancer Cell</a:t>
            </a:r>
            <a:endParaRPr lang="en-US" sz="4200" dirty="0"/>
          </a:p>
          <a:p>
            <a:pPr indent="0" marL="0">
              <a:buNone/>
            </a:pPr>
            <a:r>
              <a:rPr lang="en-US" sz="4200" b="1" dirty="0">
                <a:solidFill>
                  <a:srgbClr val="FFFFFF"/>
                </a:solidFill>
                <a:latin typeface="Georgia" pitchFamily="34" charset="0"/>
                <a:ea typeface="Georgia" pitchFamily="34" charset="-122"/>
                <a:cs typeface="Georgia" pitchFamily="34" charset="-120"/>
              </a:rPr>
              <a:t>Classification</a:t>
            </a:r>
            <a:endParaRPr lang="en-US" sz="4200" dirty="0"/>
          </a:p>
        </p:txBody>
      </p:sp>
      <p:sp>
        <p:nvSpPr>
          <p:cNvPr id="5" name="Text 3"/>
          <p:cNvSpPr/>
          <p:nvPr/>
        </p:nvSpPr>
        <p:spPr>
          <a:xfrm>
            <a:off x="731520" y="2880360"/>
            <a:ext cx="7863840" cy="411480"/>
          </a:xfrm>
          <a:prstGeom prst="rect">
            <a:avLst/>
          </a:prstGeom>
          <a:noFill/>
          <a:ln/>
        </p:spPr>
        <p:txBody>
          <a:bodyPr wrap="square" lIns="0" tIns="0" rIns="0" bIns="0" rtlCol="0" anchor="ctr"/>
          <a:lstStyle/>
          <a:p>
            <a:pPr indent="0" marL="0">
              <a:buNone/>
            </a:pPr>
            <a:r>
              <a:rPr lang="en-US" sz="1700" i="1" dirty="0">
                <a:solidFill>
                  <a:srgbClr val="FAF7F2"/>
                </a:solidFill>
                <a:latin typeface="Georgia" pitchFamily="34" charset="0"/>
                <a:ea typeface="Georgia" pitchFamily="34" charset="-122"/>
                <a:cs typeface="Georgia" pitchFamily="34" charset="-120"/>
              </a:rPr>
              <a:t>From SSL collapse to #1 on the public leaderboard</a:t>
            </a:r>
            <a:endParaRPr lang="en-US" sz="1700" dirty="0"/>
          </a:p>
        </p:txBody>
      </p:sp>
      <p:sp>
        <p:nvSpPr>
          <p:cNvPr id="6" name="Text 4"/>
          <p:cNvSpPr/>
          <p:nvPr/>
        </p:nvSpPr>
        <p:spPr>
          <a:xfrm>
            <a:off x="731520" y="3474720"/>
            <a:ext cx="5943600" cy="384048"/>
          </a:xfrm>
          <a:prstGeom prst="rect">
            <a:avLst/>
          </a:prstGeom>
          <a:noFill/>
          <a:ln/>
        </p:spPr>
        <p:txBody>
          <a:bodyPr wrap="square" lIns="0" tIns="0" rIns="0" bIns="0" rtlCol="0" anchor="ctr"/>
          <a:lstStyle/>
          <a:p>
            <a:pPr indent="0" marL="0">
              <a:buNone/>
            </a:pPr>
            <a:r>
              <a:rPr lang="en-US" sz="1600" b="1" dirty="0">
                <a:solidFill>
                  <a:srgbClr val="D97706"/>
                </a:solidFill>
                <a:latin typeface="Georgia" pitchFamily="34" charset="0"/>
                <a:ea typeface="Georgia" pitchFamily="34" charset="-122"/>
                <a:cs typeface="Georgia" pitchFamily="34" charset="-120"/>
              </a:rPr>
              <a:t>+0.078 LB across 29 versions</a:t>
            </a:r>
            <a:endParaRPr lang="en-US" sz="1600" dirty="0"/>
          </a:p>
        </p:txBody>
      </p:sp>
      <p:sp>
        <p:nvSpPr>
          <p:cNvPr id="7" name="Text 5"/>
          <p:cNvSpPr/>
          <p:nvPr/>
        </p:nvSpPr>
        <p:spPr>
          <a:xfrm>
            <a:off x="731520" y="3977640"/>
            <a:ext cx="786384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Rafael Tavares Proença</a:t>
            </a:r>
            <a:endParaRPr lang="en-US" sz="1400" dirty="0"/>
          </a:p>
        </p:txBody>
      </p:sp>
      <p:sp>
        <p:nvSpPr>
          <p:cNvPr id="8" name="Text 6"/>
          <p:cNvSpPr/>
          <p:nvPr/>
        </p:nvSpPr>
        <p:spPr>
          <a:xfrm>
            <a:off x="731520" y="4251960"/>
            <a:ext cx="7863840" cy="256032"/>
          </a:xfrm>
          <a:prstGeom prst="rect">
            <a:avLst/>
          </a:prstGeom>
          <a:noFill/>
          <a:ln/>
        </p:spPr>
        <p:txBody>
          <a:bodyPr wrap="square" lIns="0" tIns="0" rIns="0" bIns="0" rtlCol="0" anchor="ctr"/>
          <a:lstStyle/>
          <a:p>
            <a:pPr indent="0" marL="0">
              <a:buNone/>
            </a:pPr>
            <a:r>
              <a:rPr lang="en-US" sz="1200" dirty="0">
                <a:solidFill>
                  <a:srgbClr val="FAF7F2"/>
                </a:solidFill>
                <a:latin typeface="Calibri" pitchFamily="34" charset="0"/>
                <a:ea typeface="Calibri" pitchFamily="34" charset="-122"/>
                <a:cs typeface="Calibri" pitchFamily="34" charset="-120"/>
              </a:rPr>
              <a:t>Advanced Deep Learning for Image Processing (1MD042)</a:t>
            </a:r>
            <a:endParaRPr lang="en-US" sz="1200" dirty="0"/>
          </a:p>
        </p:txBody>
      </p:sp>
      <p:sp>
        <p:nvSpPr>
          <p:cNvPr id="9" name="Text 7"/>
          <p:cNvSpPr/>
          <p:nvPr/>
        </p:nvSpPr>
        <p:spPr>
          <a:xfrm>
            <a:off x="731520" y="4507992"/>
            <a:ext cx="7863840" cy="256032"/>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Uppsala University  ·  June 4,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274320" y="274320"/>
            <a:ext cx="164592" cy="164592"/>
          </a:xfrm>
          <a:prstGeom prst="ellipse">
            <a:avLst/>
          </a:prstGeom>
          <a:solidFill>
            <a:srgbClr val="0D9488"/>
          </a:solidFill>
          <a:ln w="12700">
            <a:solidFill>
              <a:srgbClr val="0D9488"/>
            </a:solidFill>
            <a:prstDash val="solid"/>
          </a:ln>
        </p:spPr>
      </p:sp>
      <p:sp>
        <p:nvSpPr>
          <p:cNvPr id="3" name="Text 1"/>
          <p:cNvSpPr/>
          <p:nvPr/>
        </p:nvSpPr>
        <p:spPr>
          <a:xfrm>
            <a:off x="566928" y="274320"/>
            <a:ext cx="8229600" cy="274320"/>
          </a:xfrm>
          <a:prstGeom prst="rect">
            <a:avLst/>
          </a:prstGeom>
          <a:noFill/>
          <a:ln/>
        </p:spPr>
        <p:txBody>
          <a:bodyPr wrap="square" lIns="0" tIns="0" rIns="0" bIns="0" rtlCol="0" anchor="ctr"/>
          <a:lstStyle/>
          <a:p>
            <a:pPr indent="0" marL="0">
              <a:buNone/>
            </a:pPr>
            <a:r>
              <a:rPr lang="en-US" sz="1050" b="1" spc="400" kern="0" dirty="0">
                <a:solidFill>
                  <a:srgbClr val="0D9488"/>
                </a:solidFill>
                <a:latin typeface="Calibri" pitchFamily="34" charset="0"/>
                <a:ea typeface="Calibri" pitchFamily="34" charset="-122"/>
                <a:cs typeface="Calibri" pitchFamily="34" charset="-120"/>
              </a:rPr>
              <a:t>THE CHALLENGE</a:t>
            </a:r>
            <a:endParaRPr lang="en-US" sz="1050" dirty="0"/>
          </a:p>
        </p:txBody>
      </p:sp>
      <p:sp>
        <p:nvSpPr>
          <p:cNvPr id="4" name="Text 2"/>
          <p:cNvSpPr/>
          <p:nvPr/>
        </p:nvSpPr>
        <p:spPr>
          <a:xfrm>
            <a:off x="274320" y="594360"/>
            <a:ext cx="8595360" cy="777240"/>
          </a:xfrm>
          <a:prstGeom prst="rect">
            <a:avLst/>
          </a:prstGeom>
          <a:noFill/>
          <a:ln/>
        </p:spPr>
        <p:txBody>
          <a:bodyPr wrap="square" lIns="0" tIns="0" rIns="0" bIns="0" rtlCol="0" anchor="ctr"/>
          <a:lstStyle/>
          <a:p>
            <a:pPr indent="0" marL="0">
              <a:buNone/>
            </a:pPr>
            <a:r>
              <a:rPr lang="en-US" sz="2800" b="1" dirty="0">
                <a:solidFill>
                  <a:srgbClr val="1A3A52"/>
                </a:solidFill>
                <a:latin typeface="Georgia" pitchFamily="34" charset="0"/>
                <a:ea typeface="Georgia" pitchFamily="34" charset="-122"/>
                <a:cs typeface="Georgia" pitchFamily="34" charset="-120"/>
              </a:rPr>
              <a:t>Binary classification on paired microscopy</a:t>
            </a:r>
            <a:endParaRPr lang="en-US" sz="2800" dirty="0"/>
          </a:p>
        </p:txBody>
      </p:sp>
      <p:sp>
        <p:nvSpPr>
          <p:cNvPr id="5" name="Text 3"/>
          <p:cNvSpPr/>
          <p:nvPr/>
        </p:nvSpPr>
        <p:spPr>
          <a:xfrm>
            <a:off x="365760" y="1417320"/>
            <a:ext cx="4754880" cy="301752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Per-cell label: malignant vs benign (oral cancer)</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Inputs: paired BF + FL microscopy, 128×128 grayscale</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12 training patients, patient-disjoint test set</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OOD generalization is the dominant failure mode</a:t>
            </a:r>
            <a:endParaRPr lang="en-US" sz="1400" dirty="0"/>
          </a:p>
          <a:p>
            <a:pPr marL="342900" indent="-342900">
              <a:spcAft>
                <a:spcPts val="800"/>
              </a:spcAft>
              <a:buSzPct val="100000"/>
              <a:buChar char="•"/>
            </a:pPr>
            <a:r>
              <a:rPr lang="en-US" sz="1400" b="1" dirty="0">
                <a:solidFill>
                  <a:srgbClr val="D97706"/>
                </a:solidFill>
                <a:latin typeface="Calibri" pitchFamily="34" charset="0"/>
                <a:ea typeface="Calibri" pitchFamily="34" charset="-122"/>
                <a:cs typeface="Calibri" pitchFamily="34" charset="-120"/>
              </a:rPr>
              <a:t>Grading: methodology over leaderboard score</a:t>
            </a:r>
            <a:endParaRPr lang="en-US" sz="1400" dirty="0"/>
          </a:p>
        </p:txBody>
      </p:sp>
      <p:sp>
        <p:nvSpPr>
          <p:cNvPr id="6" name="Shape 4"/>
          <p:cNvSpPr/>
          <p:nvPr/>
        </p:nvSpPr>
        <p:spPr>
          <a:xfrm>
            <a:off x="5440680" y="1417320"/>
            <a:ext cx="3383280" cy="10058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7" name="Shape 5"/>
          <p:cNvSpPr/>
          <p:nvPr/>
        </p:nvSpPr>
        <p:spPr>
          <a:xfrm>
            <a:off x="5440680" y="1417320"/>
            <a:ext cx="64008" cy="1005840"/>
          </a:xfrm>
          <a:prstGeom prst="rect">
            <a:avLst/>
          </a:prstGeom>
          <a:solidFill>
            <a:srgbClr val="0D9488"/>
          </a:solidFill>
          <a:ln w="12700">
            <a:solidFill>
              <a:srgbClr val="0D9488"/>
            </a:solidFill>
            <a:prstDash val="solid"/>
          </a:ln>
        </p:spPr>
      </p:sp>
      <p:sp>
        <p:nvSpPr>
          <p:cNvPr id="8" name="Text 6"/>
          <p:cNvSpPr/>
          <p:nvPr/>
        </p:nvSpPr>
        <p:spPr>
          <a:xfrm>
            <a:off x="5641848" y="1508760"/>
            <a:ext cx="3108960" cy="502920"/>
          </a:xfrm>
          <a:prstGeom prst="rect">
            <a:avLst/>
          </a:prstGeom>
          <a:noFill/>
          <a:ln/>
        </p:spPr>
        <p:txBody>
          <a:bodyPr wrap="square" lIns="0" tIns="0" rIns="0" bIns="0" rtlCol="0" anchor="t"/>
          <a:lstStyle/>
          <a:p>
            <a:pPr algn="l" indent="0" marL="0">
              <a:buNone/>
            </a:pPr>
            <a:r>
              <a:rPr lang="en-US" sz="2800" b="1" dirty="0">
                <a:solidFill>
                  <a:srgbClr val="1A3A52"/>
                </a:solidFill>
                <a:latin typeface="Georgia" pitchFamily="34" charset="0"/>
                <a:ea typeface="Georgia" pitchFamily="34" charset="-122"/>
                <a:cs typeface="Georgia" pitchFamily="34" charset="-120"/>
              </a:rPr>
              <a:t>12</a:t>
            </a:r>
            <a:endParaRPr lang="en-US" sz="2800" dirty="0"/>
          </a:p>
        </p:txBody>
      </p:sp>
      <p:sp>
        <p:nvSpPr>
          <p:cNvPr id="9" name="Text 7"/>
          <p:cNvSpPr/>
          <p:nvPr/>
        </p:nvSpPr>
        <p:spPr>
          <a:xfrm>
            <a:off x="5641848" y="1970532"/>
            <a:ext cx="3108960" cy="402336"/>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training patients</a:t>
            </a:r>
            <a:endParaRPr lang="en-US" sz="1050" dirty="0"/>
          </a:p>
        </p:txBody>
      </p:sp>
      <p:sp>
        <p:nvSpPr>
          <p:cNvPr id="10" name="Shape 8"/>
          <p:cNvSpPr/>
          <p:nvPr/>
        </p:nvSpPr>
        <p:spPr>
          <a:xfrm>
            <a:off x="5440680" y="2514600"/>
            <a:ext cx="3383280" cy="10058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11" name="Shape 9"/>
          <p:cNvSpPr/>
          <p:nvPr/>
        </p:nvSpPr>
        <p:spPr>
          <a:xfrm>
            <a:off x="5440680" y="2514600"/>
            <a:ext cx="64008" cy="1005840"/>
          </a:xfrm>
          <a:prstGeom prst="rect">
            <a:avLst/>
          </a:prstGeom>
          <a:solidFill>
            <a:srgbClr val="0D9488"/>
          </a:solidFill>
          <a:ln w="12700">
            <a:solidFill>
              <a:srgbClr val="0D9488"/>
            </a:solidFill>
            <a:prstDash val="solid"/>
          </a:ln>
        </p:spPr>
      </p:sp>
      <p:sp>
        <p:nvSpPr>
          <p:cNvPr id="12" name="Text 10"/>
          <p:cNvSpPr/>
          <p:nvPr/>
        </p:nvSpPr>
        <p:spPr>
          <a:xfrm>
            <a:off x="5641848" y="2606040"/>
            <a:ext cx="3108960" cy="502920"/>
          </a:xfrm>
          <a:prstGeom prst="rect">
            <a:avLst/>
          </a:prstGeom>
          <a:noFill/>
          <a:ln/>
        </p:spPr>
        <p:txBody>
          <a:bodyPr wrap="square" lIns="0" tIns="0" rIns="0" bIns="0" rtlCol="0" anchor="t"/>
          <a:lstStyle/>
          <a:p>
            <a:pPr algn="l" indent="0" marL="0">
              <a:buNone/>
            </a:pPr>
            <a:r>
              <a:rPr lang="en-US" sz="2800" b="1" dirty="0">
                <a:solidFill>
                  <a:srgbClr val="1A3A52"/>
                </a:solidFill>
                <a:latin typeface="Georgia" pitchFamily="34" charset="0"/>
                <a:ea typeface="Georgia" pitchFamily="34" charset="-122"/>
                <a:cs typeface="Georgia" pitchFamily="34" charset="-120"/>
              </a:rPr>
              <a:t>2 modalities</a:t>
            </a:r>
            <a:endParaRPr lang="en-US" sz="2800" dirty="0"/>
          </a:p>
        </p:txBody>
      </p:sp>
      <p:sp>
        <p:nvSpPr>
          <p:cNvPr id="13" name="Text 11"/>
          <p:cNvSpPr/>
          <p:nvPr/>
        </p:nvSpPr>
        <p:spPr>
          <a:xfrm>
            <a:off x="5641848" y="3067812"/>
            <a:ext cx="3108960" cy="402336"/>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brightfield + fluorescence</a:t>
            </a:r>
            <a:endParaRPr lang="en-US" sz="1050" dirty="0"/>
          </a:p>
        </p:txBody>
      </p:sp>
      <p:sp>
        <p:nvSpPr>
          <p:cNvPr id="14" name="Shape 12"/>
          <p:cNvSpPr/>
          <p:nvPr/>
        </p:nvSpPr>
        <p:spPr>
          <a:xfrm>
            <a:off x="5440680" y="3611880"/>
            <a:ext cx="1627632" cy="86868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15" name="Shape 13"/>
          <p:cNvSpPr/>
          <p:nvPr/>
        </p:nvSpPr>
        <p:spPr>
          <a:xfrm>
            <a:off x="5440680" y="3611880"/>
            <a:ext cx="64008" cy="868680"/>
          </a:xfrm>
          <a:prstGeom prst="rect">
            <a:avLst/>
          </a:prstGeom>
          <a:solidFill>
            <a:srgbClr val="0D9488"/>
          </a:solidFill>
          <a:ln w="12700">
            <a:solidFill>
              <a:srgbClr val="0D9488"/>
            </a:solidFill>
            <a:prstDash val="solid"/>
          </a:ln>
        </p:spPr>
      </p:sp>
      <p:sp>
        <p:nvSpPr>
          <p:cNvPr id="16" name="Text 14"/>
          <p:cNvSpPr/>
          <p:nvPr/>
        </p:nvSpPr>
        <p:spPr>
          <a:xfrm>
            <a:off x="5641848" y="3703320"/>
            <a:ext cx="1353312" cy="434340"/>
          </a:xfrm>
          <a:prstGeom prst="rect">
            <a:avLst/>
          </a:prstGeom>
          <a:noFill/>
          <a:ln/>
        </p:spPr>
        <p:txBody>
          <a:bodyPr wrap="square" lIns="0" tIns="0" rIns="0" bIns="0" rtlCol="0" anchor="t"/>
          <a:lstStyle/>
          <a:p>
            <a:pPr algn="l" indent="0" marL="0">
              <a:buNone/>
            </a:pPr>
            <a:r>
              <a:rPr lang="en-US" sz="2800" b="1" dirty="0">
                <a:solidFill>
                  <a:srgbClr val="1A3A52"/>
                </a:solidFill>
                <a:latin typeface="Georgia" pitchFamily="34" charset="0"/>
                <a:ea typeface="Georgia" pitchFamily="34" charset="-122"/>
                <a:cs typeface="Georgia" pitchFamily="34" charset="-120"/>
              </a:rPr>
              <a:t>128×</a:t>
            </a:r>
            <a:endParaRPr lang="en-US" sz="2800" dirty="0"/>
          </a:p>
        </p:txBody>
      </p:sp>
      <p:sp>
        <p:nvSpPr>
          <p:cNvPr id="17" name="Text 15"/>
          <p:cNvSpPr/>
          <p:nvPr/>
        </p:nvSpPr>
        <p:spPr>
          <a:xfrm>
            <a:off x="5641848" y="4089654"/>
            <a:ext cx="1353312" cy="347472"/>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input side</a:t>
            </a:r>
            <a:endParaRPr lang="en-US" sz="1050" dirty="0"/>
          </a:p>
        </p:txBody>
      </p:sp>
      <p:sp>
        <p:nvSpPr>
          <p:cNvPr id="18" name="Shape 16"/>
          <p:cNvSpPr/>
          <p:nvPr/>
        </p:nvSpPr>
        <p:spPr>
          <a:xfrm>
            <a:off x="7196328" y="3611880"/>
            <a:ext cx="1627632" cy="86868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19" name="Shape 17"/>
          <p:cNvSpPr/>
          <p:nvPr/>
        </p:nvSpPr>
        <p:spPr>
          <a:xfrm>
            <a:off x="7196328" y="3611880"/>
            <a:ext cx="64008" cy="868680"/>
          </a:xfrm>
          <a:prstGeom prst="rect">
            <a:avLst/>
          </a:prstGeom>
          <a:solidFill>
            <a:srgbClr val="0D9488"/>
          </a:solidFill>
          <a:ln w="12700">
            <a:solidFill>
              <a:srgbClr val="0D9488"/>
            </a:solidFill>
            <a:prstDash val="solid"/>
          </a:ln>
        </p:spPr>
      </p:sp>
      <p:sp>
        <p:nvSpPr>
          <p:cNvPr id="20" name="Text 18"/>
          <p:cNvSpPr/>
          <p:nvPr/>
        </p:nvSpPr>
        <p:spPr>
          <a:xfrm>
            <a:off x="7397496" y="3703320"/>
            <a:ext cx="1353312" cy="434340"/>
          </a:xfrm>
          <a:prstGeom prst="rect">
            <a:avLst/>
          </a:prstGeom>
          <a:noFill/>
          <a:ln/>
        </p:spPr>
        <p:txBody>
          <a:bodyPr wrap="square" lIns="0" tIns="0" rIns="0" bIns="0" rtlCol="0" anchor="t"/>
          <a:lstStyle/>
          <a:p>
            <a:pPr algn="l" indent="0" marL="0">
              <a:buNone/>
            </a:pPr>
            <a:r>
              <a:rPr lang="en-US" sz="2800" b="1" dirty="0">
                <a:solidFill>
                  <a:srgbClr val="D97706"/>
                </a:solidFill>
                <a:latin typeface="Georgia" pitchFamily="34" charset="0"/>
                <a:ea typeface="Georgia" pitchFamily="34" charset="-122"/>
                <a:cs typeface="Georgia" pitchFamily="34" charset="-120"/>
              </a:rPr>
              <a:t>#1</a:t>
            </a:r>
            <a:endParaRPr lang="en-US" sz="2800" dirty="0"/>
          </a:p>
        </p:txBody>
      </p:sp>
      <p:sp>
        <p:nvSpPr>
          <p:cNvPr id="21" name="Text 19"/>
          <p:cNvSpPr/>
          <p:nvPr/>
        </p:nvSpPr>
        <p:spPr>
          <a:xfrm>
            <a:off x="7397496" y="4089654"/>
            <a:ext cx="1353312" cy="347472"/>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current public LB</a:t>
            </a:r>
            <a:endParaRPr lang="en-US" sz="1050" dirty="0"/>
          </a:p>
        </p:txBody>
      </p:sp>
      <p:sp>
        <p:nvSpPr>
          <p:cNvPr id="22" name="Text 20"/>
          <p:cNvSpPr/>
          <p:nvPr/>
        </p:nvSpPr>
        <p:spPr>
          <a:xfrm>
            <a:off x="274320" y="4864608"/>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Multimodal Cancer Cell Classification  ·  Uppsala 1MD042 A3</a:t>
            </a:r>
            <a:endParaRPr lang="en-US" sz="900" dirty="0"/>
          </a:p>
        </p:txBody>
      </p:sp>
      <p:sp>
        <p:nvSpPr>
          <p:cNvPr id="23" name="Text 21"/>
          <p:cNvSpPr/>
          <p:nvPr/>
        </p:nvSpPr>
        <p:spPr>
          <a:xfrm>
            <a:off x="7772400" y="4864608"/>
            <a:ext cx="109728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274320" y="274320"/>
            <a:ext cx="164592" cy="164592"/>
          </a:xfrm>
          <a:prstGeom prst="ellipse">
            <a:avLst/>
          </a:prstGeom>
          <a:solidFill>
            <a:srgbClr val="0D9488"/>
          </a:solidFill>
          <a:ln w="12700">
            <a:solidFill>
              <a:srgbClr val="0D9488"/>
            </a:solidFill>
            <a:prstDash val="solid"/>
          </a:ln>
        </p:spPr>
      </p:sp>
      <p:sp>
        <p:nvSpPr>
          <p:cNvPr id="3" name="Text 1"/>
          <p:cNvSpPr/>
          <p:nvPr/>
        </p:nvSpPr>
        <p:spPr>
          <a:xfrm>
            <a:off x="566928" y="274320"/>
            <a:ext cx="8229600" cy="274320"/>
          </a:xfrm>
          <a:prstGeom prst="rect">
            <a:avLst/>
          </a:prstGeom>
          <a:noFill/>
          <a:ln/>
        </p:spPr>
        <p:txBody>
          <a:bodyPr wrap="square" lIns="0" tIns="0" rIns="0" bIns="0" rtlCol="0" anchor="ctr"/>
          <a:lstStyle/>
          <a:p>
            <a:pPr indent="0" marL="0">
              <a:buNone/>
            </a:pPr>
            <a:r>
              <a:rPr lang="en-US" sz="1050" b="1" spc="400" kern="0" dirty="0">
                <a:solidFill>
                  <a:srgbClr val="0D9488"/>
                </a:solidFill>
                <a:latin typeface="Calibri" pitchFamily="34" charset="0"/>
                <a:ea typeface="Calibri" pitchFamily="34" charset="-122"/>
                <a:cs typeface="Calibri" pitchFamily="34" charset="-120"/>
              </a:rPr>
              <a:t>THE JOURNEY</a:t>
            </a:r>
            <a:endParaRPr lang="en-US" sz="1050" dirty="0"/>
          </a:p>
        </p:txBody>
      </p:sp>
      <p:sp>
        <p:nvSpPr>
          <p:cNvPr id="4" name="Text 2"/>
          <p:cNvSpPr/>
          <p:nvPr/>
        </p:nvSpPr>
        <p:spPr>
          <a:xfrm>
            <a:off x="274320" y="594360"/>
            <a:ext cx="8595360" cy="777240"/>
          </a:xfrm>
          <a:prstGeom prst="rect">
            <a:avLst/>
          </a:prstGeom>
          <a:noFill/>
          <a:ln/>
        </p:spPr>
        <p:txBody>
          <a:bodyPr wrap="square" lIns="0" tIns="0" rIns="0" bIns="0" rtlCol="0" anchor="ctr"/>
          <a:lstStyle/>
          <a:p>
            <a:pPr indent="0" marL="0">
              <a:buNone/>
            </a:pPr>
            <a:r>
              <a:rPr lang="en-US" sz="2800" b="1" dirty="0">
                <a:solidFill>
                  <a:srgbClr val="1A3A52"/>
                </a:solidFill>
                <a:latin typeface="Georgia" pitchFamily="34" charset="0"/>
                <a:ea typeface="Georgia" pitchFamily="34" charset="-122"/>
                <a:cs typeface="Georgia" pitchFamily="34" charset="-120"/>
              </a:rPr>
              <a:t>29 versions, 5 acts, one breakthrough</a:t>
            </a:r>
            <a:endParaRPr lang="en-US" sz="2800" dirty="0"/>
          </a:p>
        </p:txBody>
      </p:sp>
      <p:sp>
        <p:nvSpPr>
          <p:cNvPr id="5" name="Shape 3"/>
          <p:cNvSpPr/>
          <p:nvPr/>
        </p:nvSpPr>
        <p:spPr>
          <a:xfrm>
            <a:off x="640080" y="2651760"/>
            <a:ext cx="7863840" cy="45720"/>
          </a:xfrm>
          <a:prstGeom prst="rect">
            <a:avLst/>
          </a:prstGeom>
          <a:solidFill>
            <a:srgbClr val="64748B">
              <a:alpha val="50000"/>
            </a:srgbClr>
          </a:solidFill>
          <a:ln w="12700">
            <a:solidFill>
              <a:srgbClr val="64748B"/>
            </a:solidFill>
            <a:prstDash val="solid"/>
          </a:ln>
        </p:spPr>
      </p:sp>
      <p:sp>
        <p:nvSpPr>
          <p:cNvPr id="6" name="Shape 4"/>
          <p:cNvSpPr/>
          <p:nvPr/>
        </p:nvSpPr>
        <p:spPr>
          <a:xfrm>
            <a:off x="969264" y="2532888"/>
            <a:ext cx="292608" cy="292608"/>
          </a:xfrm>
          <a:prstGeom prst="ellipse">
            <a:avLst/>
          </a:prstGeom>
          <a:solidFill>
            <a:srgbClr val="B91C1C"/>
          </a:solidFill>
          <a:ln w="19050">
            <a:solidFill>
              <a:srgbClr val="FFFFFF"/>
            </a:solidFill>
            <a:prstDash val="solid"/>
          </a:ln>
        </p:spPr>
      </p:sp>
      <p:sp>
        <p:nvSpPr>
          <p:cNvPr id="7" name="Text 5"/>
          <p:cNvSpPr/>
          <p:nvPr/>
        </p:nvSpPr>
        <p:spPr>
          <a:xfrm>
            <a:off x="365760" y="1508760"/>
            <a:ext cx="146304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1+2</a:t>
            </a:r>
            <a:endParaRPr lang="en-US" sz="950" dirty="0"/>
          </a:p>
        </p:txBody>
      </p:sp>
      <p:sp>
        <p:nvSpPr>
          <p:cNvPr id="8" name="Text 6"/>
          <p:cNvSpPr/>
          <p:nvPr/>
        </p:nvSpPr>
        <p:spPr>
          <a:xfrm>
            <a:off x="365760" y="1783080"/>
            <a:ext cx="146304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v10–v16</a:t>
            </a:r>
            <a:endParaRPr lang="en-US" sz="1300" dirty="0"/>
          </a:p>
        </p:txBody>
      </p:sp>
      <p:sp>
        <p:nvSpPr>
          <p:cNvPr id="9" name="Text 7"/>
          <p:cNvSpPr/>
          <p:nvPr/>
        </p:nvSpPr>
        <p:spPr>
          <a:xfrm>
            <a:off x="274320" y="2103120"/>
            <a:ext cx="1645920" cy="320040"/>
          </a:xfrm>
          <a:prstGeom prst="rect">
            <a:avLst/>
          </a:prstGeom>
          <a:noFill/>
          <a:ln/>
        </p:spPr>
        <p:txBody>
          <a:bodyPr wrap="square" lIns="0" tIns="0" rIns="0" bIns="0" rtlCol="0" anchor="ctr"/>
          <a:lstStyle/>
          <a:p>
            <a:pPr algn="ctr" indent="0" marL="0">
              <a:buNone/>
            </a:pPr>
            <a:r>
              <a:rPr lang="en-US" sz="1050" i="1" dirty="0">
                <a:solidFill>
                  <a:srgbClr val="64748B"/>
                </a:solidFill>
                <a:latin typeface="Calibri" pitchFamily="34" charset="0"/>
                <a:ea typeface="Calibri" pitchFamily="34" charset="-122"/>
                <a:cs typeface="Calibri" pitchFamily="34" charset="-120"/>
              </a:rPr>
              <a:t>Baselines &amp; SSL</a:t>
            </a:r>
            <a:endParaRPr lang="en-US" sz="1050" dirty="0"/>
          </a:p>
        </p:txBody>
      </p:sp>
      <p:sp>
        <p:nvSpPr>
          <p:cNvPr id="10" name="Text 8"/>
          <p:cNvSpPr/>
          <p:nvPr/>
        </p:nvSpPr>
        <p:spPr>
          <a:xfrm>
            <a:off x="274320" y="3108960"/>
            <a:ext cx="1645920" cy="320040"/>
          </a:xfrm>
          <a:prstGeom prst="rect">
            <a:avLst/>
          </a:prstGeom>
          <a:noFill/>
          <a:ln/>
        </p:spPr>
        <p:txBody>
          <a:bodyPr wrap="square" lIns="0" tIns="0" rIns="0" bIns="0" rtlCol="0" anchor="ctr"/>
          <a:lstStyle/>
          <a:p>
            <a:pPr algn="ctr" indent="0" marL="0">
              <a:buNone/>
            </a:pPr>
            <a:r>
              <a:rPr lang="en-US" sz="1500" b="1" dirty="0">
                <a:solidFill>
                  <a:srgbClr val="B91C1C"/>
                </a:solidFill>
                <a:latin typeface="Georgia" pitchFamily="34" charset="0"/>
                <a:ea typeface="Georgia" pitchFamily="34" charset="-122"/>
                <a:cs typeface="Georgia" pitchFamily="34" charset="-120"/>
              </a:rPr>
              <a:t>0.572</a:t>
            </a:r>
            <a:endParaRPr lang="en-US" sz="1500" dirty="0"/>
          </a:p>
        </p:txBody>
      </p:sp>
      <p:sp>
        <p:nvSpPr>
          <p:cNvPr id="11" name="Text 9"/>
          <p:cNvSpPr/>
          <p:nvPr/>
        </p:nvSpPr>
        <p:spPr>
          <a:xfrm>
            <a:off x="228600" y="3456432"/>
            <a:ext cx="1737360" cy="274320"/>
          </a:xfrm>
          <a:prstGeom prst="rect">
            <a:avLst/>
          </a:prstGeom>
          <a:noFill/>
          <a:ln/>
        </p:spPr>
        <p:txBody>
          <a:bodyPr wrap="square" lIns="0" tIns="0" rIns="0" bIns="0"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SSL collapse</a:t>
            </a:r>
            <a:endParaRPr lang="en-US" sz="950" dirty="0"/>
          </a:p>
        </p:txBody>
      </p:sp>
      <p:sp>
        <p:nvSpPr>
          <p:cNvPr id="12" name="Shape 10"/>
          <p:cNvSpPr/>
          <p:nvPr/>
        </p:nvSpPr>
        <p:spPr>
          <a:xfrm>
            <a:off x="2798064" y="2532888"/>
            <a:ext cx="292608" cy="292608"/>
          </a:xfrm>
          <a:prstGeom prst="ellipse">
            <a:avLst/>
          </a:prstGeom>
          <a:solidFill>
            <a:srgbClr val="1A3A52"/>
          </a:solidFill>
          <a:ln w="19050">
            <a:solidFill>
              <a:srgbClr val="FFFFFF"/>
            </a:solidFill>
            <a:prstDash val="solid"/>
          </a:ln>
        </p:spPr>
      </p:sp>
      <p:sp>
        <p:nvSpPr>
          <p:cNvPr id="13" name="Text 11"/>
          <p:cNvSpPr/>
          <p:nvPr/>
        </p:nvSpPr>
        <p:spPr>
          <a:xfrm>
            <a:off x="2194560" y="1508760"/>
            <a:ext cx="146304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3</a:t>
            </a:r>
            <a:endParaRPr lang="en-US" sz="950" dirty="0"/>
          </a:p>
        </p:txBody>
      </p:sp>
      <p:sp>
        <p:nvSpPr>
          <p:cNvPr id="14" name="Text 12"/>
          <p:cNvSpPr/>
          <p:nvPr/>
        </p:nvSpPr>
        <p:spPr>
          <a:xfrm>
            <a:off x="2194560" y="1783080"/>
            <a:ext cx="146304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v17–v19</a:t>
            </a:r>
            <a:endParaRPr lang="en-US" sz="1300" dirty="0"/>
          </a:p>
        </p:txBody>
      </p:sp>
      <p:sp>
        <p:nvSpPr>
          <p:cNvPr id="15" name="Text 13"/>
          <p:cNvSpPr/>
          <p:nvPr/>
        </p:nvSpPr>
        <p:spPr>
          <a:xfrm>
            <a:off x="2103120" y="2103120"/>
            <a:ext cx="1645920" cy="320040"/>
          </a:xfrm>
          <a:prstGeom prst="rect">
            <a:avLst/>
          </a:prstGeom>
          <a:noFill/>
          <a:ln/>
        </p:spPr>
        <p:txBody>
          <a:bodyPr wrap="square" lIns="0" tIns="0" rIns="0" bIns="0" rtlCol="0" anchor="ctr"/>
          <a:lstStyle/>
          <a:p>
            <a:pPr algn="ctr" indent="0" marL="0">
              <a:buNone/>
            </a:pPr>
            <a:r>
              <a:rPr lang="en-US" sz="1050" i="1" dirty="0">
                <a:solidFill>
                  <a:srgbClr val="64748B"/>
                </a:solidFill>
                <a:latin typeface="Calibri" pitchFamily="34" charset="0"/>
                <a:ea typeface="Calibri" pitchFamily="34" charset="-122"/>
                <a:cs typeface="Calibri" pitchFamily="34" charset="-120"/>
              </a:rPr>
              <a:t>EffNet pivot</a:t>
            </a:r>
            <a:endParaRPr lang="en-US" sz="1050" dirty="0"/>
          </a:p>
        </p:txBody>
      </p:sp>
      <p:sp>
        <p:nvSpPr>
          <p:cNvPr id="16" name="Text 14"/>
          <p:cNvSpPr/>
          <p:nvPr/>
        </p:nvSpPr>
        <p:spPr>
          <a:xfrm>
            <a:off x="2103120" y="3108960"/>
            <a:ext cx="164592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0.7455</a:t>
            </a:r>
            <a:endParaRPr lang="en-US" sz="1500" dirty="0"/>
          </a:p>
        </p:txBody>
      </p:sp>
      <p:sp>
        <p:nvSpPr>
          <p:cNvPr id="17" name="Text 15"/>
          <p:cNvSpPr/>
          <p:nvPr/>
        </p:nvSpPr>
        <p:spPr>
          <a:xfrm>
            <a:off x="2057400" y="3456432"/>
            <a:ext cx="1737360" cy="274320"/>
          </a:xfrm>
          <a:prstGeom prst="rect">
            <a:avLst/>
          </a:prstGeom>
          <a:noFill/>
          <a:ln/>
        </p:spPr>
        <p:txBody>
          <a:bodyPr wrap="square" lIns="0" tIns="0" rIns="0" bIns="0"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supervised floor</a:t>
            </a:r>
            <a:endParaRPr lang="en-US" sz="950" dirty="0"/>
          </a:p>
        </p:txBody>
      </p:sp>
      <p:sp>
        <p:nvSpPr>
          <p:cNvPr id="18" name="Shape 16"/>
          <p:cNvSpPr/>
          <p:nvPr/>
        </p:nvSpPr>
        <p:spPr>
          <a:xfrm>
            <a:off x="4626864" y="2532888"/>
            <a:ext cx="292608" cy="292608"/>
          </a:xfrm>
          <a:prstGeom prst="ellipse">
            <a:avLst/>
          </a:prstGeom>
          <a:solidFill>
            <a:srgbClr val="1A3A52"/>
          </a:solidFill>
          <a:ln w="19050">
            <a:solidFill>
              <a:srgbClr val="FFFFFF"/>
            </a:solidFill>
            <a:prstDash val="solid"/>
          </a:ln>
        </p:spPr>
      </p:sp>
      <p:sp>
        <p:nvSpPr>
          <p:cNvPr id="19" name="Text 17"/>
          <p:cNvSpPr/>
          <p:nvPr/>
        </p:nvSpPr>
        <p:spPr>
          <a:xfrm>
            <a:off x="4023360" y="1508760"/>
            <a:ext cx="146304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4</a:t>
            </a:r>
            <a:endParaRPr lang="en-US" sz="950" dirty="0"/>
          </a:p>
        </p:txBody>
      </p:sp>
      <p:sp>
        <p:nvSpPr>
          <p:cNvPr id="20" name="Text 18"/>
          <p:cNvSpPr/>
          <p:nvPr/>
        </p:nvSpPr>
        <p:spPr>
          <a:xfrm>
            <a:off x="4023360" y="1783080"/>
            <a:ext cx="146304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v20–v41</a:t>
            </a:r>
            <a:endParaRPr lang="en-US" sz="1300" dirty="0"/>
          </a:p>
        </p:txBody>
      </p:sp>
      <p:sp>
        <p:nvSpPr>
          <p:cNvPr id="21" name="Text 19"/>
          <p:cNvSpPr/>
          <p:nvPr/>
        </p:nvSpPr>
        <p:spPr>
          <a:xfrm>
            <a:off x="3931920" y="2103120"/>
            <a:ext cx="1645920" cy="320040"/>
          </a:xfrm>
          <a:prstGeom prst="rect">
            <a:avLst/>
          </a:prstGeom>
          <a:noFill/>
          <a:ln/>
        </p:spPr>
        <p:txBody>
          <a:bodyPr wrap="square" lIns="0" tIns="0" rIns="0" bIns="0" rtlCol="0" anchor="ctr"/>
          <a:lstStyle/>
          <a:p>
            <a:pPr algn="ctr" indent="0" marL="0">
              <a:buNone/>
            </a:pPr>
            <a:r>
              <a:rPr lang="en-US" sz="1050" i="1" dirty="0">
                <a:solidFill>
                  <a:srgbClr val="64748B"/>
                </a:solidFill>
                <a:latin typeface="Calibri" pitchFamily="34" charset="0"/>
                <a:ea typeface="Calibri" pitchFamily="34" charset="-122"/>
                <a:cs typeface="Calibri" pitchFamily="34" charset="-120"/>
              </a:rPr>
              <a:t>Regularizer search</a:t>
            </a:r>
            <a:endParaRPr lang="en-US" sz="1050" dirty="0"/>
          </a:p>
        </p:txBody>
      </p:sp>
      <p:sp>
        <p:nvSpPr>
          <p:cNvPr id="22" name="Text 20"/>
          <p:cNvSpPr/>
          <p:nvPr/>
        </p:nvSpPr>
        <p:spPr>
          <a:xfrm>
            <a:off x="3931920" y="3108960"/>
            <a:ext cx="164592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0.7563</a:t>
            </a:r>
            <a:endParaRPr lang="en-US" sz="1500" dirty="0"/>
          </a:p>
        </p:txBody>
      </p:sp>
      <p:sp>
        <p:nvSpPr>
          <p:cNvPr id="23" name="Text 21"/>
          <p:cNvSpPr/>
          <p:nvPr/>
        </p:nvSpPr>
        <p:spPr>
          <a:xfrm>
            <a:off x="3886200" y="3456432"/>
            <a:ext cx="1737360" cy="274320"/>
          </a:xfrm>
          <a:prstGeom prst="rect">
            <a:avLst/>
          </a:prstGeom>
          <a:noFill/>
          <a:ln/>
        </p:spPr>
        <p:txBody>
          <a:bodyPr wrap="square" lIns="0" tIns="0" rIns="0" bIns="0"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v41 +0.011</a:t>
            </a:r>
            <a:endParaRPr lang="en-US" sz="950" dirty="0"/>
          </a:p>
        </p:txBody>
      </p:sp>
      <p:sp>
        <p:nvSpPr>
          <p:cNvPr id="24" name="Shape 22"/>
          <p:cNvSpPr/>
          <p:nvPr/>
        </p:nvSpPr>
        <p:spPr>
          <a:xfrm>
            <a:off x="6455664" y="2532888"/>
            <a:ext cx="292608" cy="292608"/>
          </a:xfrm>
          <a:prstGeom prst="ellipse">
            <a:avLst/>
          </a:prstGeom>
          <a:solidFill>
            <a:srgbClr val="059669"/>
          </a:solidFill>
          <a:ln w="19050">
            <a:solidFill>
              <a:srgbClr val="FFFFFF"/>
            </a:solidFill>
            <a:prstDash val="solid"/>
          </a:ln>
        </p:spPr>
      </p:sp>
      <p:sp>
        <p:nvSpPr>
          <p:cNvPr id="25" name="Text 23"/>
          <p:cNvSpPr/>
          <p:nvPr/>
        </p:nvSpPr>
        <p:spPr>
          <a:xfrm>
            <a:off x="5852160" y="1508760"/>
            <a:ext cx="146304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a:t>
            </a:r>
            <a:endParaRPr lang="en-US" sz="950" dirty="0"/>
          </a:p>
        </p:txBody>
      </p:sp>
      <p:sp>
        <p:nvSpPr>
          <p:cNvPr id="26" name="Text 24"/>
          <p:cNvSpPr/>
          <p:nvPr/>
        </p:nvSpPr>
        <p:spPr>
          <a:xfrm>
            <a:off x="5852160" y="1783080"/>
            <a:ext cx="146304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v42–v44</a:t>
            </a:r>
            <a:endParaRPr lang="en-US" sz="1300" dirty="0"/>
          </a:p>
        </p:txBody>
      </p:sp>
      <p:sp>
        <p:nvSpPr>
          <p:cNvPr id="27" name="Text 25"/>
          <p:cNvSpPr/>
          <p:nvPr/>
        </p:nvSpPr>
        <p:spPr>
          <a:xfrm>
            <a:off x="5760720" y="2103120"/>
            <a:ext cx="1645920" cy="320040"/>
          </a:xfrm>
          <a:prstGeom prst="rect">
            <a:avLst/>
          </a:prstGeom>
          <a:noFill/>
          <a:ln/>
        </p:spPr>
        <p:txBody>
          <a:bodyPr wrap="square" lIns="0" tIns="0" rIns="0" bIns="0" rtlCol="0" anchor="ctr"/>
          <a:lstStyle/>
          <a:p>
            <a:pPr algn="ctr" indent="0" marL="0">
              <a:buNone/>
            </a:pPr>
            <a:r>
              <a:rPr lang="en-US" sz="1050" i="1" dirty="0">
                <a:solidFill>
                  <a:srgbClr val="64748B"/>
                </a:solidFill>
                <a:latin typeface="Calibri" pitchFamily="34" charset="0"/>
                <a:ea typeface="Calibri" pitchFamily="34" charset="-122"/>
                <a:cs typeface="Calibri" pitchFamily="34" charset="-120"/>
              </a:rPr>
              <a:t>Pseudo-labels</a:t>
            </a:r>
            <a:endParaRPr lang="en-US" sz="1050" dirty="0"/>
          </a:p>
        </p:txBody>
      </p:sp>
      <p:sp>
        <p:nvSpPr>
          <p:cNvPr id="28" name="Text 26"/>
          <p:cNvSpPr/>
          <p:nvPr/>
        </p:nvSpPr>
        <p:spPr>
          <a:xfrm>
            <a:off x="5760720" y="3108960"/>
            <a:ext cx="1645920" cy="320040"/>
          </a:xfrm>
          <a:prstGeom prst="rect">
            <a:avLst/>
          </a:prstGeom>
          <a:noFill/>
          <a:ln/>
        </p:spPr>
        <p:txBody>
          <a:bodyPr wrap="square" lIns="0" tIns="0" rIns="0" bIns="0" rtlCol="0" anchor="ctr"/>
          <a:lstStyle/>
          <a:p>
            <a:pPr algn="ctr" indent="0" marL="0">
              <a:buNone/>
            </a:pPr>
            <a:r>
              <a:rPr lang="en-US" sz="1500" b="1" dirty="0">
                <a:solidFill>
                  <a:srgbClr val="059669"/>
                </a:solidFill>
                <a:latin typeface="Georgia" pitchFamily="34" charset="0"/>
                <a:ea typeface="Georgia" pitchFamily="34" charset="-122"/>
                <a:cs typeface="Georgia" pitchFamily="34" charset="-120"/>
              </a:rPr>
              <a:t>0.7812</a:t>
            </a:r>
            <a:endParaRPr lang="en-US" sz="1500" dirty="0"/>
          </a:p>
        </p:txBody>
      </p:sp>
      <p:sp>
        <p:nvSpPr>
          <p:cNvPr id="29" name="Text 27"/>
          <p:cNvSpPr/>
          <p:nvPr/>
        </p:nvSpPr>
        <p:spPr>
          <a:xfrm>
            <a:off x="5715000" y="3456432"/>
            <a:ext cx="1737360" cy="274320"/>
          </a:xfrm>
          <a:prstGeom prst="rect">
            <a:avLst/>
          </a:prstGeom>
          <a:noFill/>
          <a:ln/>
        </p:spPr>
        <p:txBody>
          <a:bodyPr wrap="square" lIns="0" tIns="0" rIns="0" bIns="0"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v44 +0.025</a:t>
            </a:r>
            <a:endParaRPr lang="en-US" sz="950" dirty="0"/>
          </a:p>
        </p:txBody>
      </p:sp>
      <p:sp>
        <p:nvSpPr>
          <p:cNvPr id="30" name="Shape 28"/>
          <p:cNvSpPr/>
          <p:nvPr/>
        </p:nvSpPr>
        <p:spPr>
          <a:xfrm>
            <a:off x="8193024" y="2532888"/>
            <a:ext cx="292608" cy="292608"/>
          </a:xfrm>
          <a:prstGeom prst="ellipse">
            <a:avLst/>
          </a:prstGeom>
          <a:solidFill>
            <a:srgbClr val="D97706"/>
          </a:solidFill>
          <a:ln w="19050">
            <a:solidFill>
              <a:srgbClr val="FFFFFF"/>
            </a:solidFill>
            <a:prstDash val="solid"/>
          </a:ln>
        </p:spPr>
      </p:sp>
      <p:sp>
        <p:nvSpPr>
          <p:cNvPr id="31" name="Text 29"/>
          <p:cNvSpPr/>
          <p:nvPr/>
        </p:nvSpPr>
        <p:spPr>
          <a:xfrm>
            <a:off x="7589520" y="1508760"/>
            <a:ext cx="146304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CLIMAX</a:t>
            </a:r>
            <a:endParaRPr lang="en-US" sz="950" dirty="0"/>
          </a:p>
        </p:txBody>
      </p:sp>
      <p:sp>
        <p:nvSpPr>
          <p:cNvPr id="32" name="Text 30"/>
          <p:cNvSpPr/>
          <p:nvPr/>
        </p:nvSpPr>
        <p:spPr>
          <a:xfrm>
            <a:off x="7589520" y="1783080"/>
            <a:ext cx="146304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v46</a:t>
            </a:r>
            <a:endParaRPr lang="en-US" sz="1300" dirty="0"/>
          </a:p>
        </p:txBody>
      </p:sp>
      <p:sp>
        <p:nvSpPr>
          <p:cNvPr id="33" name="Text 31"/>
          <p:cNvSpPr/>
          <p:nvPr/>
        </p:nvSpPr>
        <p:spPr>
          <a:xfrm>
            <a:off x="7498080" y="2103120"/>
            <a:ext cx="1645920" cy="320040"/>
          </a:xfrm>
          <a:prstGeom prst="rect">
            <a:avLst/>
          </a:prstGeom>
          <a:noFill/>
          <a:ln/>
        </p:spPr>
        <p:txBody>
          <a:bodyPr wrap="square" lIns="0" tIns="0" rIns="0" bIns="0" rtlCol="0" anchor="ctr"/>
          <a:lstStyle/>
          <a:p>
            <a:pPr algn="ctr" indent="0" marL="0">
              <a:buNone/>
            </a:pPr>
            <a:r>
              <a:rPr lang="en-US" sz="1050" i="1" dirty="0">
                <a:solidFill>
                  <a:srgbClr val="64748B"/>
                </a:solidFill>
                <a:latin typeface="Calibri" pitchFamily="34" charset="0"/>
                <a:ea typeface="Calibri" pitchFamily="34" charset="-122"/>
                <a:cs typeface="Calibri" pitchFamily="34" charset="-120"/>
              </a:rPr>
              <a:t>Distillation</a:t>
            </a:r>
            <a:endParaRPr lang="en-US" sz="1050" dirty="0"/>
          </a:p>
        </p:txBody>
      </p:sp>
      <p:sp>
        <p:nvSpPr>
          <p:cNvPr id="34" name="Text 32"/>
          <p:cNvSpPr/>
          <p:nvPr/>
        </p:nvSpPr>
        <p:spPr>
          <a:xfrm>
            <a:off x="7498080" y="3108960"/>
            <a:ext cx="1645920" cy="320040"/>
          </a:xfrm>
          <a:prstGeom prst="rect">
            <a:avLst/>
          </a:prstGeom>
          <a:noFill/>
          <a:ln/>
        </p:spPr>
        <p:txBody>
          <a:bodyPr wrap="square" lIns="0" tIns="0" rIns="0" bIns="0" rtlCol="0" anchor="ctr"/>
          <a:lstStyle/>
          <a:p>
            <a:pPr algn="ctr" indent="0" marL="0">
              <a:buNone/>
            </a:pPr>
            <a:r>
              <a:rPr lang="en-US" sz="1500" b="1" dirty="0">
                <a:solidFill>
                  <a:srgbClr val="D97706"/>
                </a:solidFill>
                <a:latin typeface="Georgia" pitchFamily="34" charset="0"/>
                <a:ea typeface="Georgia" pitchFamily="34" charset="-122"/>
                <a:cs typeface="Georgia" pitchFamily="34" charset="-120"/>
              </a:rPr>
              <a:t>0.8236</a:t>
            </a:r>
            <a:endParaRPr lang="en-US" sz="1500" dirty="0"/>
          </a:p>
        </p:txBody>
      </p:sp>
      <p:sp>
        <p:nvSpPr>
          <p:cNvPr id="35" name="Text 33"/>
          <p:cNvSpPr/>
          <p:nvPr/>
        </p:nvSpPr>
        <p:spPr>
          <a:xfrm>
            <a:off x="7452360" y="3456432"/>
            <a:ext cx="1737360" cy="274320"/>
          </a:xfrm>
          <a:prstGeom prst="rect">
            <a:avLst/>
          </a:prstGeom>
          <a:noFill/>
          <a:ln/>
        </p:spPr>
        <p:txBody>
          <a:bodyPr wrap="square" lIns="0" tIns="0" rIns="0" bIns="0"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v46 #1 on LB</a:t>
            </a:r>
            <a:endParaRPr lang="en-US" sz="950" dirty="0"/>
          </a:p>
        </p:txBody>
      </p:sp>
      <p:sp>
        <p:nvSpPr>
          <p:cNvPr id="36" name="Shape 34"/>
          <p:cNvSpPr/>
          <p:nvPr/>
        </p:nvSpPr>
        <p:spPr>
          <a:xfrm>
            <a:off x="274320" y="4069080"/>
            <a:ext cx="8595360" cy="548640"/>
          </a:xfrm>
          <a:prstGeom prst="rect">
            <a:avLst/>
          </a:prstGeom>
          <a:solidFill>
            <a:srgbClr val="1A3A52"/>
          </a:solidFill>
          <a:ln w="12700">
            <a:solidFill>
              <a:srgbClr val="1A3A52"/>
            </a:solidFill>
            <a:prstDash val="solid"/>
          </a:ln>
        </p:spPr>
      </p:sp>
      <p:sp>
        <p:nvSpPr>
          <p:cNvPr id="37" name="Text 35"/>
          <p:cNvSpPr/>
          <p:nvPr/>
        </p:nvSpPr>
        <p:spPr>
          <a:xfrm>
            <a:off x="457200" y="4114800"/>
            <a:ext cx="8412480" cy="457200"/>
          </a:xfrm>
          <a:prstGeom prst="rect">
            <a:avLst/>
          </a:prstGeom>
          <a:noFill/>
          <a:ln/>
        </p:spPr>
        <p:txBody>
          <a:bodyPr wrap="square" lIns="0" tIns="0" rIns="0" bIns="0" rtlCol="0" anchor="ctr"/>
          <a:lstStyle/>
          <a:p>
            <a:pPr algn="l" indent="0" marL="0">
              <a:buNone/>
            </a:pPr>
            <a:r>
              <a:rPr lang="en-US" sz="1300" i="1" dirty="0">
                <a:solidFill>
                  <a:srgbClr val="FAF7F2"/>
                </a:solidFill>
                <a:latin typeface="Georgia" pitchFamily="34" charset="0"/>
                <a:ea typeface="Georgia" pitchFamily="34" charset="-122"/>
                <a:cs typeface="Georgia" pitchFamily="34" charset="-120"/>
              </a:rPr>
              <a:t>Each act answered a question. Each result changed the next question.</a:t>
            </a:r>
            <a:endParaRPr lang="en-US" sz="1300" dirty="0"/>
          </a:p>
        </p:txBody>
      </p:sp>
      <p:sp>
        <p:nvSpPr>
          <p:cNvPr id="38" name="Text 36"/>
          <p:cNvSpPr/>
          <p:nvPr/>
        </p:nvSpPr>
        <p:spPr>
          <a:xfrm>
            <a:off x="274320" y="4864608"/>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Multimodal Cancer Cell Classification  ·  Uppsala 1MD042 A3</a:t>
            </a:r>
            <a:endParaRPr lang="en-US" sz="900" dirty="0"/>
          </a:p>
        </p:txBody>
      </p:sp>
      <p:sp>
        <p:nvSpPr>
          <p:cNvPr id="39" name="Text 37"/>
          <p:cNvSpPr/>
          <p:nvPr/>
        </p:nvSpPr>
        <p:spPr>
          <a:xfrm>
            <a:off x="7772400" y="4864608"/>
            <a:ext cx="109728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274320" y="274320"/>
            <a:ext cx="164592" cy="164592"/>
          </a:xfrm>
          <a:prstGeom prst="ellipse">
            <a:avLst/>
          </a:prstGeom>
          <a:solidFill>
            <a:srgbClr val="0D9488"/>
          </a:solidFill>
          <a:ln w="12700">
            <a:solidFill>
              <a:srgbClr val="0D9488"/>
            </a:solidFill>
            <a:prstDash val="solid"/>
          </a:ln>
        </p:spPr>
      </p:sp>
      <p:sp>
        <p:nvSpPr>
          <p:cNvPr id="3" name="Text 1"/>
          <p:cNvSpPr/>
          <p:nvPr/>
        </p:nvSpPr>
        <p:spPr>
          <a:xfrm>
            <a:off x="566928" y="274320"/>
            <a:ext cx="8229600" cy="274320"/>
          </a:xfrm>
          <a:prstGeom prst="rect">
            <a:avLst/>
          </a:prstGeom>
          <a:noFill/>
          <a:ln/>
        </p:spPr>
        <p:txBody>
          <a:bodyPr wrap="square" lIns="0" tIns="0" rIns="0" bIns="0" rtlCol="0" anchor="ctr"/>
          <a:lstStyle/>
          <a:p>
            <a:pPr indent="0" marL="0">
              <a:buNone/>
            </a:pPr>
            <a:r>
              <a:rPr lang="en-US" sz="1050" b="1" spc="400" kern="0" dirty="0">
                <a:solidFill>
                  <a:srgbClr val="0D9488"/>
                </a:solidFill>
                <a:latin typeface="Calibri" pitchFamily="34" charset="0"/>
                <a:ea typeface="Calibri" pitchFamily="34" charset="-122"/>
                <a:cs typeface="Calibri" pitchFamily="34" charset="-120"/>
              </a:rPr>
              <a:t>ACT 1+2  ·  THE AMBITION</a:t>
            </a:r>
            <a:endParaRPr lang="en-US" sz="1050" dirty="0"/>
          </a:p>
        </p:txBody>
      </p:sp>
      <p:sp>
        <p:nvSpPr>
          <p:cNvPr id="4" name="Text 2"/>
          <p:cNvSpPr/>
          <p:nvPr/>
        </p:nvSpPr>
        <p:spPr>
          <a:xfrm>
            <a:off x="274320" y="594360"/>
            <a:ext cx="8595360" cy="777240"/>
          </a:xfrm>
          <a:prstGeom prst="rect">
            <a:avLst/>
          </a:prstGeom>
          <a:noFill/>
          <a:ln/>
        </p:spPr>
        <p:txBody>
          <a:bodyPr wrap="square" lIns="0" tIns="0" rIns="0" bIns="0" rtlCol="0" anchor="ctr"/>
          <a:lstStyle/>
          <a:p>
            <a:pPr indent="0" marL="0">
              <a:buNone/>
            </a:pPr>
            <a:r>
              <a:rPr lang="en-US" sz="2800" b="1" dirty="0">
                <a:solidFill>
                  <a:srgbClr val="1A3A52"/>
                </a:solidFill>
                <a:latin typeface="Georgia" pitchFamily="34" charset="0"/>
                <a:ea typeface="Georgia" pitchFamily="34" charset="-122"/>
                <a:cs typeface="Georgia" pitchFamily="34" charset="-120"/>
              </a:rPr>
              <a:t>v15 / v16: SSL had the best CV — and the worst LB</a:t>
            </a:r>
            <a:endParaRPr lang="en-US" sz="2800" dirty="0"/>
          </a:p>
        </p:txBody>
      </p:sp>
      <p:sp>
        <p:nvSpPr>
          <p:cNvPr id="5" name="Text 3"/>
          <p:cNvSpPr/>
          <p:nvPr/>
        </p:nvSpPr>
        <p:spPr>
          <a:xfrm>
            <a:off x="365760" y="1417320"/>
            <a:ext cx="4389120" cy="274320"/>
          </a:xfrm>
          <a:prstGeom prst="rect">
            <a:avLst/>
          </a:prstGeom>
          <a:noFill/>
          <a:ln/>
        </p:spPr>
        <p:txBody>
          <a:bodyPr wrap="square" lIns="0" tIns="0" rIns="0" bIns="0" rtlCol="0" anchor="ctr"/>
          <a:lstStyle/>
          <a:p>
            <a:pPr indent="0" marL="0">
              <a:buNone/>
            </a:pPr>
            <a:r>
              <a:rPr lang="en-US" sz="1150" b="1" spc="200" kern="0" dirty="0">
                <a:solidFill>
                  <a:srgbClr val="0D9488"/>
                </a:solidFill>
                <a:latin typeface="Calibri" pitchFamily="34" charset="0"/>
                <a:ea typeface="Calibri" pitchFamily="34" charset="-122"/>
                <a:cs typeface="Calibri" pitchFamily="34" charset="-120"/>
              </a:rPr>
              <a:t>What we built</a:t>
            </a:r>
            <a:endParaRPr lang="en-US" sz="1150" dirty="0"/>
          </a:p>
        </p:txBody>
      </p:sp>
      <p:sp>
        <p:nvSpPr>
          <p:cNvPr id="6" name="Text 4"/>
          <p:cNvSpPr/>
          <p:nvPr/>
        </p:nvSpPr>
        <p:spPr>
          <a:xfrm>
            <a:off x="365760" y="1737360"/>
            <a:ext cx="4389120" cy="219456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4155"/>
                </a:solidFill>
                <a:latin typeface="Calibri" pitchFamily="34" charset="0"/>
                <a:ea typeface="Calibri" pitchFamily="34" charset="-122"/>
                <a:cs typeface="Calibri" pitchFamily="34" charset="-120"/>
              </a:rPr>
              <a:t>Two ResNet-18 branches (BF + FL) with projection heads</a:t>
            </a:r>
            <a:endParaRPr lang="en-US" sz="1300" dirty="0"/>
          </a:p>
          <a:p>
            <a:pPr marL="342900" indent="-342900">
              <a:spcAft>
                <a:spcPts val="800"/>
              </a:spcAft>
              <a:buSzPct val="100000"/>
              <a:buChar char="•"/>
            </a:pPr>
            <a:r>
              <a:rPr lang="en-US" sz="1300" dirty="0">
                <a:solidFill>
                  <a:srgbClr val="334155"/>
                </a:solidFill>
                <a:latin typeface="Calibri" pitchFamily="34" charset="0"/>
                <a:ea typeface="Calibri" pitchFamily="34" charset="-122"/>
                <a:cs typeface="Calibri" pitchFamily="34" charset="-120"/>
              </a:rPr>
              <a:t>CoMIR-style cross-modal contrastive SSL (NT-Xent, τ=0.1)</a:t>
            </a:r>
            <a:endParaRPr lang="en-US" sz="1300" dirty="0"/>
          </a:p>
          <a:p>
            <a:pPr marL="342900" indent="-342900">
              <a:spcAft>
                <a:spcPts val="800"/>
              </a:spcAft>
              <a:buSzPct val="100000"/>
              <a:buChar char="•"/>
            </a:pPr>
            <a:r>
              <a:rPr lang="en-US" sz="1300" dirty="0">
                <a:solidFill>
                  <a:srgbClr val="334155"/>
                </a:solidFill>
                <a:latin typeface="Calibri" pitchFamily="34" charset="0"/>
                <a:ea typeface="Calibri" pitchFamily="34" charset="-122"/>
                <a:cs typeface="Calibri" pitchFamily="34" charset="-120"/>
              </a:rPr>
              <a:t>Supervised stage with discriminative LR (1:10 backbone:head)</a:t>
            </a:r>
            <a:endParaRPr lang="en-US" sz="1300" dirty="0"/>
          </a:p>
          <a:p>
            <a:pPr marL="342900" indent="-342900">
              <a:spcAft>
                <a:spcPts val="800"/>
              </a:spcAft>
              <a:buSzPct val="100000"/>
              <a:buChar char="•"/>
            </a:pPr>
            <a:r>
              <a:rPr lang="en-US" sz="1300" dirty="0">
                <a:solidFill>
                  <a:srgbClr val="B91C1C"/>
                </a:solidFill>
                <a:latin typeface="Calibri" pitchFamily="34" charset="0"/>
                <a:ea typeface="Calibri" pitchFamily="34" charset="-122"/>
                <a:cs typeface="Calibri" pitchFamily="34" charset="-120"/>
              </a:rPr>
              <a:t>3-fold stratified-group cross-validation</a:t>
            </a:r>
            <a:endParaRPr lang="en-US" sz="1300" dirty="0"/>
          </a:p>
        </p:txBody>
      </p:sp>
      <p:sp>
        <p:nvSpPr>
          <p:cNvPr id="7" name="Text 5"/>
          <p:cNvSpPr/>
          <p:nvPr/>
        </p:nvSpPr>
        <p:spPr>
          <a:xfrm>
            <a:off x="5029200" y="1417320"/>
            <a:ext cx="3840480" cy="274320"/>
          </a:xfrm>
          <a:prstGeom prst="rect">
            <a:avLst/>
          </a:prstGeom>
          <a:noFill/>
          <a:ln/>
        </p:spPr>
        <p:txBody>
          <a:bodyPr wrap="square" lIns="0" tIns="0" rIns="0" bIns="0" rtlCol="0" anchor="ctr"/>
          <a:lstStyle/>
          <a:p>
            <a:pPr indent="0" marL="0">
              <a:buNone/>
            </a:pPr>
            <a:r>
              <a:rPr lang="en-US" sz="1150" b="1" spc="200" kern="0" dirty="0">
                <a:solidFill>
                  <a:srgbClr val="0D9488"/>
                </a:solidFill>
                <a:latin typeface="Calibri" pitchFamily="34" charset="0"/>
                <a:ea typeface="Calibri" pitchFamily="34" charset="-122"/>
                <a:cs typeface="Calibri" pitchFamily="34" charset="-120"/>
              </a:rPr>
              <a:t>Then the leaderboard arrived</a:t>
            </a:r>
            <a:endParaRPr lang="en-US" sz="1150" dirty="0"/>
          </a:p>
        </p:txBody>
      </p:sp>
      <p:sp>
        <p:nvSpPr>
          <p:cNvPr id="8" name="Shape 6"/>
          <p:cNvSpPr/>
          <p:nvPr/>
        </p:nvSpPr>
        <p:spPr>
          <a:xfrm>
            <a:off x="5029200" y="1783080"/>
            <a:ext cx="3840480" cy="10058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9" name="Shape 7"/>
          <p:cNvSpPr/>
          <p:nvPr/>
        </p:nvSpPr>
        <p:spPr>
          <a:xfrm>
            <a:off x="5029200" y="1783080"/>
            <a:ext cx="64008" cy="1005840"/>
          </a:xfrm>
          <a:prstGeom prst="rect">
            <a:avLst/>
          </a:prstGeom>
          <a:solidFill>
            <a:srgbClr val="0D9488"/>
          </a:solidFill>
          <a:ln w="12700">
            <a:solidFill>
              <a:srgbClr val="0D9488"/>
            </a:solidFill>
            <a:prstDash val="solid"/>
          </a:ln>
        </p:spPr>
      </p:sp>
      <p:sp>
        <p:nvSpPr>
          <p:cNvPr id="10" name="Text 8"/>
          <p:cNvSpPr/>
          <p:nvPr/>
        </p:nvSpPr>
        <p:spPr>
          <a:xfrm>
            <a:off x="5230368" y="1874520"/>
            <a:ext cx="3566160" cy="502920"/>
          </a:xfrm>
          <a:prstGeom prst="rect">
            <a:avLst/>
          </a:prstGeom>
          <a:noFill/>
          <a:ln/>
        </p:spPr>
        <p:txBody>
          <a:bodyPr wrap="square" lIns="0" tIns="0" rIns="0" bIns="0" rtlCol="0" anchor="t"/>
          <a:lstStyle/>
          <a:p>
            <a:pPr algn="l" indent="0" marL="0">
              <a:buNone/>
            </a:pPr>
            <a:r>
              <a:rPr lang="en-US" sz="2800" b="1" dirty="0">
                <a:solidFill>
                  <a:srgbClr val="059669"/>
                </a:solidFill>
                <a:latin typeface="Georgia" pitchFamily="34" charset="0"/>
                <a:ea typeface="Georgia" pitchFamily="34" charset="-122"/>
                <a:cs typeface="Georgia" pitchFamily="34" charset="-120"/>
              </a:rPr>
              <a:t>0.866 CV AUC</a:t>
            </a:r>
            <a:endParaRPr lang="en-US" sz="2800" dirty="0"/>
          </a:p>
        </p:txBody>
      </p:sp>
      <p:sp>
        <p:nvSpPr>
          <p:cNvPr id="11" name="Text 9"/>
          <p:cNvSpPr/>
          <p:nvPr/>
        </p:nvSpPr>
        <p:spPr>
          <a:xfrm>
            <a:off x="5230368" y="2336292"/>
            <a:ext cx="3566160" cy="402336"/>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best we'd ever seen</a:t>
            </a:r>
            <a:endParaRPr lang="en-US" sz="1050" dirty="0"/>
          </a:p>
        </p:txBody>
      </p:sp>
      <p:sp>
        <p:nvSpPr>
          <p:cNvPr id="12" name="Shape 10"/>
          <p:cNvSpPr/>
          <p:nvPr/>
        </p:nvSpPr>
        <p:spPr>
          <a:xfrm>
            <a:off x="5029200" y="2880360"/>
            <a:ext cx="3840480" cy="10058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13" name="Shape 11"/>
          <p:cNvSpPr/>
          <p:nvPr/>
        </p:nvSpPr>
        <p:spPr>
          <a:xfrm>
            <a:off x="5029200" y="2880360"/>
            <a:ext cx="64008" cy="1005840"/>
          </a:xfrm>
          <a:prstGeom prst="rect">
            <a:avLst/>
          </a:prstGeom>
          <a:solidFill>
            <a:srgbClr val="0D9488"/>
          </a:solidFill>
          <a:ln w="12700">
            <a:solidFill>
              <a:srgbClr val="0D9488"/>
            </a:solidFill>
            <a:prstDash val="solid"/>
          </a:ln>
        </p:spPr>
      </p:sp>
      <p:sp>
        <p:nvSpPr>
          <p:cNvPr id="14" name="Text 12"/>
          <p:cNvSpPr/>
          <p:nvPr/>
        </p:nvSpPr>
        <p:spPr>
          <a:xfrm>
            <a:off x="5230368" y="2971800"/>
            <a:ext cx="3566160" cy="502920"/>
          </a:xfrm>
          <a:prstGeom prst="rect">
            <a:avLst/>
          </a:prstGeom>
          <a:noFill/>
          <a:ln/>
        </p:spPr>
        <p:txBody>
          <a:bodyPr wrap="square" lIns="0" tIns="0" rIns="0" bIns="0" rtlCol="0" anchor="t"/>
          <a:lstStyle/>
          <a:p>
            <a:pPr algn="l" indent="0" marL="0">
              <a:buNone/>
            </a:pPr>
            <a:r>
              <a:rPr lang="en-US" sz="2800" b="1" dirty="0">
                <a:solidFill>
                  <a:srgbClr val="B91C1C"/>
                </a:solidFill>
                <a:latin typeface="Georgia" pitchFamily="34" charset="0"/>
                <a:ea typeface="Georgia" pitchFamily="34" charset="-122"/>
                <a:cs typeface="Georgia" pitchFamily="34" charset="-120"/>
              </a:rPr>
              <a:t>0.572 LB</a:t>
            </a:r>
            <a:endParaRPr lang="en-US" sz="2800" dirty="0"/>
          </a:p>
        </p:txBody>
      </p:sp>
      <p:sp>
        <p:nvSpPr>
          <p:cNvPr id="15" name="Text 13"/>
          <p:cNvSpPr/>
          <p:nvPr/>
        </p:nvSpPr>
        <p:spPr>
          <a:xfrm>
            <a:off x="5230368" y="3433572"/>
            <a:ext cx="3566160" cy="402336"/>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near random — patient shortcut</a:t>
            </a:r>
            <a:endParaRPr lang="en-US" sz="1050" dirty="0"/>
          </a:p>
        </p:txBody>
      </p:sp>
      <p:sp>
        <p:nvSpPr>
          <p:cNvPr id="16" name="Text 14"/>
          <p:cNvSpPr/>
          <p:nvPr/>
        </p:nvSpPr>
        <p:spPr>
          <a:xfrm>
            <a:off x="365760" y="4114800"/>
            <a:ext cx="8503920" cy="457200"/>
          </a:xfrm>
          <a:prstGeom prst="rect">
            <a:avLst/>
          </a:prstGeom>
          <a:noFill/>
          <a:ln/>
        </p:spPr>
        <p:txBody>
          <a:bodyPr wrap="square" lIns="0" tIns="0" rIns="0" bIns="0" rtlCol="0" anchor="ctr"/>
          <a:lstStyle/>
          <a:p>
            <a:pPr indent="0" marL="0">
              <a:buNone/>
            </a:pPr>
            <a:r>
              <a:rPr lang="en-US" sz="1150" i="1" dirty="0">
                <a:solidFill>
                  <a:srgbClr val="D97706"/>
                </a:solidFill>
                <a:latin typeface="Calibri" pitchFamily="34" charset="0"/>
                <a:ea typeface="Calibri" pitchFamily="34" charset="-122"/>
                <a:cs typeface="Calibri" pitchFamily="34" charset="-120"/>
              </a:rPr>
              <a:t>Diagnosis: contrastive task could be solved by encoding patient identity (≥95% accuracy) — backbone learned the shortcut.</a:t>
            </a:r>
            <a:endParaRPr lang="en-US" sz="1150" dirty="0"/>
          </a:p>
        </p:txBody>
      </p:sp>
      <p:sp>
        <p:nvSpPr>
          <p:cNvPr id="17" name="Text 15"/>
          <p:cNvSpPr/>
          <p:nvPr/>
        </p:nvSpPr>
        <p:spPr>
          <a:xfrm>
            <a:off x="274320" y="4864608"/>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Multimodal Cancer Cell Classification  ·  Uppsala 1MD042 A3</a:t>
            </a:r>
            <a:endParaRPr lang="en-US" sz="900" dirty="0"/>
          </a:p>
        </p:txBody>
      </p:sp>
      <p:sp>
        <p:nvSpPr>
          <p:cNvPr id="18" name="Text 16"/>
          <p:cNvSpPr/>
          <p:nvPr/>
        </p:nvSpPr>
        <p:spPr>
          <a:xfrm>
            <a:off x="7772400" y="4864608"/>
            <a:ext cx="109728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274320" y="274320"/>
            <a:ext cx="164592" cy="164592"/>
          </a:xfrm>
          <a:prstGeom prst="ellipse">
            <a:avLst/>
          </a:prstGeom>
          <a:solidFill>
            <a:srgbClr val="0D9488"/>
          </a:solidFill>
          <a:ln w="12700">
            <a:solidFill>
              <a:srgbClr val="0D9488"/>
            </a:solidFill>
            <a:prstDash val="solid"/>
          </a:ln>
        </p:spPr>
      </p:sp>
      <p:sp>
        <p:nvSpPr>
          <p:cNvPr id="3" name="Text 1"/>
          <p:cNvSpPr/>
          <p:nvPr/>
        </p:nvSpPr>
        <p:spPr>
          <a:xfrm>
            <a:off x="566928" y="274320"/>
            <a:ext cx="8229600" cy="274320"/>
          </a:xfrm>
          <a:prstGeom prst="rect">
            <a:avLst/>
          </a:prstGeom>
          <a:noFill/>
          <a:ln/>
        </p:spPr>
        <p:txBody>
          <a:bodyPr wrap="square" lIns="0" tIns="0" rIns="0" bIns="0" rtlCol="0" anchor="ctr"/>
          <a:lstStyle/>
          <a:p>
            <a:pPr indent="0" marL="0">
              <a:buNone/>
            </a:pPr>
            <a:r>
              <a:rPr lang="en-US" sz="1050" b="1" spc="400" kern="0" dirty="0">
                <a:solidFill>
                  <a:srgbClr val="0D9488"/>
                </a:solidFill>
                <a:latin typeface="Calibri" pitchFamily="34" charset="0"/>
                <a:ea typeface="Calibri" pitchFamily="34" charset="-122"/>
                <a:cs typeface="Calibri" pitchFamily="34" charset="-120"/>
              </a:rPr>
              <a:t>ACT 3  ·  THE PIVOT</a:t>
            </a:r>
            <a:endParaRPr lang="en-US" sz="1050" dirty="0"/>
          </a:p>
        </p:txBody>
      </p:sp>
      <p:sp>
        <p:nvSpPr>
          <p:cNvPr id="4" name="Text 2"/>
          <p:cNvSpPr/>
          <p:nvPr/>
        </p:nvSpPr>
        <p:spPr>
          <a:xfrm>
            <a:off x="274320" y="594360"/>
            <a:ext cx="8595360" cy="777240"/>
          </a:xfrm>
          <a:prstGeom prst="rect">
            <a:avLst/>
          </a:prstGeom>
          <a:noFill/>
          <a:ln/>
        </p:spPr>
        <p:txBody>
          <a:bodyPr wrap="square" lIns="0" tIns="0" rIns="0" bIns="0" rtlCol="0" anchor="ctr"/>
          <a:lstStyle/>
          <a:p>
            <a:pPr indent="0" marL="0">
              <a:buNone/>
            </a:pPr>
            <a:r>
              <a:rPr lang="en-US" sz="2800" b="1" dirty="0">
                <a:solidFill>
                  <a:srgbClr val="1A3A52"/>
                </a:solidFill>
                <a:latin typeface="Georgia" pitchFamily="34" charset="0"/>
                <a:ea typeface="Georgia" pitchFamily="34" charset="-122"/>
                <a:cs typeface="Georgia" pitchFamily="34" charset="-120"/>
              </a:rPr>
              <a:t>Strip back to EffNet-B0 fundamentals</a:t>
            </a:r>
            <a:endParaRPr lang="en-US" sz="2800" dirty="0"/>
          </a:p>
        </p:txBody>
      </p:sp>
      <p:sp>
        <p:nvSpPr>
          <p:cNvPr id="5" name="Shape 3"/>
          <p:cNvSpPr/>
          <p:nvPr/>
        </p:nvSpPr>
        <p:spPr>
          <a:xfrm>
            <a:off x="5669280" y="1463040"/>
            <a:ext cx="3154680" cy="164592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6" name="Shape 4"/>
          <p:cNvSpPr/>
          <p:nvPr/>
        </p:nvSpPr>
        <p:spPr>
          <a:xfrm>
            <a:off x="5669280" y="1463040"/>
            <a:ext cx="64008" cy="1645920"/>
          </a:xfrm>
          <a:prstGeom prst="rect">
            <a:avLst/>
          </a:prstGeom>
          <a:solidFill>
            <a:srgbClr val="0D9488"/>
          </a:solidFill>
          <a:ln w="12700">
            <a:solidFill>
              <a:srgbClr val="0D9488"/>
            </a:solidFill>
            <a:prstDash val="solid"/>
          </a:ln>
        </p:spPr>
      </p:sp>
      <p:sp>
        <p:nvSpPr>
          <p:cNvPr id="7" name="Text 5"/>
          <p:cNvSpPr/>
          <p:nvPr/>
        </p:nvSpPr>
        <p:spPr>
          <a:xfrm>
            <a:off x="5870448" y="1554480"/>
            <a:ext cx="2880360" cy="822960"/>
          </a:xfrm>
          <a:prstGeom prst="rect">
            <a:avLst/>
          </a:prstGeom>
          <a:noFill/>
          <a:ln/>
        </p:spPr>
        <p:txBody>
          <a:bodyPr wrap="square" lIns="0" tIns="0" rIns="0" bIns="0" rtlCol="0" anchor="t"/>
          <a:lstStyle/>
          <a:p>
            <a:pPr algn="l" indent="0" marL="0">
              <a:buNone/>
            </a:pPr>
            <a:r>
              <a:rPr lang="en-US" sz="2800" b="1" dirty="0">
                <a:solidFill>
                  <a:srgbClr val="059669"/>
                </a:solidFill>
                <a:latin typeface="Georgia" pitchFamily="34" charset="0"/>
                <a:ea typeface="Georgia" pitchFamily="34" charset="-122"/>
                <a:cs typeface="Georgia" pitchFamily="34" charset="-120"/>
              </a:rPr>
              <a:t>0.7455</a:t>
            </a:r>
            <a:endParaRPr lang="en-US" sz="2800" dirty="0"/>
          </a:p>
        </p:txBody>
      </p:sp>
      <p:sp>
        <p:nvSpPr>
          <p:cNvPr id="8" name="Text 6"/>
          <p:cNvSpPr/>
          <p:nvPr/>
        </p:nvSpPr>
        <p:spPr>
          <a:xfrm>
            <a:off x="5870448" y="2368296"/>
            <a:ext cx="2880360" cy="658368"/>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v19 public LB — our new floor</a:t>
            </a:r>
            <a:endParaRPr lang="en-US" sz="1050" dirty="0"/>
          </a:p>
        </p:txBody>
      </p:sp>
      <p:sp>
        <p:nvSpPr>
          <p:cNvPr id="9" name="Text 7"/>
          <p:cNvSpPr/>
          <p:nvPr/>
        </p:nvSpPr>
        <p:spPr>
          <a:xfrm>
            <a:off x="365760" y="1463040"/>
            <a:ext cx="5029200" cy="292608"/>
          </a:xfrm>
          <a:prstGeom prst="rect">
            <a:avLst/>
          </a:prstGeom>
          <a:noFill/>
          <a:ln/>
        </p:spPr>
        <p:txBody>
          <a:bodyPr wrap="square" lIns="0" tIns="0" rIns="0" bIns="0" rtlCol="0" anchor="ctr"/>
          <a:lstStyle/>
          <a:p>
            <a:pPr indent="0" marL="0">
              <a:buNone/>
            </a:pPr>
            <a:r>
              <a:rPr lang="en-US" sz="1200" b="1" spc="200" kern="0" dirty="0">
                <a:solidFill>
                  <a:srgbClr val="0D9488"/>
                </a:solidFill>
                <a:latin typeface="Calibri" pitchFamily="34" charset="0"/>
                <a:ea typeface="Calibri" pitchFamily="34" charset="-122"/>
                <a:cs typeface="Calibri" pitchFamily="34" charset="-120"/>
              </a:rPr>
              <a:t>Five ingredients in v19:</a:t>
            </a:r>
            <a:endParaRPr lang="en-US" sz="1200" dirty="0"/>
          </a:p>
        </p:txBody>
      </p:sp>
      <p:sp>
        <p:nvSpPr>
          <p:cNvPr id="10" name="Text 8"/>
          <p:cNvSpPr/>
          <p:nvPr/>
        </p:nvSpPr>
        <p:spPr>
          <a:xfrm>
            <a:off x="365760" y="1828800"/>
            <a:ext cx="5029200" cy="228600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334155"/>
                </a:solidFill>
                <a:latin typeface="Calibri" pitchFamily="34" charset="0"/>
                <a:ea typeface="Calibri" pitchFamily="34" charset="-122"/>
                <a:cs typeface="Calibri" pitchFamily="34" charset="-120"/>
              </a:rPr>
              <a:t>EfficientNet-B0 dual-branch (BF + FL), late concat fusion</a:t>
            </a:r>
            <a:endParaRPr lang="en-US" sz="1200" dirty="0"/>
          </a:p>
          <a:p>
            <a:pPr marL="342900" indent="-342900">
              <a:spcAft>
                <a:spcPts val="800"/>
              </a:spcAft>
              <a:buSzPct val="100000"/>
              <a:buChar char="•"/>
            </a:pPr>
            <a:r>
              <a:rPr lang="en-US" sz="1200" dirty="0">
                <a:solidFill>
                  <a:srgbClr val="334155"/>
                </a:solidFill>
                <a:latin typeface="Calibri" pitchFamily="34" charset="0"/>
                <a:ea typeface="Calibri" pitchFamily="34" charset="-122"/>
                <a:cs typeface="Calibri" pitchFamily="34" charset="-120"/>
              </a:rPr>
              <a:t>Per-patient MIL auxiliary loss (mean-logit BCE, weight 0.5)</a:t>
            </a:r>
            <a:endParaRPr lang="en-US" sz="1200" dirty="0"/>
          </a:p>
          <a:p>
            <a:pPr marL="342900" indent="-342900">
              <a:spcAft>
                <a:spcPts val="800"/>
              </a:spcAft>
              <a:buSzPct val="100000"/>
              <a:buChar char="•"/>
            </a:pPr>
            <a:r>
              <a:rPr lang="en-US" sz="1200" dirty="0">
                <a:solidFill>
                  <a:srgbClr val="334155"/>
                </a:solidFill>
                <a:latin typeface="Calibri" pitchFamily="34" charset="0"/>
                <a:ea typeface="Calibri" pitchFamily="34" charset="-122"/>
                <a:cs typeface="Calibri" pitchFamily="34" charset="-120"/>
              </a:rPr>
              <a:t>AdaBN test-time BN refresh + test-set stain normalization</a:t>
            </a:r>
            <a:endParaRPr lang="en-US" sz="1200" dirty="0"/>
          </a:p>
          <a:p>
            <a:pPr marL="342900" indent="-342900">
              <a:spcAft>
                <a:spcPts val="800"/>
              </a:spcAft>
              <a:buSzPct val="100000"/>
              <a:buChar char="•"/>
            </a:pPr>
            <a:r>
              <a:rPr lang="en-US" sz="1200" dirty="0">
                <a:solidFill>
                  <a:srgbClr val="334155"/>
                </a:solidFill>
                <a:latin typeface="Calibri" pitchFamily="34" charset="0"/>
                <a:ea typeface="Calibri" pitchFamily="34" charset="-122"/>
                <a:cs typeface="Calibri" pitchFamily="34" charset="-120"/>
              </a:rPr>
              <a:t>Strong augmentation + RandomErasing (p=0.25)</a:t>
            </a:r>
            <a:endParaRPr lang="en-US" sz="1200" dirty="0"/>
          </a:p>
          <a:p>
            <a:pPr marL="342900" indent="-342900">
              <a:spcAft>
                <a:spcPts val="800"/>
              </a:spcAft>
              <a:buSzPct val="100000"/>
              <a:buChar char="•"/>
            </a:pPr>
            <a:r>
              <a:rPr lang="en-US" sz="1200" dirty="0">
                <a:solidFill>
                  <a:srgbClr val="334155"/>
                </a:solidFill>
                <a:latin typeface="Calibri" pitchFamily="34" charset="0"/>
                <a:ea typeface="Calibri" pitchFamily="34" charset="-122"/>
                <a:cs typeface="Calibri" pitchFamily="34" charset="-120"/>
              </a:rPr>
              <a:t>8-way D4 group test-time augmentation</a:t>
            </a:r>
            <a:endParaRPr lang="en-US" sz="1200" dirty="0"/>
          </a:p>
        </p:txBody>
      </p:sp>
      <p:sp>
        <p:nvSpPr>
          <p:cNvPr id="11" name="Shape 9"/>
          <p:cNvSpPr/>
          <p:nvPr/>
        </p:nvSpPr>
        <p:spPr>
          <a:xfrm>
            <a:off x="5669280" y="3246120"/>
            <a:ext cx="3154680" cy="82296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12" name="Shape 10"/>
          <p:cNvSpPr/>
          <p:nvPr/>
        </p:nvSpPr>
        <p:spPr>
          <a:xfrm>
            <a:off x="5669280" y="3246120"/>
            <a:ext cx="64008" cy="822960"/>
          </a:xfrm>
          <a:prstGeom prst="rect">
            <a:avLst/>
          </a:prstGeom>
          <a:solidFill>
            <a:srgbClr val="0D9488"/>
          </a:solidFill>
          <a:ln w="12700">
            <a:solidFill>
              <a:srgbClr val="0D9488"/>
            </a:solidFill>
            <a:prstDash val="solid"/>
          </a:ln>
        </p:spPr>
      </p:sp>
      <p:sp>
        <p:nvSpPr>
          <p:cNvPr id="13" name="Text 11"/>
          <p:cNvSpPr/>
          <p:nvPr/>
        </p:nvSpPr>
        <p:spPr>
          <a:xfrm>
            <a:off x="5870448" y="3337560"/>
            <a:ext cx="2880360" cy="411480"/>
          </a:xfrm>
          <a:prstGeom prst="rect">
            <a:avLst/>
          </a:prstGeom>
          <a:noFill/>
          <a:ln/>
        </p:spPr>
        <p:txBody>
          <a:bodyPr wrap="square" lIns="0" tIns="0" rIns="0" bIns="0" rtlCol="0" anchor="t"/>
          <a:lstStyle/>
          <a:p>
            <a:pPr algn="l" indent="0" marL="0">
              <a:buNone/>
            </a:pPr>
            <a:r>
              <a:rPr lang="en-US" sz="2800" b="1" dirty="0">
                <a:solidFill>
                  <a:srgbClr val="D97706"/>
                </a:solidFill>
                <a:latin typeface="Georgia" pitchFamily="34" charset="0"/>
                <a:ea typeface="Georgia" pitchFamily="34" charset="-122"/>
                <a:cs typeface="Georgia" pitchFamily="34" charset="-120"/>
              </a:rPr>
              <a:t>+0.29 LB</a:t>
            </a:r>
            <a:endParaRPr lang="en-US" sz="2800" dirty="0"/>
          </a:p>
        </p:txBody>
      </p:sp>
      <p:sp>
        <p:nvSpPr>
          <p:cNvPr id="14" name="Text 12"/>
          <p:cNvSpPr/>
          <p:nvPr/>
        </p:nvSpPr>
        <p:spPr>
          <a:xfrm>
            <a:off x="5870448" y="3698748"/>
            <a:ext cx="2880360" cy="329184"/>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vs v15 SSL collapse</a:t>
            </a:r>
            <a:endParaRPr lang="en-US" sz="1050" dirty="0"/>
          </a:p>
        </p:txBody>
      </p:sp>
      <p:sp>
        <p:nvSpPr>
          <p:cNvPr id="15" name="Shape 13"/>
          <p:cNvSpPr/>
          <p:nvPr/>
        </p:nvSpPr>
        <p:spPr>
          <a:xfrm>
            <a:off x="274320" y="4251960"/>
            <a:ext cx="8595360" cy="384048"/>
          </a:xfrm>
          <a:prstGeom prst="rect">
            <a:avLst/>
          </a:prstGeom>
          <a:solidFill>
            <a:srgbClr val="1A3A52"/>
          </a:solidFill>
          <a:ln w="12700">
            <a:solidFill>
              <a:srgbClr val="1A3A52"/>
            </a:solidFill>
            <a:prstDash val="solid"/>
          </a:ln>
        </p:spPr>
      </p:sp>
      <p:sp>
        <p:nvSpPr>
          <p:cNvPr id="16" name="Text 14"/>
          <p:cNvSpPr/>
          <p:nvPr/>
        </p:nvSpPr>
        <p:spPr>
          <a:xfrm>
            <a:off x="457200" y="4279392"/>
            <a:ext cx="8412480" cy="347472"/>
          </a:xfrm>
          <a:prstGeom prst="rect">
            <a:avLst/>
          </a:prstGeom>
          <a:noFill/>
          <a:ln/>
        </p:spPr>
        <p:txBody>
          <a:bodyPr wrap="square" lIns="0" tIns="0" rIns="0" bIns="0" rtlCol="0" anchor="ctr"/>
          <a:lstStyle/>
          <a:p>
            <a:pPr algn="l" indent="0" marL="0">
              <a:buNone/>
            </a:pPr>
            <a:r>
              <a:rPr lang="en-US" sz="1150" i="1" dirty="0">
                <a:solidFill>
                  <a:srgbClr val="FAF7F2"/>
                </a:solidFill>
                <a:latin typeface="Calibri" pitchFamily="34" charset="0"/>
                <a:ea typeface="Calibri" pitchFamily="34" charset="-122"/>
                <a:cs typeface="Calibri" pitchFamily="34" charset="-120"/>
              </a:rPr>
              <a:t>Lesson: simpler + OOD-aware (AdaBN, stain norm) beats elaborate SSL on patient-grouped data.</a:t>
            </a:r>
            <a:endParaRPr lang="en-US" sz="1150" dirty="0"/>
          </a:p>
        </p:txBody>
      </p:sp>
      <p:sp>
        <p:nvSpPr>
          <p:cNvPr id="17" name="Text 15"/>
          <p:cNvSpPr/>
          <p:nvPr/>
        </p:nvSpPr>
        <p:spPr>
          <a:xfrm>
            <a:off x="274320" y="4864608"/>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Multimodal Cancer Cell Classification  ·  Uppsala 1MD042 A3</a:t>
            </a:r>
            <a:endParaRPr lang="en-US" sz="900" dirty="0"/>
          </a:p>
        </p:txBody>
      </p:sp>
      <p:sp>
        <p:nvSpPr>
          <p:cNvPr id="18" name="Text 16"/>
          <p:cNvSpPr/>
          <p:nvPr/>
        </p:nvSpPr>
        <p:spPr>
          <a:xfrm>
            <a:off x="7772400" y="4864608"/>
            <a:ext cx="109728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274320" y="274320"/>
            <a:ext cx="164592" cy="164592"/>
          </a:xfrm>
          <a:prstGeom prst="ellipse">
            <a:avLst/>
          </a:prstGeom>
          <a:solidFill>
            <a:srgbClr val="0D9488"/>
          </a:solidFill>
          <a:ln w="12700">
            <a:solidFill>
              <a:srgbClr val="0D9488"/>
            </a:solidFill>
            <a:prstDash val="solid"/>
          </a:ln>
        </p:spPr>
      </p:sp>
      <p:sp>
        <p:nvSpPr>
          <p:cNvPr id="3" name="Text 1"/>
          <p:cNvSpPr/>
          <p:nvPr/>
        </p:nvSpPr>
        <p:spPr>
          <a:xfrm>
            <a:off x="566928" y="274320"/>
            <a:ext cx="8229600" cy="274320"/>
          </a:xfrm>
          <a:prstGeom prst="rect">
            <a:avLst/>
          </a:prstGeom>
          <a:noFill/>
          <a:ln/>
        </p:spPr>
        <p:txBody>
          <a:bodyPr wrap="square" lIns="0" tIns="0" rIns="0" bIns="0" rtlCol="0" anchor="ctr"/>
          <a:lstStyle/>
          <a:p>
            <a:pPr indent="0" marL="0">
              <a:buNone/>
            </a:pPr>
            <a:r>
              <a:rPr lang="en-US" sz="1050" b="1" spc="400" kern="0" dirty="0">
                <a:solidFill>
                  <a:srgbClr val="0D9488"/>
                </a:solidFill>
                <a:latin typeface="Calibri" pitchFamily="34" charset="0"/>
                <a:ea typeface="Calibri" pitchFamily="34" charset="-122"/>
                <a:cs typeface="Calibri" pitchFamily="34" charset="-120"/>
              </a:rPr>
              <a:t>ACT 4  ·  THE REGULARIZER SEARCH</a:t>
            </a:r>
            <a:endParaRPr lang="en-US" sz="1050" dirty="0"/>
          </a:p>
        </p:txBody>
      </p:sp>
      <p:sp>
        <p:nvSpPr>
          <p:cNvPr id="4" name="Text 2"/>
          <p:cNvSpPr/>
          <p:nvPr/>
        </p:nvSpPr>
        <p:spPr>
          <a:xfrm>
            <a:off x="274320" y="594360"/>
            <a:ext cx="8595360" cy="777240"/>
          </a:xfrm>
          <a:prstGeom prst="rect">
            <a:avLst/>
          </a:prstGeom>
          <a:noFill/>
          <a:ln/>
        </p:spPr>
        <p:txBody>
          <a:bodyPr wrap="square" lIns="0" tIns="0" rIns="0" bIns="0" rtlCol="0" anchor="ctr"/>
          <a:lstStyle/>
          <a:p>
            <a:pPr indent="0" marL="0">
              <a:buNone/>
            </a:pPr>
            <a:r>
              <a:rPr lang="en-US" sz="2800" b="1" dirty="0">
                <a:solidFill>
                  <a:srgbClr val="1A3A52"/>
                </a:solidFill>
                <a:latin typeface="Georgia" pitchFamily="34" charset="0"/>
                <a:ea typeface="Georgia" pitchFamily="34" charset="-122"/>
                <a:cs typeface="Georgia" pitchFamily="34" charset="-120"/>
              </a:rPr>
              <a:t>Stack one change at a time — v41 wins +0.011</a:t>
            </a:r>
            <a:endParaRPr lang="en-US" sz="2800" dirty="0"/>
          </a:p>
        </p:txBody>
      </p:sp>
      <p:sp>
        <p:nvSpPr>
          <p:cNvPr id="5" name="Text 3"/>
          <p:cNvSpPr/>
          <p:nvPr/>
        </p:nvSpPr>
        <p:spPr>
          <a:xfrm>
            <a:off x="365760" y="1417320"/>
            <a:ext cx="8412480" cy="274320"/>
          </a:xfrm>
          <a:prstGeom prst="rect">
            <a:avLst/>
          </a:prstGeom>
          <a:noFill/>
          <a:ln/>
        </p:spPr>
        <p:txBody>
          <a:bodyPr wrap="square" lIns="0" tIns="0" rIns="0" bIns="0" rtlCol="0" anchor="ctr"/>
          <a:lstStyle/>
          <a:p>
            <a:pPr indent="0" marL="0">
              <a:buNone/>
            </a:pPr>
            <a:r>
              <a:rPr lang="en-US" sz="1200" b="1" spc="200" kern="0" dirty="0">
                <a:solidFill>
                  <a:srgbClr val="0D9488"/>
                </a:solidFill>
                <a:latin typeface="Calibri" pitchFamily="34" charset="0"/>
                <a:ea typeface="Calibri" pitchFamily="34" charset="-122"/>
                <a:cs typeface="Calibri" pitchFamily="34" charset="-120"/>
              </a:rPr>
              <a:t>v41 — four clean additions on top of v19</a:t>
            </a:r>
            <a:endParaRPr lang="en-US" sz="1200" dirty="0"/>
          </a:p>
        </p:txBody>
      </p:sp>
      <p:sp>
        <p:nvSpPr>
          <p:cNvPr id="6" name="Shape 4"/>
          <p:cNvSpPr/>
          <p:nvPr/>
        </p:nvSpPr>
        <p:spPr>
          <a:xfrm>
            <a:off x="365760" y="1783080"/>
            <a:ext cx="1993392" cy="10058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7" name="Shape 5"/>
          <p:cNvSpPr/>
          <p:nvPr/>
        </p:nvSpPr>
        <p:spPr>
          <a:xfrm>
            <a:off x="365760" y="1783080"/>
            <a:ext cx="64008" cy="1005840"/>
          </a:xfrm>
          <a:prstGeom prst="rect">
            <a:avLst/>
          </a:prstGeom>
          <a:solidFill>
            <a:srgbClr val="0D9488"/>
          </a:solidFill>
          <a:ln w="12700">
            <a:solidFill>
              <a:srgbClr val="0D9488"/>
            </a:solidFill>
            <a:prstDash val="solid"/>
          </a:ln>
        </p:spPr>
      </p:sp>
      <p:sp>
        <p:nvSpPr>
          <p:cNvPr id="8" name="Text 6"/>
          <p:cNvSpPr/>
          <p:nvPr/>
        </p:nvSpPr>
        <p:spPr>
          <a:xfrm>
            <a:off x="566928" y="1874520"/>
            <a:ext cx="1719072" cy="502920"/>
          </a:xfrm>
          <a:prstGeom prst="rect">
            <a:avLst/>
          </a:prstGeom>
          <a:noFill/>
          <a:ln/>
        </p:spPr>
        <p:txBody>
          <a:bodyPr wrap="square" lIns="0" tIns="0" rIns="0" bIns="0" rtlCol="0" anchor="t"/>
          <a:lstStyle/>
          <a:p>
            <a:pPr algn="l" indent="0" marL="0">
              <a:buNone/>
            </a:pPr>
            <a:r>
              <a:rPr lang="en-US" sz="2800" b="1" dirty="0">
                <a:solidFill>
                  <a:srgbClr val="1A3A52"/>
                </a:solidFill>
                <a:latin typeface="Georgia" pitchFamily="34" charset="0"/>
                <a:ea typeface="Georgia" pitchFamily="34" charset="-122"/>
                <a:cs typeface="Georgia" pitchFamily="34" charset="-120"/>
              </a:rPr>
              <a:t>ε=0.05</a:t>
            </a:r>
            <a:endParaRPr lang="en-US" sz="2800" dirty="0"/>
          </a:p>
        </p:txBody>
      </p:sp>
      <p:sp>
        <p:nvSpPr>
          <p:cNvPr id="9" name="Text 7"/>
          <p:cNvSpPr/>
          <p:nvPr/>
        </p:nvSpPr>
        <p:spPr>
          <a:xfrm>
            <a:off x="566928" y="2336292"/>
            <a:ext cx="1719072" cy="402336"/>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label smoothing</a:t>
            </a:r>
            <a:endParaRPr lang="en-US" sz="1050" dirty="0"/>
          </a:p>
        </p:txBody>
      </p:sp>
      <p:sp>
        <p:nvSpPr>
          <p:cNvPr id="10" name="Shape 8"/>
          <p:cNvSpPr/>
          <p:nvPr/>
        </p:nvSpPr>
        <p:spPr>
          <a:xfrm>
            <a:off x="2542032" y="1783080"/>
            <a:ext cx="1993392" cy="10058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11" name="Shape 9"/>
          <p:cNvSpPr/>
          <p:nvPr/>
        </p:nvSpPr>
        <p:spPr>
          <a:xfrm>
            <a:off x="2542032" y="1783080"/>
            <a:ext cx="64008" cy="1005840"/>
          </a:xfrm>
          <a:prstGeom prst="rect">
            <a:avLst/>
          </a:prstGeom>
          <a:solidFill>
            <a:srgbClr val="0D9488"/>
          </a:solidFill>
          <a:ln w="12700">
            <a:solidFill>
              <a:srgbClr val="0D9488"/>
            </a:solidFill>
            <a:prstDash val="solid"/>
          </a:ln>
        </p:spPr>
      </p:sp>
      <p:sp>
        <p:nvSpPr>
          <p:cNvPr id="12" name="Text 10"/>
          <p:cNvSpPr/>
          <p:nvPr/>
        </p:nvSpPr>
        <p:spPr>
          <a:xfrm>
            <a:off x="2743200" y="1874520"/>
            <a:ext cx="1719072" cy="502920"/>
          </a:xfrm>
          <a:prstGeom prst="rect">
            <a:avLst/>
          </a:prstGeom>
          <a:noFill/>
          <a:ln/>
        </p:spPr>
        <p:txBody>
          <a:bodyPr wrap="square" lIns="0" tIns="0" rIns="0" bIns="0" rtlCol="0" anchor="t"/>
          <a:lstStyle/>
          <a:p>
            <a:pPr algn="l" indent="0" marL="0">
              <a:buNone/>
            </a:pPr>
            <a:r>
              <a:rPr lang="en-US" sz="2800" b="1" dirty="0">
                <a:solidFill>
                  <a:srgbClr val="1A3A52"/>
                </a:solidFill>
                <a:latin typeface="Georgia" pitchFamily="34" charset="0"/>
                <a:ea typeface="Georgia" pitchFamily="34" charset="-122"/>
                <a:cs typeface="Georgia" pitchFamily="34" charset="-120"/>
              </a:rPr>
              <a:t>0.4</a:t>
            </a:r>
            <a:endParaRPr lang="en-US" sz="2800" dirty="0"/>
          </a:p>
        </p:txBody>
      </p:sp>
      <p:sp>
        <p:nvSpPr>
          <p:cNvPr id="13" name="Text 11"/>
          <p:cNvSpPr/>
          <p:nvPr/>
        </p:nvSpPr>
        <p:spPr>
          <a:xfrm>
            <a:off x="2743200" y="2336292"/>
            <a:ext cx="1719072" cy="402336"/>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dropout (from 0.3)</a:t>
            </a:r>
            <a:endParaRPr lang="en-US" sz="1050" dirty="0"/>
          </a:p>
        </p:txBody>
      </p:sp>
      <p:sp>
        <p:nvSpPr>
          <p:cNvPr id="14" name="Shape 12"/>
          <p:cNvSpPr/>
          <p:nvPr/>
        </p:nvSpPr>
        <p:spPr>
          <a:xfrm>
            <a:off x="4718304" y="1783080"/>
            <a:ext cx="1993392" cy="10058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15" name="Shape 13"/>
          <p:cNvSpPr/>
          <p:nvPr/>
        </p:nvSpPr>
        <p:spPr>
          <a:xfrm>
            <a:off x="4718304" y="1783080"/>
            <a:ext cx="64008" cy="1005840"/>
          </a:xfrm>
          <a:prstGeom prst="rect">
            <a:avLst/>
          </a:prstGeom>
          <a:solidFill>
            <a:srgbClr val="0D9488"/>
          </a:solidFill>
          <a:ln w="12700">
            <a:solidFill>
              <a:srgbClr val="0D9488"/>
            </a:solidFill>
            <a:prstDash val="solid"/>
          </a:ln>
        </p:spPr>
      </p:sp>
      <p:sp>
        <p:nvSpPr>
          <p:cNvPr id="16" name="Text 14"/>
          <p:cNvSpPr/>
          <p:nvPr/>
        </p:nvSpPr>
        <p:spPr>
          <a:xfrm>
            <a:off x="4919472" y="1874520"/>
            <a:ext cx="1719072" cy="502920"/>
          </a:xfrm>
          <a:prstGeom prst="rect">
            <a:avLst/>
          </a:prstGeom>
          <a:noFill/>
          <a:ln/>
        </p:spPr>
        <p:txBody>
          <a:bodyPr wrap="square" lIns="0" tIns="0" rIns="0" bIns="0" rtlCol="0" anchor="t"/>
          <a:lstStyle/>
          <a:p>
            <a:pPr algn="l" indent="0" marL="0">
              <a:buNone/>
            </a:pPr>
            <a:r>
              <a:rPr lang="en-US" sz="2800" b="1" dirty="0">
                <a:solidFill>
                  <a:srgbClr val="1A3A52"/>
                </a:solidFill>
                <a:latin typeface="Georgia" pitchFamily="34" charset="0"/>
                <a:ea typeface="Georgia" pitchFamily="34" charset="-122"/>
                <a:cs typeface="Georgia" pitchFamily="34" charset="-120"/>
              </a:rPr>
              <a:t>paired</a:t>
            </a:r>
            <a:endParaRPr lang="en-US" sz="2800" dirty="0"/>
          </a:p>
        </p:txBody>
      </p:sp>
      <p:sp>
        <p:nvSpPr>
          <p:cNvPr id="17" name="Text 15"/>
          <p:cNvSpPr/>
          <p:nvPr/>
        </p:nvSpPr>
        <p:spPr>
          <a:xfrm>
            <a:off x="4919472" y="2336292"/>
            <a:ext cx="1719072" cy="402336"/>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RandomResizedCrop</a:t>
            </a:r>
            <a:endParaRPr lang="en-US" sz="1050" dirty="0"/>
          </a:p>
        </p:txBody>
      </p:sp>
      <p:sp>
        <p:nvSpPr>
          <p:cNvPr id="18" name="Shape 16"/>
          <p:cNvSpPr/>
          <p:nvPr/>
        </p:nvSpPr>
        <p:spPr>
          <a:xfrm>
            <a:off x="6894576" y="1783080"/>
            <a:ext cx="1993392" cy="10058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19" name="Shape 17"/>
          <p:cNvSpPr/>
          <p:nvPr/>
        </p:nvSpPr>
        <p:spPr>
          <a:xfrm>
            <a:off x="6894576" y="1783080"/>
            <a:ext cx="64008" cy="1005840"/>
          </a:xfrm>
          <a:prstGeom prst="rect">
            <a:avLst/>
          </a:prstGeom>
          <a:solidFill>
            <a:srgbClr val="0D9488"/>
          </a:solidFill>
          <a:ln w="12700">
            <a:solidFill>
              <a:srgbClr val="0D9488"/>
            </a:solidFill>
            <a:prstDash val="solid"/>
          </a:ln>
        </p:spPr>
      </p:sp>
      <p:sp>
        <p:nvSpPr>
          <p:cNvPr id="20" name="Text 18"/>
          <p:cNvSpPr/>
          <p:nvPr/>
        </p:nvSpPr>
        <p:spPr>
          <a:xfrm>
            <a:off x="7095744" y="1874520"/>
            <a:ext cx="1719072" cy="502920"/>
          </a:xfrm>
          <a:prstGeom prst="rect">
            <a:avLst/>
          </a:prstGeom>
          <a:noFill/>
          <a:ln/>
        </p:spPr>
        <p:txBody>
          <a:bodyPr wrap="square" lIns="0" tIns="0" rIns="0" bIns="0" rtlCol="0" anchor="t"/>
          <a:lstStyle/>
          <a:p>
            <a:pPr algn="l" indent="0" marL="0">
              <a:buNone/>
            </a:pPr>
            <a:r>
              <a:rPr lang="en-US" sz="2800" b="1" dirty="0">
                <a:solidFill>
                  <a:srgbClr val="1A3A52"/>
                </a:solidFill>
                <a:latin typeface="Georgia" pitchFamily="34" charset="0"/>
                <a:ea typeface="Georgia" pitchFamily="34" charset="-122"/>
                <a:cs typeface="Georgia" pitchFamily="34" charset="-120"/>
              </a:rPr>
              <a:t>24-way</a:t>
            </a:r>
            <a:endParaRPr lang="en-US" sz="2800" dirty="0"/>
          </a:p>
        </p:txBody>
      </p:sp>
      <p:sp>
        <p:nvSpPr>
          <p:cNvPr id="21" name="Text 19"/>
          <p:cNvSpPr/>
          <p:nvPr/>
        </p:nvSpPr>
        <p:spPr>
          <a:xfrm>
            <a:off x="7095744" y="2336292"/>
            <a:ext cx="1719072" cy="402336"/>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multiscale D4 TTA</a:t>
            </a:r>
            <a:endParaRPr lang="en-US" sz="1050" dirty="0"/>
          </a:p>
        </p:txBody>
      </p:sp>
      <p:sp>
        <p:nvSpPr>
          <p:cNvPr id="22" name="Text 20"/>
          <p:cNvSpPr/>
          <p:nvPr/>
        </p:nvSpPr>
        <p:spPr>
          <a:xfrm>
            <a:off x="365760" y="3017520"/>
            <a:ext cx="8412480" cy="274320"/>
          </a:xfrm>
          <a:prstGeom prst="rect">
            <a:avLst/>
          </a:prstGeom>
          <a:noFill/>
          <a:ln/>
        </p:spPr>
        <p:txBody>
          <a:bodyPr wrap="square" lIns="0" tIns="0" rIns="0" bIns="0" rtlCol="0" anchor="ctr"/>
          <a:lstStyle/>
          <a:p>
            <a:pPr indent="0" marL="0">
              <a:buNone/>
            </a:pPr>
            <a:r>
              <a:rPr lang="en-US" sz="1200" b="1" spc="200" kern="0" dirty="0">
                <a:solidFill>
                  <a:srgbClr val="B91C1C"/>
                </a:solidFill>
                <a:latin typeface="Calibri" pitchFamily="34" charset="0"/>
                <a:ea typeface="Calibri" pitchFamily="34" charset="-122"/>
                <a:cs typeface="Calibri" pitchFamily="34" charset="-120"/>
              </a:rPr>
              <a:t>v43 — four MORE changes stacked at once</a:t>
            </a:r>
            <a:endParaRPr lang="en-US" sz="1200" dirty="0"/>
          </a:p>
        </p:txBody>
      </p:sp>
      <p:sp>
        <p:nvSpPr>
          <p:cNvPr id="23" name="Shape 21"/>
          <p:cNvSpPr/>
          <p:nvPr/>
        </p:nvSpPr>
        <p:spPr>
          <a:xfrm>
            <a:off x="365760" y="3337560"/>
            <a:ext cx="1993392" cy="86868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24" name="Shape 22"/>
          <p:cNvSpPr/>
          <p:nvPr/>
        </p:nvSpPr>
        <p:spPr>
          <a:xfrm>
            <a:off x="365760" y="3337560"/>
            <a:ext cx="64008" cy="868680"/>
          </a:xfrm>
          <a:prstGeom prst="rect">
            <a:avLst/>
          </a:prstGeom>
          <a:solidFill>
            <a:srgbClr val="0D9488"/>
          </a:solidFill>
          <a:ln w="12700">
            <a:solidFill>
              <a:srgbClr val="0D9488"/>
            </a:solidFill>
            <a:prstDash val="solid"/>
          </a:ln>
        </p:spPr>
      </p:sp>
      <p:sp>
        <p:nvSpPr>
          <p:cNvPr id="25" name="Text 23"/>
          <p:cNvSpPr/>
          <p:nvPr/>
        </p:nvSpPr>
        <p:spPr>
          <a:xfrm>
            <a:off x="566928" y="3429000"/>
            <a:ext cx="1719072" cy="434340"/>
          </a:xfrm>
          <a:prstGeom prst="rect">
            <a:avLst/>
          </a:prstGeom>
          <a:noFill/>
          <a:ln/>
        </p:spPr>
        <p:txBody>
          <a:bodyPr wrap="square" lIns="0" tIns="0" rIns="0" bIns="0" rtlCol="0" anchor="t"/>
          <a:lstStyle/>
          <a:p>
            <a:pPr algn="l" indent="0" marL="0">
              <a:buNone/>
            </a:pPr>
            <a:r>
              <a:rPr lang="en-US" sz="2800" b="1" dirty="0">
                <a:solidFill>
                  <a:srgbClr val="B91C1C"/>
                </a:solidFill>
                <a:latin typeface="Georgia" pitchFamily="34" charset="0"/>
                <a:ea typeface="Georgia" pitchFamily="34" charset="-122"/>
                <a:cs typeface="Georgia" pitchFamily="34" charset="-120"/>
              </a:rPr>
              <a:t>FL aug</a:t>
            </a:r>
            <a:endParaRPr lang="en-US" sz="2800" dirty="0"/>
          </a:p>
        </p:txBody>
      </p:sp>
      <p:sp>
        <p:nvSpPr>
          <p:cNvPr id="26" name="Text 24"/>
          <p:cNvSpPr/>
          <p:nvPr/>
        </p:nvSpPr>
        <p:spPr>
          <a:xfrm>
            <a:off x="566928" y="3815334"/>
            <a:ext cx="1719072" cy="347472"/>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modality-specific</a:t>
            </a:r>
            <a:endParaRPr lang="en-US" sz="1050" dirty="0"/>
          </a:p>
        </p:txBody>
      </p:sp>
      <p:sp>
        <p:nvSpPr>
          <p:cNvPr id="27" name="Shape 25"/>
          <p:cNvSpPr/>
          <p:nvPr/>
        </p:nvSpPr>
        <p:spPr>
          <a:xfrm>
            <a:off x="2542032" y="3337560"/>
            <a:ext cx="1993392" cy="86868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28" name="Shape 26"/>
          <p:cNvSpPr/>
          <p:nvPr/>
        </p:nvSpPr>
        <p:spPr>
          <a:xfrm>
            <a:off x="2542032" y="3337560"/>
            <a:ext cx="64008" cy="868680"/>
          </a:xfrm>
          <a:prstGeom prst="rect">
            <a:avLst/>
          </a:prstGeom>
          <a:solidFill>
            <a:srgbClr val="0D9488"/>
          </a:solidFill>
          <a:ln w="12700">
            <a:solidFill>
              <a:srgbClr val="0D9488"/>
            </a:solidFill>
            <a:prstDash val="solid"/>
          </a:ln>
        </p:spPr>
      </p:sp>
      <p:sp>
        <p:nvSpPr>
          <p:cNvPr id="29" name="Text 27"/>
          <p:cNvSpPr/>
          <p:nvPr/>
        </p:nvSpPr>
        <p:spPr>
          <a:xfrm>
            <a:off x="2743200" y="3429000"/>
            <a:ext cx="1719072" cy="434340"/>
          </a:xfrm>
          <a:prstGeom prst="rect">
            <a:avLst/>
          </a:prstGeom>
          <a:noFill/>
          <a:ln/>
        </p:spPr>
        <p:txBody>
          <a:bodyPr wrap="square" lIns="0" tIns="0" rIns="0" bIns="0" rtlCol="0" anchor="t"/>
          <a:lstStyle/>
          <a:p>
            <a:pPr algn="l" indent="0" marL="0">
              <a:buNone/>
            </a:pPr>
            <a:r>
              <a:rPr lang="en-US" sz="2800" b="1" dirty="0">
                <a:solidFill>
                  <a:srgbClr val="B91C1C"/>
                </a:solidFill>
                <a:latin typeface="Georgia" pitchFamily="34" charset="0"/>
                <a:ea typeface="Georgia" pitchFamily="34" charset="-122"/>
                <a:cs typeface="Georgia" pitchFamily="34" charset="-120"/>
              </a:rPr>
              <a:t>WD 3e-4</a:t>
            </a:r>
            <a:endParaRPr lang="en-US" sz="2800" dirty="0"/>
          </a:p>
        </p:txBody>
      </p:sp>
      <p:sp>
        <p:nvSpPr>
          <p:cNvPr id="30" name="Text 28"/>
          <p:cNvSpPr/>
          <p:nvPr/>
        </p:nvSpPr>
        <p:spPr>
          <a:xfrm>
            <a:off x="2743200" y="3815334"/>
            <a:ext cx="1719072" cy="347472"/>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(was 1e-4)</a:t>
            </a:r>
            <a:endParaRPr lang="en-US" sz="1050" dirty="0"/>
          </a:p>
        </p:txBody>
      </p:sp>
      <p:sp>
        <p:nvSpPr>
          <p:cNvPr id="31" name="Shape 29"/>
          <p:cNvSpPr/>
          <p:nvPr/>
        </p:nvSpPr>
        <p:spPr>
          <a:xfrm>
            <a:off x="4718304" y="3337560"/>
            <a:ext cx="1993392" cy="86868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32" name="Shape 30"/>
          <p:cNvSpPr/>
          <p:nvPr/>
        </p:nvSpPr>
        <p:spPr>
          <a:xfrm>
            <a:off x="4718304" y="3337560"/>
            <a:ext cx="64008" cy="868680"/>
          </a:xfrm>
          <a:prstGeom prst="rect">
            <a:avLst/>
          </a:prstGeom>
          <a:solidFill>
            <a:srgbClr val="0D9488"/>
          </a:solidFill>
          <a:ln w="12700">
            <a:solidFill>
              <a:srgbClr val="0D9488"/>
            </a:solidFill>
            <a:prstDash val="solid"/>
          </a:ln>
        </p:spPr>
      </p:sp>
      <p:sp>
        <p:nvSpPr>
          <p:cNvPr id="33" name="Text 31"/>
          <p:cNvSpPr/>
          <p:nvPr/>
        </p:nvSpPr>
        <p:spPr>
          <a:xfrm>
            <a:off x="4919472" y="3429000"/>
            <a:ext cx="1719072" cy="434340"/>
          </a:xfrm>
          <a:prstGeom prst="rect">
            <a:avLst/>
          </a:prstGeom>
          <a:noFill/>
          <a:ln/>
        </p:spPr>
        <p:txBody>
          <a:bodyPr wrap="square" lIns="0" tIns="0" rIns="0" bIns="0" rtlCol="0" anchor="t"/>
          <a:lstStyle/>
          <a:p>
            <a:pPr algn="l" indent="0" marL="0">
              <a:buNone/>
            </a:pPr>
            <a:r>
              <a:rPr lang="en-US" sz="2800" b="1" dirty="0">
                <a:solidFill>
                  <a:srgbClr val="B91C1C"/>
                </a:solidFill>
                <a:latin typeface="Georgia" pitchFamily="34" charset="0"/>
                <a:ea typeface="Georgia" pitchFamily="34" charset="-122"/>
                <a:cs typeface="Georgia" pitchFamily="34" charset="-120"/>
              </a:rPr>
              <a:t>3-seed</a:t>
            </a:r>
            <a:endParaRPr lang="en-US" sz="2800" dirty="0"/>
          </a:p>
        </p:txBody>
      </p:sp>
      <p:sp>
        <p:nvSpPr>
          <p:cNvPr id="34" name="Text 32"/>
          <p:cNvSpPr/>
          <p:nvPr/>
        </p:nvSpPr>
        <p:spPr>
          <a:xfrm>
            <a:off x="4919472" y="3815334"/>
            <a:ext cx="1719072" cy="347472"/>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 SWA(last 4 ep)</a:t>
            </a:r>
            <a:endParaRPr lang="en-US" sz="1050" dirty="0"/>
          </a:p>
        </p:txBody>
      </p:sp>
      <p:sp>
        <p:nvSpPr>
          <p:cNvPr id="35" name="Shape 33"/>
          <p:cNvSpPr/>
          <p:nvPr/>
        </p:nvSpPr>
        <p:spPr>
          <a:xfrm>
            <a:off x="6894576" y="3337560"/>
            <a:ext cx="1993392" cy="86868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36" name="Shape 34"/>
          <p:cNvSpPr/>
          <p:nvPr/>
        </p:nvSpPr>
        <p:spPr>
          <a:xfrm>
            <a:off x="6894576" y="3337560"/>
            <a:ext cx="64008" cy="868680"/>
          </a:xfrm>
          <a:prstGeom prst="rect">
            <a:avLst/>
          </a:prstGeom>
          <a:solidFill>
            <a:srgbClr val="0D9488"/>
          </a:solidFill>
          <a:ln w="12700">
            <a:solidFill>
              <a:srgbClr val="0D9488"/>
            </a:solidFill>
            <a:prstDash val="solid"/>
          </a:ln>
        </p:spPr>
      </p:sp>
      <p:sp>
        <p:nvSpPr>
          <p:cNvPr id="37" name="Text 35"/>
          <p:cNvSpPr/>
          <p:nvPr/>
        </p:nvSpPr>
        <p:spPr>
          <a:xfrm>
            <a:off x="7095744" y="3429000"/>
            <a:ext cx="1719072" cy="434340"/>
          </a:xfrm>
          <a:prstGeom prst="rect">
            <a:avLst/>
          </a:prstGeom>
          <a:noFill/>
          <a:ln/>
        </p:spPr>
        <p:txBody>
          <a:bodyPr wrap="square" lIns="0" tIns="0" rIns="0" bIns="0" rtlCol="0" anchor="t"/>
          <a:lstStyle/>
          <a:p>
            <a:pPr algn="l" indent="0" marL="0">
              <a:buNone/>
            </a:pPr>
            <a:r>
              <a:rPr lang="en-US" sz="2800" b="1" dirty="0">
                <a:solidFill>
                  <a:srgbClr val="B91C1C"/>
                </a:solidFill>
                <a:latin typeface="Georgia" pitchFamily="34" charset="0"/>
                <a:ea typeface="Georgia" pitchFamily="34" charset="-122"/>
                <a:cs typeface="Georgia" pitchFamily="34" charset="-120"/>
              </a:rPr>
              <a:t>40-way</a:t>
            </a:r>
            <a:endParaRPr lang="en-US" sz="2800" dirty="0"/>
          </a:p>
        </p:txBody>
      </p:sp>
      <p:sp>
        <p:nvSpPr>
          <p:cNvPr id="38" name="Text 36"/>
          <p:cNvSpPr/>
          <p:nvPr/>
        </p:nvSpPr>
        <p:spPr>
          <a:xfrm>
            <a:off x="7095744" y="3815334"/>
            <a:ext cx="1719072" cy="347472"/>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TTA (5 scales)</a:t>
            </a:r>
            <a:endParaRPr lang="en-US" sz="1050" dirty="0"/>
          </a:p>
        </p:txBody>
      </p:sp>
      <p:sp>
        <p:nvSpPr>
          <p:cNvPr id="39" name="Text 37"/>
          <p:cNvSpPr/>
          <p:nvPr/>
        </p:nvSpPr>
        <p:spPr>
          <a:xfrm>
            <a:off x="365760" y="4343400"/>
            <a:ext cx="8503920" cy="320040"/>
          </a:xfrm>
          <a:prstGeom prst="rect">
            <a:avLst/>
          </a:prstGeom>
          <a:noFill/>
          <a:ln/>
        </p:spPr>
        <p:txBody>
          <a:bodyPr wrap="square" lIns="0" tIns="0" rIns="0" bIns="0" rtlCol="0" anchor="ctr"/>
          <a:lstStyle/>
          <a:p>
            <a:pPr indent="0" marL="0">
              <a:buNone/>
            </a:pPr>
            <a:r>
              <a:rPr lang="en-US" sz="1150" i="1" dirty="0">
                <a:solidFill>
                  <a:srgbClr val="B91C1C"/>
                </a:solidFill>
                <a:latin typeface="Calibri" pitchFamily="34" charset="0"/>
                <a:ea typeface="Calibri" pitchFamily="34" charset="-122"/>
                <a:cs typeface="Calibri" pitchFamily="34" charset="-120"/>
              </a:rPr>
              <a:t>Result: −0.012 LB regression. Confounded. Couldn't isolate the bad component.</a:t>
            </a:r>
            <a:endParaRPr lang="en-US" sz="1150" dirty="0"/>
          </a:p>
        </p:txBody>
      </p:sp>
      <p:sp>
        <p:nvSpPr>
          <p:cNvPr id="40" name="Text 38"/>
          <p:cNvSpPr/>
          <p:nvPr/>
        </p:nvSpPr>
        <p:spPr>
          <a:xfrm>
            <a:off x="274320" y="4864608"/>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Multimodal Cancer Cell Classification  ·  Uppsala 1MD042 A3</a:t>
            </a:r>
            <a:endParaRPr lang="en-US" sz="900" dirty="0"/>
          </a:p>
        </p:txBody>
      </p:sp>
      <p:sp>
        <p:nvSpPr>
          <p:cNvPr id="41" name="Text 39"/>
          <p:cNvSpPr/>
          <p:nvPr/>
        </p:nvSpPr>
        <p:spPr>
          <a:xfrm>
            <a:off x="7772400" y="4864608"/>
            <a:ext cx="109728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274320" y="274320"/>
            <a:ext cx="164592" cy="164592"/>
          </a:xfrm>
          <a:prstGeom prst="ellipse">
            <a:avLst/>
          </a:prstGeom>
          <a:solidFill>
            <a:srgbClr val="0D9488"/>
          </a:solidFill>
          <a:ln w="12700">
            <a:solidFill>
              <a:srgbClr val="0D9488"/>
            </a:solidFill>
            <a:prstDash val="solid"/>
          </a:ln>
        </p:spPr>
      </p:sp>
      <p:sp>
        <p:nvSpPr>
          <p:cNvPr id="3" name="Text 1"/>
          <p:cNvSpPr/>
          <p:nvPr/>
        </p:nvSpPr>
        <p:spPr>
          <a:xfrm>
            <a:off x="566928" y="274320"/>
            <a:ext cx="8229600" cy="274320"/>
          </a:xfrm>
          <a:prstGeom prst="rect">
            <a:avLst/>
          </a:prstGeom>
          <a:noFill/>
          <a:ln/>
        </p:spPr>
        <p:txBody>
          <a:bodyPr wrap="square" lIns="0" tIns="0" rIns="0" bIns="0" rtlCol="0" anchor="ctr"/>
          <a:lstStyle/>
          <a:p>
            <a:pPr indent="0" marL="0">
              <a:buNone/>
            </a:pPr>
            <a:r>
              <a:rPr lang="en-US" sz="1050" b="1" spc="400" kern="0" dirty="0">
                <a:solidFill>
                  <a:srgbClr val="0D9488"/>
                </a:solidFill>
                <a:latin typeface="Calibri" pitchFamily="34" charset="0"/>
                <a:ea typeface="Calibri" pitchFamily="34" charset="-122"/>
                <a:cs typeface="Calibri" pitchFamily="34" charset="-120"/>
              </a:rPr>
              <a:t>ACT 5  ·  THE BREAKTHROUGH</a:t>
            </a:r>
            <a:endParaRPr lang="en-US" sz="1050" dirty="0"/>
          </a:p>
        </p:txBody>
      </p:sp>
      <p:sp>
        <p:nvSpPr>
          <p:cNvPr id="4" name="Text 2"/>
          <p:cNvSpPr/>
          <p:nvPr/>
        </p:nvSpPr>
        <p:spPr>
          <a:xfrm>
            <a:off x="274320" y="594360"/>
            <a:ext cx="8595360" cy="777240"/>
          </a:xfrm>
          <a:prstGeom prst="rect">
            <a:avLst/>
          </a:prstGeom>
          <a:noFill/>
          <a:ln/>
        </p:spPr>
        <p:txBody>
          <a:bodyPr wrap="square" lIns="0" tIns="0" rIns="0" bIns="0" rtlCol="0" anchor="ctr"/>
          <a:lstStyle/>
          <a:p>
            <a:pPr indent="0" marL="0">
              <a:buNone/>
            </a:pPr>
            <a:r>
              <a:rPr lang="en-US" sz="2800" b="1" dirty="0">
                <a:solidFill>
                  <a:srgbClr val="1A3A52"/>
                </a:solidFill>
                <a:latin typeface="Georgia" pitchFamily="34" charset="0"/>
                <a:ea typeface="Georgia" pitchFamily="34" charset="-122"/>
                <a:cs typeface="Georgia" pitchFamily="34" charset="-120"/>
              </a:rPr>
              <a:t>Pseudo-labels → soft distillation = +0.064 LB</a:t>
            </a:r>
            <a:endParaRPr lang="en-US" sz="2800" dirty="0"/>
          </a:p>
        </p:txBody>
      </p:sp>
      <p:sp>
        <p:nvSpPr>
          <p:cNvPr id="5" name="Shape 3"/>
          <p:cNvSpPr/>
          <p:nvPr/>
        </p:nvSpPr>
        <p:spPr>
          <a:xfrm>
            <a:off x="365760" y="1417320"/>
            <a:ext cx="4160520" cy="141732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6" name="Shape 4"/>
          <p:cNvSpPr/>
          <p:nvPr/>
        </p:nvSpPr>
        <p:spPr>
          <a:xfrm>
            <a:off x="365760" y="1417320"/>
            <a:ext cx="64008" cy="1417320"/>
          </a:xfrm>
          <a:prstGeom prst="rect">
            <a:avLst/>
          </a:prstGeom>
          <a:solidFill>
            <a:srgbClr val="0D9488"/>
          </a:solidFill>
          <a:ln w="12700">
            <a:solidFill>
              <a:srgbClr val="0D9488"/>
            </a:solidFill>
            <a:prstDash val="solid"/>
          </a:ln>
        </p:spPr>
      </p:sp>
      <p:sp>
        <p:nvSpPr>
          <p:cNvPr id="7" name="Text 5"/>
          <p:cNvSpPr/>
          <p:nvPr/>
        </p:nvSpPr>
        <p:spPr>
          <a:xfrm>
            <a:off x="566928" y="1508760"/>
            <a:ext cx="3886200" cy="708660"/>
          </a:xfrm>
          <a:prstGeom prst="rect">
            <a:avLst/>
          </a:prstGeom>
          <a:noFill/>
          <a:ln/>
        </p:spPr>
        <p:txBody>
          <a:bodyPr wrap="square" lIns="0" tIns="0" rIns="0" bIns="0" rtlCol="0" anchor="t"/>
          <a:lstStyle/>
          <a:p>
            <a:pPr algn="l" indent="0" marL="0">
              <a:buNone/>
            </a:pPr>
            <a:r>
              <a:rPr lang="en-US" sz="2800" b="1" dirty="0">
                <a:solidFill>
                  <a:srgbClr val="059669"/>
                </a:solidFill>
                <a:latin typeface="Georgia" pitchFamily="34" charset="0"/>
                <a:ea typeface="Georgia" pitchFamily="34" charset="-122"/>
                <a:cs typeface="Georgia" pitchFamily="34" charset="-120"/>
              </a:rPr>
              <a:t>v44: +0.025</a:t>
            </a:r>
            <a:endParaRPr lang="en-US" sz="2800" dirty="0"/>
          </a:p>
        </p:txBody>
      </p:sp>
      <p:sp>
        <p:nvSpPr>
          <p:cNvPr id="8" name="Text 6"/>
          <p:cNvSpPr/>
          <p:nvPr/>
        </p:nvSpPr>
        <p:spPr>
          <a:xfrm>
            <a:off x="566928" y="2196846"/>
            <a:ext cx="3886200" cy="566928"/>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Hard pseudo (Lee 2013) — 9k test cells at thr 0.05 / 0.95</a:t>
            </a:r>
            <a:endParaRPr lang="en-US" sz="1050" dirty="0"/>
          </a:p>
        </p:txBody>
      </p:sp>
      <p:sp>
        <p:nvSpPr>
          <p:cNvPr id="9" name="Shape 7"/>
          <p:cNvSpPr/>
          <p:nvPr/>
        </p:nvSpPr>
        <p:spPr>
          <a:xfrm>
            <a:off x="4617720" y="1417320"/>
            <a:ext cx="4206240" cy="141732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10" name="Shape 8"/>
          <p:cNvSpPr/>
          <p:nvPr/>
        </p:nvSpPr>
        <p:spPr>
          <a:xfrm>
            <a:off x="4617720" y="1417320"/>
            <a:ext cx="64008" cy="1417320"/>
          </a:xfrm>
          <a:prstGeom prst="rect">
            <a:avLst/>
          </a:prstGeom>
          <a:solidFill>
            <a:srgbClr val="0D9488"/>
          </a:solidFill>
          <a:ln w="12700">
            <a:solidFill>
              <a:srgbClr val="0D9488"/>
            </a:solidFill>
            <a:prstDash val="solid"/>
          </a:ln>
        </p:spPr>
      </p:sp>
      <p:sp>
        <p:nvSpPr>
          <p:cNvPr id="11" name="Text 9"/>
          <p:cNvSpPr/>
          <p:nvPr/>
        </p:nvSpPr>
        <p:spPr>
          <a:xfrm>
            <a:off x="4818888" y="1508760"/>
            <a:ext cx="3931920" cy="708660"/>
          </a:xfrm>
          <a:prstGeom prst="rect">
            <a:avLst/>
          </a:prstGeom>
          <a:noFill/>
          <a:ln/>
        </p:spPr>
        <p:txBody>
          <a:bodyPr wrap="square" lIns="0" tIns="0" rIns="0" bIns="0" rtlCol="0" anchor="t"/>
          <a:lstStyle/>
          <a:p>
            <a:pPr algn="l" indent="0" marL="0">
              <a:buNone/>
            </a:pPr>
            <a:r>
              <a:rPr lang="en-US" sz="2800" b="1" dirty="0">
                <a:solidFill>
                  <a:srgbClr val="D97706"/>
                </a:solidFill>
                <a:latin typeface="Georgia" pitchFamily="34" charset="0"/>
                <a:ea typeface="Georgia" pitchFamily="34" charset="-122"/>
                <a:cs typeface="Georgia" pitchFamily="34" charset="-120"/>
              </a:rPr>
              <a:t>v46: +0.039</a:t>
            </a:r>
            <a:endParaRPr lang="en-US" sz="2800" dirty="0"/>
          </a:p>
        </p:txBody>
      </p:sp>
      <p:sp>
        <p:nvSpPr>
          <p:cNvPr id="12" name="Text 10"/>
          <p:cNvSpPr/>
          <p:nvPr/>
        </p:nvSpPr>
        <p:spPr>
          <a:xfrm>
            <a:off x="4818888" y="2196846"/>
            <a:ext cx="3931920" cy="566928"/>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SOFT pseudo (Hinton 2015) — all 59k cells, raw probs</a:t>
            </a:r>
            <a:endParaRPr lang="en-US" sz="1050" dirty="0"/>
          </a:p>
        </p:txBody>
      </p:sp>
      <p:sp>
        <p:nvSpPr>
          <p:cNvPr id="13" name="Text 11"/>
          <p:cNvSpPr/>
          <p:nvPr/>
        </p:nvSpPr>
        <p:spPr>
          <a:xfrm>
            <a:off x="365760" y="2971800"/>
            <a:ext cx="8503920" cy="274320"/>
          </a:xfrm>
          <a:prstGeom prst="rect">
            <a:avLst/>
          </a:prstGeom>
          <a:noFill/>
          <a:ln/>
        </p:spPr>
        <p:txBody>
          <a:bodyPr wrap="square" lIns="0" tIns="0" rIns="0" bIns="0" rtlCol="0" anchor="ctr"/>
          <a:lstStyle/>
          <a:p>
            <a:pPr indent="0" marL="0">
              <a:buNone/>
            </a:pPr>
            <a:r>
              <a:rPr lang="en-US" sz="1200" b="1" spc="200" kern="0" dirty="0">
                <a:solidFill>
                  <a:srgbClr val="0D9488"/>
                </a:solidFill>
                <a:latin typeface="Calibri" pitchFamily="34" charset="0"/>
                <a:ea typeface="Calibri" pitchFamily="34" charset="-122"/>
                <a:cs typeface="Calibri" pitchFamily="34" charset="-120"/>
              </a:rPr>
              <a:t>Why distillation amplified the pseudo-label gain</a:t>
            </a:r>
            <a:endParaRPr lang="en-US" sz="1200" dirty="0"/>
          </a:p>
        </p:txBody>
      </p:sp>
      <p:sp>
        <p:nvSpPr>
          <p:cNvPr id="14" name="Text 12"/>
          <p:cNvSpPr/>
          <p:nvPr/>
        </p:nvSpPr>
        <p:spPr>
          <a:xfrm>
            <a:off x="365760" y="3246120"/>
            <a:ext cx="8503920" cy="137160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334155"/>
                </a:solidFill>
                <a:latin typeface="Calibri" pitchFamily="34" charset="0"/>
                <a:ea typeface="Calibri" pitchFamily="34" charset="-122"/>
                <a:cs typeface="Calibri" pitchFamily="34" charset="-120"/>
              </a:rPr>
              <a:t>v44's threshold discarded 84% of test cells. v46 uses all 59,040.</a:t>
            </a:r>
            <a:endParaRPr lang="en-US" sz="1200" dirty="0"/>
          </a:p>
          <a:p>
            <a:pPr marL="342900" indent="-342900">
              <a:spcAft>
                <a:spcPts val="600"/>
              </a:spcAft>
              <a:buSzPct val="100000"/>
              <a:buChar char="•"/>
            </a:pPr>
            <a:r>
              <a:rPr lang="en-US" sz="1200" dirty="0">
                <a:solidFill>
                  <a:srgbClr val="334155"/>
                </a:solidFill>
                <a:latin typeface="Calibri" pitchFamily="34" charset="0"/>
                <a:ea typeface="Calibri" pitchFamily="34" charset="-122"/>
                <a:cs typeface="Calibri" pitchFamily="34" charset="-120"/>
              </a:rPr>
              <a:t>Hard pseudo throws away the teacher's confidence; soft preserves it.</a:t>
            </a:r>
            <a:endParaRPr lang="en-US" sz="1200" dirty="0"/>
          </a:p>
          <a:p>
            <a:pPr marL="342900" indent="-342900">
              <a:spcAft>
                <a:spcPts val="600"/>
              </a:spcAft>
              <a:buSzPct val="100000"/>
              <a:buChar char="•"/>
            </a:pPr>
            <a:r>
              <a:rPr lang="en-US" sz="1200" dirty="0">
                <a:solidFill>
                  <a:srgbClr val="334155"/>
                </a:solidFill>
                <a:latin typeface="Calibri" pitchFamily="34" charset="0"/>
                <a:ea typeface="Calibri" pitchFamily="34" charset="-122"/>
                <a:cs typeface="Calibri" pitchFamily="34" charset="-120"/>
              </a:rPr>
              <a:t>Effective training set: 114k → 124k (v44) → 173k cells (v46).</a:t>
            </a:r>
            <a:endParaRPr lang="en-US" sz="1200" dirty="0"/>
          </a:p>
          <a:p>
            <a:pPr marL="342900" indent="-342900">
              <a:spcAft>
                <a:spcPts val="600"/>
              </a:spcAft>
              <a:buSzPct val="100000"/>
              <a:buChar char="•"/>
            </a:pPr>
            <a:r>
              <a:rPr lang="en-US" sz="1200" dirty="0">
                <a:solidFill>
                  <a:srgbClr val="334155"/>
                </a:solidFill>
                <a:latin typeface="Calibri" pitchFamily="34" charset="0"/>
                <a:ea typeface="Calibri" pitchFamily="34" charset="-122"/>
                <a:cs typeface="Calibri" pitchFamily="34" charset="-120"/>
              </a:rPr>
              <a:t>Pseudo-loss weight 0.5 — real labels still dominate the gradient.</a:t>
            </a:r>
            <a:endParaRPr lang="en-US" sz="1200" dirty="0"/>
          </a:p>
        </p:txBody>
      </p:sp>
      <p:sp>
        <p:nvSpPr>
          <p:cNvPr id="15" name="Text 13"/>
          <p:cNvSpPr/>
          <p:nvPr/>
        </p:nvSpPr>
        <p:spPr>
          <a:xfrm>
            <a:off x="274320" y="4864608"/>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Multimodal Cancer Cell Classification  ·  Uppsala 1MD042 A3</a:t>
            </a:r>
            <a:endParaRPr lang="en-US" sz="900" dirty="0"/>
          </a:p>
        </p:txBody>
      </p:sp>
      <p:sp>
        <p:nvSpPr>
          <p:cNvPr id="16" name="Text 14"/>
          <p:cNvSpPr/>
          <p:nvPr/>
        </p:nvSpPr>
        <p:spPr>
          <a:xfrm>
            <a:off x="7772400" y="4864608"/>
            <a:ext cx="109728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274320" y="274320"/>
            <a:ext cx="164592" cy="164592"/>
          </a:xfrm>
          <a:prstGeom prst="ellipse">
            <a:avLst/>
          </a:prstGeom>
          <a:solidFill>
            <a:srgbClr val="0D9488"/>
          </a:solidFill>
          <a:ln w="12700">
            <a:solidFill>
              <a:srgbClr val="0D9488"/>
            </a:solidFill>
            <a:prstDash val="solid"/>
          </a:ln>
        </p:spPr>
      </p:sp>
      <p:sp>
        <p:nvSpPr>
          <p:cNvPr id="3" name="Text 1"/>
          <p:cNvSpPr/>
          <p:nvPr/>
        </p:nvSpPr>
        <p:spPr>
          <a:xfrm>
            <a:off x="566928" y="274320"/>
            <a:ext cx="8229600" cy="274320"/>
          </a:xfrm>
          <a:prstGeom prst="rect">
            <a:avLst/>
          </a:prstGeom>
          <a:noFill/>
          <a:ln/>
        </p:spPr>
        <p:txBody>
          <a:bodyPr wrap="square" lIns="0" tIns="0" rIns="0" bIns="0" rtlCol="0" anchor="ctr"/>
          <a:lstStyle/>
          <a:p>
            <a:pPr indent="0" marL="0">
              <a:buNone/>
            </a:pPr>
            <a:r>
              <a:rPr lang="en-US" sz="1050" b="1" spc="400" kern="0" dirty="0">
                <a:solidFill>
                  <a:srgbClr val="0D9488"/>
                </a:solidFill>
                <a:latin typeface="Calibri" pitchFamily="34" charset="0"/>
                <a:ea typeface="Calibri" pitchFamily="34" charset="-122"/>
                <a:cs typeface="Calibri" pitchFamily="34" charset="-120"/>
              </a:rPr>
              <a:t>THE WHOLE STORY IN ONE CHART</a:t>
            </a:r>
            <a:endParaRPr lang="en-US" sz="1050" dirty="0"/>
          </a:p>
        </p:txBody>
      </p:sp>
      <p:sp>
        <p:nvSpPr>
          <p:cNvPr id="4" name="Text 2"/>
          <p:cNvSpPr/>
          <p:nvPr/>
        </p:nvSpPr>
        <p:spPr>
          <a:xfrm>
            <a:off x="274320" y="594360"/>
            <a:ext cx="8595360" cy="777240"/>
          </a:xfrm>
          <a:prstGeom prst="rect">
            <a:avLst/>
          </a:prstGeom>
          <a:noFill/>
          <a:ln/>
        </p:spPr>
        <p:txBody>
          <a:bodyPr wrap="square" lIns="0" tIns="0" rIns="0" bIns="0" rtlCol="0" anchor="ctr"/>
          <a:lstStyle/>
          <a:p>
            <a:pPr indent="0" marL="0">
              <a:buNone/>
            </a:pPr>
            <a:r>
              <a:rPr lang="en-US" sz="2800" b="1" dirty="0">
                <a:solidFill>
                  <a:srgbClr val="1A3A52"/>
                </a:solidFill>
                <a:latin typeface="Georgia" pitchFamily="34" charset="0"/>
                <a:ea typeface="Georgia" pitchFamily="34" charset="-122"/>
                <a:cs typeface="Georgia" pitchFamily="34" charset="-120"/>
              </a:rPr>
              <a:t>Public LB across 29 logged versions</a:t>
            </a:r>
            <a:endParaRPr lang="en-US" sz="2800" dirty="0"/>
          </a:p>
        </p:txBody>
      </p:sp>
      <p:pic>
        <p:nvPicPr>
          <p:cNvPr id="5" name="Image 0" descr="LB progression chart showing 29 datapoints from v19 baseline at 0.7455 to v46 #1 at 0.8236">    </p:cNvPr>
          <p:cNvPicPr>
            <a:picLocks noChangeAspect="1"/>
          </p:cNvPicPr>
          <p:nvPr/>
        </p:nvPicPr>
        <p:blipFill>
          <a:blip r:embed="rId1"/>
          <a:stretch>
            <a:fillRect/>
          </a:stretch>
        </p:blipFill>
        <p:spPr>
          <a:xfrm>
            <a:off x="274320" y="1417320"/>
            <a:ext cx="8595360" cy="3246120"/>
          </a:xfrm>
          <a:prstGeom prst="rect">
            <a:avLst/>
          </a:prstGeom>
        </p:spPr>
      </p:pic>
      <p:sp>
        <p:nvSpPr>
          <p:cNvPr id="6" name="Text 3"/>
          <p:cNvSpPr/>
          <p:nvPr/>
        </p:nvSpPr>
        <p:spPr>
          <a:xfrm>
            <a:off x="274320" y="4864608"/>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Multimodal Cancer Cell Classification  ·  Uppsala 1MD042 A3</a:t>
            </a:r>
            <a:endParaRPr lang="en-US" sz="900" dirty="0"/>
          </a:p>
        </p:txBody>
      </p:sp>
      <p:sp>
        <p:nvSpPr>
          <p:cNvPr id="7" name="Text 4"/>
          <p:cNvSpPr/>
          <p:nvPr/>
        </p:nvSpPr>
        <p:spPr>
          <a:xfrm>
            <a:off x="7772400" y="4864608"/>
            <a:ext cx="109728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274320" y="274320"/>
            <a:ext cx="164592" cy="164592"/>
          </a:xfrm>
          <a:prstGeom prst="ellipse">
            <a:avLst/>
          </a:prstGeom>
          <a:solidFill>
            <a:srgbClr val="0D9488"/>
          </a:solidFill>
          <a:ln w="12700">
            <a:solidFill>
              <a:srgbClr val="0D9488"/>
            </a:solidFill>
            <a:prstDash val="solid"/>
          </a:ln>
        </p:spPr>
      </p:sp>
      <p:sp>
        <p:nvSpPr>
          <p:cNvPr id="3" name="Text 1"/>
          <p:cNvSpPr/>
          <p:nvPr/>
        </p:nvSpPr>
        <p:spPr>
          <a:xfrm>
            <a:off x="566928" y="274320"/>
            <a:ext cx="8229600" cy="274320"/>
          </a:xfrm>
          <a:prstGeom prst="rect">
            <a:avLst/>
          </a:prstGeom>
          <a:noFill/>
          <a:ln/>
        </p:spPr>
        <p:txBody>
          <a:bodyPr wrap="square" lIns="0" tIns="0" rIns="0" bIns="0" rtlCol="0" anchor="ctr"/>
          <a:lstStyle/>
          <a:p>
            <a:pPr indent="0" marL="0">
              <a:buNone/>
            </a:pPr>
            <a:r>
              <a:rPr lang="en-US" sz="1050" b="1" spc="400" kern="0" dirty="0">
                <a:solidFill>
                  <a:srgbClr val="0D9488"/>
                </a:solidFill>
                <a:latin typeface="Calibri" pitchFamily="34" charset="0"/>
                <a:ea typeface="Calibri" pitchFamily="34" charset="-122"/>
                <a:cs typeface="Calibri" pitchFamily="34" charset="-120"/>
              </a:rPr>
              <a:t>WHAT WORKED</a:t>
            </a:r>
            <a:endParaRPr lang="en-US" sz="1050" dirty="0"/>
          </a:p>
        </p:txBody>
      </p:sp>
      <p:sp>
        <p:nvSpPr>
          <p:cNvPr id="4" name="Text 2"/>
          <p:cNvSpPr/>
          <p:nvPr/>
        </p:nvSpPr>
        <p:spPr>
          <a:xfrm>
            <a:off x="274320" y="594360"/>
            <a:ext cx="8595360" cy="777240"/>
          </a:xfrm>
          <a:prstGeom prst="rect">
            <a:avLst/>
          </a:prstGeom>
          <a:noFill/>
          <a:ln/>
        </p:spPr>
        <p:txBody>
          <a:bodyPr wrap="square" lIns="0" tIns="0" rIns="0" bIns="0" rtlCol="0" anchor="ctr"/>
          <a:lstStyle/>
          <a:p>
            <a:pPr indent="0" marL="0">
              <a:buNone/>
            </a:pPr>
            <a:r>
              <a:rPr lang="en-US" sz="2800" b="1" dirty="0">
                <a:solidFill>
                  <a:srgbClr val="1A3A52"/>
                </a:solidFill>
                <a:latin typeface="Georgia" pitchFamily="34" charset="0"/>
                <a:ea typeface="Georgia" pitchFamily="34" charset="-122"/>
                <a:cs typeface="Georgia" pitchFamily="34" charset="-120"/>
              </a:rPr>
              <a:t>Three findings that compounded</a:t>
            </a:r>
            <a:endParaRPr lang="en-US" sz="2800" dirty="0"/>
          </a:p>
        </p:txBody>
      </p:sp>
      <p:sp>
        <p:nvSpPr>
          <p:cNvPr id="5" name="Shape 3"/>
          <p:cNvSpPr/>
          <p:nvPr/>
        </p:nvSpPr>
        <p:spPr>
          <a:xfrm>
            <a:off x="365760" y="1417320"/>
            <a:ext cx="777240" cy="777240"/>
          </a:xfrm>
          <a:prstGeom prst="ellipse">
            <a:avLst/>
          </a:prstGeom>
          <a:solidFill>
            <a:srgbClr val="059669"/>
          </a:solidFill>
          <a:ln w="12700">
            <a:solidFill>
              <a:srgbClr val="059669"/>
            </a:solidFill>
            <a:prstDash val="solid"/>
          </a:ln>
        </p:spPr>
      </p:sp>
      <p:sp>
        <p:nvSpPr>
          <p:cNvPr id="6" name="Text 4"/>
          <p:cNvSpPr/>
          <p:nvPr/>
        </p:nvSpPr>
        <p:spPr>
          <a:xfrm>
            <a:off x="365760" y="141732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01</a:t>
            </a:r>
            <a:endParaRPr lang="en-US" sz="1800" dirty="0"/>
          </a:p>
        </p:txBody>
      </p:sp>
      <p:sp>
        <p:nvSpPr>
          <p:cNvPr id="7" name="Text 5"/>
          <p:cNvSpPr/>
          <p:nvPr/>
        </p:nvSpPr>
        <p:spPr>
          <a:xfrm>
            <a:off x="1325880" y="1371600"/>
            <a:ext cx="7498080" cy="365760"/>
          </a:xfrm>
          <a:prstGeom prst="rect">
            <a:avLst/>
          </a:prstGeom>
          <a:noFill/>
          <a:ln/>
        </p:spPr>
        <p:txBody>
          <a:bodyPr wrap="square" lIns="0" tIns="0" rIns="0" bIns="0" rtlCol="0" anchor="ctr"/>
          <a:lstStyle/>
          <a:p>
            <a:pPr indent="0" marL="0">
              <a:buNone/>
            </a:pPr>
            <a:r>
              <a:rPr lang="en-US" sz="1500" b="1" dirty="0">
                <a:solidFill>
                  <a:srgbClr val="1A3A52"/>
                </a:solidFill>
                <a:latin typeface="Georgia" pitchFamily="34" charset="0"/>
                <a:ea typeface="Georgia" pitchFamily="34" charset="-122"/>
                <a:cs typeface="Georgia" pitchFamily="34" charset="-120"/>
              </a:rPr>
              <a:t>Dataset size &gt; regularization on small-N</a:t>
            </a:r>
            <a:endParaRPr lang="en-US" sz="1500" dirty="0"/>
          </a:p>
        </p:txBody>
      </p:sp>
      <p:sp>
        <p:nvSpPr>
          <p:cNvPr id="8" name="Text 6"/>
          <p:cNvSpPr/>
          <p:nvPr/>
        </p:nvSpPr>
        <p:spPr>
          <a:xfrm>
            <a:off x="1325880" y="1691640"/>
            <a:ext cx="7498080" cy="594360"/>
          </a:xfrm>
          <a:prstGeom prst="rect">
            <a:avLst/>
          </a:prstGeom>
          <a:noFill/>
          <a:ln/>
        </p:spPr>
        <p:txBody>
          <a:bodyPr wrap="square" lIns="0" tIns="0" rIns="0" bIns="0" rtlCol="0" anchor="ctr"/>
          <a:lstStyle/>
          <a:p>
            <a:pPr indent="0" marL="0">
              <a:buNone/>
            </a:pPr>
            <a:r>
              <a:rPr lang="en-US" sz="1150" dirty="0">
                <a:solidFill>
                  <a:srgbClr val="334155"/>
                </a:solidFill>
                <a:latin typeface="Calibri" pitchFamily="34" charset="0"/>
                <a:ea typeface="Calibri" pitchFamily="34" charset="-122"/>
                <a:cs typeface="Calibri" pitchFamily="34" charset="-120"/>
              </a:rPr>
              <a:t>v41 stacked four L4 regularizers for +0.011 LB. v46 added soft pseudo-labels for ~50k extra effective cells: +0.039 LB. The dataset-size lever was 3.5× larger than the model-quality lever.</a:t>
            </a:r>
            <a:endParaRPr lang="en-US" sz="1150" dirty="0"/>
          </a:p>
        </p:txBody>
      </p:sp>
      <p:sp>
        <p:nvSpPr>
          <p:cNvPr id="9" name="Shape 7"/>
          <p:cNvSpPr/>
          <p:nvPr/>
        </p:nvSpPr>
        <p:spPr>
          <a:xfrm>
            <a:off x="365760" y="2423160"/>
            <a:ext cx="777240" cy="777240"/>
          </a:xfrm>
          <a:prstGeom prst="ellipse">
            <a:avLst/>
          </a:prstGeom>
          <a:solidFill>
            <a:srgbClr val="0D9488"/>
          </a:solidFill>
          <a:ln w="12700">
            <a:solidFill>
              <a:srgbClr val="0D9488"/>
            </a:solidFill>
            <a:prstDash val="solid"/>
          </a:ln>
        </p:spPr>
      </p:sp>
      <p:sp>
        <p:nvSpPr>
          <p:cNvPr id="10" name="Text 8"/>
          <p:cNvSpPr/>
          <p:nvPr/>
        </p:nvSpPr>
        <p:spPr>
          <a:xfrm>
            <a:off x="365760" y="242316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02</a:t>
            </a:r>
            <a:endParaRPr lang="en-US" sz="1800" dirty="0"/>
          </a:p>
        </p:txBody>
      </p:sp>
      <p:sp>
        <p:nvSpPr>
          <p:cNvPr id="11" name="Text 9"/>
          <p:cNvSpPr/>
          <p:nvPr/>
        </p:nvSpPr>
        <p:spPr>
          <a:xfrm>
            <a:off x="1325880" y="2377440"/>
            <a:ext cx="7498080" cy="365760"/>
          </a:xfrm>
          <a:prstGeom prst="rect">
            <a:avLst/>
          </a:prstGeom>
          <a:noFill/>
          <a:ln/>
        </p:spPr>
        <p:txBody>
          <a:bodyPr wrap="square" lIns="0" tIns="0" rIns="0" bIns="0" rtlCol="0" anchor="ctr"/>
          <a:lstStyle/>
          <a:p>
            <a:pPr indent="0" marL="0">
              <a:buNone/>
            </a:pPr>
            <a:r>
              <a:rPr lang="en-US" sz="1500" b="1" dirty="0">
                <a:solidFill>
                  <a:srgbClr val="1A3A52"/>
                </a:solidFill>
                <a:latin typeface="Georgia" pitchFamily="34" charset="0"/>
                <a:ea typeface="Georgia" pitchFamily="34" charset="-122"/>
                <a:cs typeface="Georgia" pitchFamily="34" charset="-120"/>
              </a:rPr>
              <a:t>Within-recipe ensembling helps — cross-recipe doesn't</a:t>
            </a:r>
            <a:endParaRPr lang="en-US" sz="1500" dirty="0"/>
          </a:p>
        </p:txBody>
      </p:sp>
      <p:sp>
        <p:nvSpPr>
          <p:cNvPr id="12" name="Text 10"/>
          <p:cNvSpPr/>
          <p:nvPr/>
        </p:nvSpPr>
        <p:spPr>
          <a:xfrm>
            <a:off x="1325880" y="2697480"/>
            <a:ext cx="7498080" cy="594360"/>
          </a:xfrm>
          <a:prstGeom prst="rect">
            <a:avLst/>
          </a:prstGeom>
          <a:noFill/>
          <a:ln/>
        </p:spPr>
        <p:txBody>
          <a:bodyPr wrap="square" lIns="0" tIns="0" rIns="0" bIns="0" rtlCol="0" anchor="ctr"/>
          <a:lstStyle/>
          <a:p>
            <a:pPr indent="0" marL="0">
              <a:buNone/>
            </a:pPr>
            <a:r>
              <a:rPr lang="en-US" sz="1150" dirty="0">
                <a:solidFill>
                  <a:srgbClr val="334155"/>
                </a:solidFill>
                <a:latin typeface="Calibri" pitchFamily="34" charset="0"/>
                <a:ea typeface="Calibri" pitchFamily="34" charset="-122"/>
                <a:cs typeface="Calibri" pitchFamily="34" charset="-120"/>
              </a:rPr>
              <a:t>3 seeds × SWA averaging inside one recipe gained ~0.005–0.010 LB in v46. Cross-recipe sigmoid-averaging (v22, v45_probe) regressed below the better member at any gap &gt;0.02 LB.</a:t>
            </a:r>
            <a:endParaRPr lang="en-US" sz="1150" dirty="0"/>
          </a:p>
        </p:txBody>
      </p:sp>
      <p:sp>
        <p:nvSpPr>
          <p:cNvPr id="13" name="Shape 11"/>
          <p:cNvSpPr/>
          <p:nvPr/>
        </p:nvSpPr>
        <p:spPr>
          <a:xfrm>
            <a:off x="365760" y="3429000"/>
            <a:ext cx="777240" cy="777240"/>
          </a:xfrm>
          <a:prstGeom prst="ellipse">
            <a:avLst/>
          </a:prstGeom>
          <a:solidFill>
            <a:srgbClr val="1A3A52"/>
          </a:solidFill>
          <a:ln w="12700">
            <a:solidFill>
              <a:srgbClr val="1A3A52"/>
            </a:solidFill>
            <a:prstDash val="solid"/>
          </a:ln>
        </p:spPr>
      </p:sp>
      <p:sp>
        <p:nvSpPr>
          <p:cNvPr id="14" name="Text 12"/>
          <p:cNvSpPr/>
          <p:nvPr/>
        </p:nvSpPr>
        <p:spPr>
          <a:xfrm>
            <a:off x="365760" y="342900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03</a:t>
            </a:r>
            <a:endParaRPr lang="en-US" sz="1800" dirty="0"/>
          </a:p>
        </p:txBody>
      </p:sp>
      <p:sp>
        <p:nvSpPr>
          <p:cNvPr id="15" name="Text 13"/>
          <p:cNvSpPr/>
          <p:nvPr/>
        </p:nvSpPr>
        <p:spPr>
          <a:xfrm>
            <a:off x="1325880" y="3383280"/>
            <a:ext cx="7498080" cy="365760"/>
          </a:xfrm>
          <a:prstGeom prst="rect">
            <a:avLst/>
          </a:prstGeom>
          <a:noFill/>
          <a:ln/>
        </p:spPr>
        <p:txBody>
          <a:bodyPr wrap="square" lIns="0" tIns="0" rIns="0" bIns="0" rtlCol="0" anchor="ctr"/>
          <a:lstStyle/>
          <a:p>
            <a:pPr indent="0" marL="0">
              <a:buNone/>
            </a:pPr>
            <a:r>
              <a:rPr lang="en-US" sz="1500" b="1" dirty="0">
                <a:solidFill>
                  <a:srgbClr val="1A3A52"/>
                </a:solidFill>
                <a:latin typeface="Georgia" pitchFamily="34" charset="0"/>
                <a:ea typeface="Georgia" pitchFamily="34" charset="-122"/>
                <a:cs typeface="Georgia" pitchFamily="34" charset="-120"/>
              </a:rPr>
              <a:t>Patient identity is adversarial — treat it as such</a:t>
            </a:r>
            <a:endParaRPr lang="en-US" sz="1500" dirty="0"/>
          </a:p>
        </p:txBody>
      </p:sp>
      <p:sp>
        <p:nvSpPr>
          <p:cNvPr id="16" name="Text 14"/>
          <p:cNvSpPr/>
          <p:nvPr/>
        </p:nvSpPr>
        <p:spPr>
          <a:xfrm>
            <a:off x="1325880" y="3703320"/>
            <a:ext cx="7498080" cy="594360"/>
          </a:xfrm>
          <a:prstGeom prst="rect">
            <a:avLst/>
          </a:prstGeom>
          <a:noFill/>
          <a:ln/>
        </p:spPr>
        <p:txBody>
          <a:bodyPr wrap="square" lIns="0" tIns="0" rIns="0" bIns="0" rtlCol="0" anchor="ctr"/>
          <a:lstStyle/>
          <a:p>
            <a:pPr indent="0" marL="0">
              <a:buNone/>
            </a:pPr>
            <a:r>
              <a:rPr lang="en-US" sz="1150" dirty="0">
                <a:solidFill>
                  <a:srgbClr val="334155"/>
                </a:solidFill>
                <a:latin typeface="Calibri" pitchFamily="34" charset="0"/>
                <a:ea typeface="Calibri" pitchFamily="34" charset="-122"/>
                <a:cs typeface="Calibri" pitchFamily="34" charset="-120"/>
              </a:rPr>
              <a:t>MIL aux loss (patient-grouped), AdaBN, test-stain norm, and a sentinel patient_id = −1 for pseudo cells all explicitly target the patient-shortcut failure mode that broke v42.</a:t>
            </a:r>
            <a:endParaRPr lang="en-US" sz="1150" dirty="0"/>
          </a:p>
        </p:txBody>
      </p:sp>
      <p:sp>
        <p:nvSpPr>
          <p:cNvPr id="17" name="Text 15"/>
          <p:cNvSpPr/>
          <p:nvPr/>
        </p:nvSpPr>
        <p:spPr>
          <a:xfrm>
            <a:off x="274320" y="4864608"/>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Multimodal Cancer Cell Classification  ·  Uppsala 1MD042 A3</a:t>
            </a:r>
            <a:endParaRPr lang="en-US" sz="900" dirty="0"/>
          </a:p>
        </p:txBody>
      </p:sp>
      <p:sp>
        <p:nvSpPr>
          <p:cNvPr id="18" name="Text 16"/>
          <p:cNvSpPr/>
          <p:nvPr/>
        </p:nvSpPr>
        <p:spPr>
          <a:xfrm>
            <a:off x="7772400" y="4864608"/>
            <a:ext cx="109728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274320" y="274320"/>
            <a:ext cx="164592" cy="164592"/>
          </a:xfrm>
          <a:prstGeom prst="ellipse">
            <a:avLst/>
          </a:prstGeom>
          <a:solidFill>
            <a:srgbClr val="0D9488"/>
          </a:solidFill>
          <a:ln w="12700">
            <a:solidFill>
              <a:srgbClr val="0D9488"/>
            </a:solidFill>
            <a:prstDash val="solid"/>
          </a:ln>
        </p:spPr>
      </p:sp>
      <p:sp>
        <p:nvSpPr>
          <p:cNvPr id="3" name="Text 1"/>
          <p:cNvSpPr/>
          <p:nvPr/>
        </p:nvSpPr>
        <p:spPr>
          <a:xfrm>
            <a:off x="566928" y="274320"/>
            <a:ext cx="8229600" cy="274320"/>
          </a:xfrm>
          <a:prstGeom prst="rect">
            <a:avLst/>
          </a:prstGeom>
          <a:noFill/>
          <a:ln/>
        </p:spPr>
        <p:txBody>
          <a:bodyPr wrap="square" lIns="0" tIns="0" rIns="0" bIns="0" rtlCol="0" anchor="ctr"/>
          <a:lstStyle/>
          <a:p>
            <a:pPr indent="0" marL="0">
              <a:buNone/>
            </a:pPr>
            <a:r>
              <a:rPr lang="en-US" sz="1050" b="1" spc="400" kern="0" dirty="0">
                <a:solidFill>
                  <a:srgbClr val="0D9488"/>
                </a:solidFill>
                <a:latin typeface="Calibri" pitchFamily="34" charset="0"/>
                <a:ea typeface="Calibri" pitchFamily="34" charset="-122"/>
                <a:cs typeface="Calibri" pitchFamily="34" charset="-120"/>
              </a:rPr>
              <a:t>NEGATIVE RESULTS</a:t>
            </a:r>
            <a:endParaRPr lang="en-US" sz="1050" dirty="0"/>
          </a:p>
        </p:txBody>
      </p:sp>
      <p:sp>
        <p:nvSpPr>
          <p:cNvPr id="4" name="Text 2"/>
          <p:cNvSpPr/>
          <p:nvPr/>
        </p:nvSpPr>
        <p:spPr>
          <a:xfrm>
            <a:off x="274320" y="594360"/>
            <a:ext cx="8595360" cy="777240"/>
          </a:xfrm>
          <a:prstGeom prst="rect">
            <a:avLst/>
          </a:prstGeom>
          <a:noFill/>
          <a:ln/>
        </p:spPr>
        <p:txBody>
          <a:bodyPr wrap="square" lIns="0" tIns="0" rIns="0" bIns="0" rtlCol="0" anchor="ctr"/>
          <a:lstStyle/>
          <a:p>
            <a:pPr indent="0" marL="0">
              <a:buNone/>
            </a:pPr>
            <a:r>
              <a:rPr lang="en-US" sz="2800" b="1" dirty="0">
                <a:solidFill>
                  <a:srgbClr val="1A3A52"/>
                </a:solidFill>
                <a:latin typeface="Georgia" pitchFamily="34" charset="0"/>
                <a:ea typeface="Georgia" pitchFamily="34" charset="-122"/>
                <a:cs typeface="Georgia" pitchFamily="34" charset="-120"/>
              </a:rPr>
              <a:t>Six failures we diagnosed and fed forward</a:t>
            </a:r>
            <a:endParaRPr lang="en-US" sz="2800" dirty="0"/>
          </a:p>
        </p:txBody>
      </p:sp>
      <p:sp>
        <p:nvSpPr>
          <p:cNvPr id="5" name="Shape 3"/>
          <p:cNvSpPr/>
          <p:nvPr/>
        </p:nvSpPr>
        <p:spPr>
          <a:xfrm>
            <a:off x="365760" y="1417320"/>
            <a:ext cx="2743200" cy="12344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6" name="Shape 4"/>
          <p:cNvSpPr/>
          <p:nvPr/>
        </p:nvSpPr>
        <p:spPr>
          <a:xfrm>
            <a:off x="365760" y="1417320"/>
            <a:ext cx="2743200" cy="54864"/>
          </a:xfrm>
          <a:prstGeom prst="rect">
            <a:avLst/>
          </a:prstGeom>
          <a:solidFill>
            <a:srgbClr val="B91C1C"/>
          </a:solidFill>
          <a:ln w="12700">
            <a:solidFill>
              <a:srgbClr val="B91C1C"/>
            </a:solidFill>
            <a:prstDash val="solid"/>
          </a:ln>
        </p:spPr>
      </p:sp>
      <p:sp>
        <p:nvSpPr>
          <p:cNvPr id="7" name="Text 5"/>
          <p:cNvSpPr/>
          <p:nvPr/>
        </p:nvSpPr>
        <p:spPr>
          <a:xfrm>
            <a:off x="530352" y="1581912"/>
            <a:ext cx="2423160" cy="347472"/>
          </a:xfrm>
          <a:prstGeom prst="rect">
            <a:avLst/>
          </a:prstGeom>
          <a:noFill/>
          <a:ln/>
        </p:spPr>
        <p:txBody>
          <a:bodyPr wrap="square" lIns="0" tIns="0" rIns="0" bIns="0" rtlCol="0" anchor="ctr"/>
          <a:lstStyle/>
          <a:p>
            <a:pPr indent="0" marL="0">
              <a:buNone/>
            </a:pPr>
            <a:r>
              <a:rPr lang="en-US" sz="1250" b="1" dirty="0">
                <a:solidFill>
                  <a:srgbClr val="1A3A52"/>
                </a:solidFill>
                <a:latin typeface="Georgia" pitchFamily="34" charset="0"/>
                <a:ea typeface="Georgia" pitchFamily="34" charset="-122"/>
                <a:cs typeface="Georgia" pitchFamily="34" charset="-120"/>
              </a:rPr>
              <a:t>v22 ensemble collapse</a:t>
            </a:r>
            <a:endParaRPr lang="en-US" sz="1250" dirty="0"/>
          </a:p>
        </p:txBody>
      </p:sp>
      <p:sp>
        <p:nvSpPr>
          <p:cNvPr id="8" name="Text 6"/>
          <p:cNvSpPr/>
          <p:nvPr/>
        </p:nvSpPr>
        <p:spPr>
          <a:xfrm>
            <a:off x="530352" y="1947672"/>
            <a:ext cx="2423160" cy="640080"/>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Cross-recipe avg at 0.05 LB gap → −0.003 below v19</a:t>
            </a:r>
            <a:endParaRPr lang="en-US" sz="1000" dirty="0"/>
          </a:p>
        </p:txBody>
      </p:sp>
      <p:sp>
        <p:nvSpPr>
          <p:cNvPr id="9" name="Shape 7"/>
          <p:cNvSpPr/>
          <p:nvPr/>
        </p:nvSpPr>
        <p:spPr>
          <a:xfrm>
            <a:off x="3291840" y="1417320"/>
            <a:ext cx="2743200" cy="12344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10" name="Shape 8"/>
          <p:cNvSpPr/>
          <p:nvPr/>
        </p:nvSpPr>
        <p:spPr>
          <a:xfrm>
            <a:off x="3291840" y="1417320"/>
            <a:ext cx="2743200" cy="54864"/>
          </a:xfrm>
          <a:prstGeom prst="rect">
            <a:avLst/>
          </a:prstGeom>
          <a:solidFill>
            <a:srgbClr val="B91C1C"/>
          </a:solidFill>
          <a:ln w="12700">
            <a:solidFill>
              <a:srgbClr val="B91C1C"/>
            </a:solidFill>
            <a:prstDash val="solid"/>
          </a:ln>
        </p:spPr>
      </p:sp>
      <p:sp>
        <p:nvSpPr>
          <p:cNvPr id="11" name="Text 9"/>
          <p:cNvSpPr/>
          <p:nvPr/>
        </p:nvSpPr>
        <p:spPr>
          <a:xfrm>
            <a:off x="3456432" y="1581912"/>
            <a:ext cx="2423160" cy="347472"/>
          </a:xfrm>
          <a:prstGeom prst="rect">
            <a:avLst/>
          </a:prstGeom>
          <a:noFill/>
          <a:ln/>
        </p:spPr>
        <p:txBody>
          <a:bodyPr wrap="square" lIns="0" tIns="0" rIns="0" bIns="0" rtlCol="0" anchor="ctr"/>
          <a:lstStyle/>
          <a:p>
            <a:pPr indent="0" marL="0">
              <a:buNone/>
            </a:pPr>
            <a:r>
              <a:rPr lang="en-US" sz="1250" b="1" dirty="0">
                <a:solidFill>
                  <a:srgbClr val="1A3A52"/>
                </a:solidFill>
                <a:latin typeface="Georgia" pitchFamily="34" charset="0"/>
                <a:ea typeface="Georgia" pitchFamily="34" charset="-122"/>
                <a:cs typeface="Georgia" pitchFamily="34" charset="-120"/>
              </a:rPr>
              <a:t>v27 val holdout failure</a:t>
            </a:r>
            <a:endParaRPr lang="en-US" sz="1250" dirty="0"/>
          </a:p>
        </p:txBody>
      </p:sp>
      <p:sp>
        <p:nvSpPr>
          <p:cNvPr id="12" name="Text 10"/>
          <p:cNvSpPr/>
          <p:nvPr/>
        </p:nvSpPr>
        <p:spPr>
          <a:xfrm>
            <a:off x="3456432" y="1947672"/>
            <a:ext cx="2423160" cy="640080"/>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2-patient holdout too noisy on N=12 → best_epoch=0</a:t>
            </a:r>
            <a:endParaRPr lang="en-US" sz="1000" dirty="0"/>
          </a:p>
        </p:txBody>
      </p:sp>
      <p:sp>
        <p:nvSpPr>
          <p:cNvPr id="13" name="Shape 11"/>
          <p:cNvSpPr/>
          <p:nvPr/>
        </p:nvSpPr>
        <p:spPr>
          <a:xfrm>
            <a:off x="6217920" y="1417320"/>
            <a:ext cx="2743200" cy="12344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14" name="Shape 12"/>
          <p:cNvSpPr/>
          <p:nvPr/>
        </p:nvSpPr>
        <p:spPr>
          <a:xfrm>
            <a:off x="6217920" y="1417320"/>
            <a:ext cx="2743200" cy="54864"/>
          </a:xfrm>
          <a:prstGeom prst="rect">
            <a:avLst/>
          </a:prstGeom>
          <a:solidFill>
            <a:srgbClr val="B91C1C"/>
          </a:solidFill>
          <a:ln w="12700">
            <a:solidFill>
              <a:srgbClr val="B91C1C"/>
            </a:solidFill>
            <a:prstDash val="solid"/>
          </a:ln>
        </p:spPr>
      </p:sp>
      <p:sp>
        <p:nvSpPr>
          <p:cNvPr id="15" name="Text 13"/>
          <p:cNvSpPr/>
          <p:nvPr/>
        </p:nvSpPr>
        <p:spPr>
          <a:xfrm>
            <a:off x="6382512" y="1581912"/>
            <a:ext cx="2423160" cy="347472"/>
          </a:xfrm>
          <a:prstGeom prst="rect">
            <a:avLst/>
          </a:prstGeom>
          <a:noFill/>
          <a:ln/>
        </p:spPr>
        <p:txBody>
          <a:bodyPr wrap="square" lIns="0" tIns="0" rIns="0" bIns="0" rtlCol="0" anchor="ctr"/>
          <a:lstStyle/>
          <a:p>
            <a:pPr indent="0" marL="0">
              <a:buNone/>
            </a:pPr>
            <a:r>
              <a:rPr lang="en-US" sz="1250" b="1" dirty="0">
                <a:solidFill>
                  <a:srgbClr val="1A3A52"/>
                </a:solidFill>
                <a:latin typeface="Georgia" pitchFamily="34" charset="0"/>
                <a:ea typeface="Georgia" pitchFamily="34" charset="-122"/>
                <a:cs typeface="Georgia" pitchFamily="34" charset="-120"/>
              </a:rPr>
              <a:t>v37/v38 Lian transfer</a:t>
            </a:r>
            <a:endParaRPr lang="en-US" sz="1250" dirty="0"/>
          </a:p>
        </p:txBody>
      </p:sp>
      <p:sp>
        <p:nvSpPr>
          <p:cNvPr id="16" name="Text 14"/>
          <p:cNvSpPr/>
          <p:nvPr/>
        </p:nvSpPr>
        <p:spPr>
          <a:xfrm>
            <a:off x="6382512" y="1947672"/>
            <a:ext cx="2423160" cy="640080"/>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FL aug + early fusion didn't transfer to 1-ch grayscale</a:t>
            </a:r>
            <a:endParaRPr lang="en-US" sz="1000" dirty="0"/>
          </a:p>
        </p:txBody>
      </p:sp>
      <p:sp>
        <p:nvSpPr>
          <p:cNvPr id="17" name="Shape 15"/>
          <p:cNvSpPr/>
          <p:nvPr/>
        </p:nvSpPr>
        <p:spPr>
          <a:xfrm>
            <a:off x="365760" y="2788920"/>
            <a:ext cx="2743200" cy="12344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18" name="Shape 16"/>
          <p:cNvSpPr/>
          <p:nvPr/>
        </p:nvSpPr>
        <p:spPr>
          <a:xfrm>
            <a:off x="365760" y="2788920"/>
            <a:ext cx="2743200" cy="54864"/>
          </a:xfrm>
          <a:prstGeom prst="rect">
            <a:avLst/>
          </a:prstGeom>
          <a:solidFill>
            <a:srgbClr val="B91C1C"/>
          </a:solidFill>
          <a:ln w="12700">
            <a:solidFill>
              <a:srgbClr val="B91C1C"/>
            </a:solidFill>
            <a:prstDash val="solid"/>
          </a:ln>
        </p:spPr>
      </p:sp>
      <p:sp>
        <p:nvSpPr>
          <p:cNvPr id="19" name="Text 17"/>
          <p:cNvSpPr/>
          <p:nvPr/>
        </p:nvSpPr>
        <p:spPr>
          <a:xfrm>
            <a:off x="530352" y="2953512"/>
            <a:ext cx="2423160" cy="347472"/>
          </a:xfrm>
          <a:prstGeom prst="rect">
            <a:avLst/>
          </a:prstGeom>
          <a:noFill/>
          <a:ln/>
        </p:spPr>
        <p:txBody>
          <a:bodyPr wrap="square" lIns="0" tIns="0" rIns="0" bIns="0" rtlCol="0" anchor="ctr"/>
          <a:lstStyle/>
          <a:p>
            <a:pPr indent="0" marL="0">
              <a:buNone/>
            </a:pPr>
            <a:r>
              <a:rPr lang="en-US" sz="1250" b="1" dirty="0">
                <a:solidFill>
                  <a:srgbClr val="1A3A52"/>
                </a:solidFill>
                <a:latin typeface="Georgia" pitchFamily="34" charset="0"/>
                <a:ea typeface="Georgia" pitchFamily="34" charset="-122"/>
                <a:cs typeface="Georgia" pitchFamily="34" charset="-120"/>
              </a:rPr>
              <a:t>v42 SSL patient shortcut</a:t>
            </a:r>
            <a:endParaRPr lang="en-US" sz="1250" dirty="0"/>
          </a:p>
        </p:txBody>
      </p:sp>
      <p:sp>
        <p:nvSpPr>
          <p:cNvPr id="20" name="Text 18"/>
          <p:cNvSpPr/>
          <p:nvPr/>
        </p:nvSpPr>
        <p:spPr>
          <a:xfrm>
            <a:off x="530352" y="3319272"/>
            <a:ext cx="2423160" cy="640080"/>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InfoNCE solved by patient ID → CV 0.96, LB 0.59</a:t>
            </a:r>
            <a:endParaRPr lang="en-US" sz="1000" dirty="0"/>
          </a:p>
        </p:txBody>
      </p:sp>
      <p:sp>
        <p:nvSpPr>
          <p:cNvPr id="21" name="Shape 19"/>
          <p:cNvSpPr/>
          <p:nvPr/>
        </p:nvSpPr>
        <p:spPr>
          <a:xfrm>
            <a:off x="3291840" y="2788920"/>
            <a:ext cx="2743200" cy="12344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22" name="Shape 20"/>
          <p:cNvSpPr/>
          <p:nvPr/>
        </p:nvSpPr>
        <p:spPr>
          <a:xfrm>
            <a:off x="3291840" y="2788920"/>
            <a:ext cx="2743200" cy="54864"/>
          </a:xfrm>
          <a:prstGeom prst="rect">
            <a:avLst/>
          </a:prstGeom>
          <a:solidFill>
            <a:srgbClr val="B91C1C"/>
          </a:solidFill>
          <a:ln w="12700">
            <a:solidFill>
              <a:srgbClr val="B91C1C"/>
            </a:solidFill>
            <a:prstDash val="solid"/>
          </a:ln>
        </p:spPr>
      </p:sp>
      <p:sp>
        <p:nvSpPr>
          <p:cNvPr id="23" name="Text 21"/>
          <p:cNvSpPr/>
          <p:nvPr/>
        </p:nvSpPr>
        <p:spPr>
          <a:xfrm>
            <a:off x="3456432" y="2953512"/>
            <a:ext cx="2423160" cy="347472"/>
          </a:xfrm>
          <a:prstGeom prst="rect">
            <a:avLst/>
          </a:prstGeom>
          <a:noFill/>
          <a:ln/>
        </p:spPr>
        <p:txBody>
          <a:bodyPr wrap="square" lIns="0" tIns="0" rIns="0" bIns="0" rtlCol="0" anchor="ctr"/>
          <a:lstStyle/>
          <a:p>
            <a:pPr indent="0" marL="0">
              <a:buNone/>
            </a:pPr>
            <a:r>
              <a:rPr lang="en-US" sz="1250" b="1" dirty="0">
                <a:solidFill>
                  <a:srgbClr val="1A3A52"/>
                </a:solidFill>
                <a:latin typeface="Georgia" pitchFamily="34" charset="0"/>
                <a:ea typeface="Georgia" pitchFamily="34" charset="-122"/>
                <a:cs typeface="Georgia" pitchFamily="34" charset="-120"/>
              </a:rPr>
              <a:t>v43 stacked regression</a:t>
            </a:r>
            <a:endParaRPr lang="en-US" sz="1250" dirty="0"/>
          </a:p>
        </p:txBody>
      </p:sp>
      <p:sp>
        <p:nvSpPr>
          <p:cNvPr id="24" name="Text 22"/>
          <p:cNvSpPr/>
          <p:nvPr/>
        </p:nvSpPr>
        <p:spPr>
          <a:xfrm>
            <a:off x="3456432" y="3319272"/>
            <a:ext cx="2423160" cy="640080"/>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4 simultaneous changes → −0.012, no attribution</a:t>
            </a:r>
            <a:endParaRPr lang="en-US" sz="1000" dirty="0"/>
          </a:p>
        </p:txBody>
      </p:sp>
      <p:sp>
        <p:nvSpPr>
          <p:cNvPr id="25" name="Shape 23"/>
          <p:cNvSpPr/>
          <p:nvPr/>
        </p:nvSpPr>
        <p:spPr>
          <a:xfrm>
            <a:off x="6217920" y="2788920"/>
            <a:ext cx="2743200" cy="12344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26" name="Shape 24"/>
          <p:cNvSpPr/>
          <p:nvPr/>
        </p:nvSpPr>
        <p:spPr>
          <a:xfrm>
            <a:off x="6217920" y="2788920"/>
            <a:ext cx="2743200" cy="54864"/>
          </a:xfrm>
          <a:prstGeom prst="rect">
            <a:avLst/>
          </a:prstGeom>
          <a:solidFill>
            <a:srgbClr val="B91C1C"/>
          </a:solidFill>
          <a:ln w="12700">
            <a:solidFill>
              <a:srgbClr val="B91C1C"/>
            </a:solidFill>
            <a:prstDash val="solid"/>
          </a:ln>
        </p:spPr>
      </p:sp>
      <p:sp>
        <p:nvSpPr>
          <p:cNvPr id="27" name="Text 25"/>
          <p:cNvSpPr/>
          <p:nvPr/>
        </p:nvSpPr>
        <p:spPr>
          <a:xfrm>
            <a:off x="6382512" y="2953512"/>
            <a:ext cx="2423160" cy="347472"/>
          </a:xfrm>
          <a:prstGeom prst="rect">
            <a:avLst/>
          </a:prstGeom>
          <a:noFill/>
          <a:ln/>
        </p:spPr>
        <p:txBody>
          <a:bodyPr wrap="square" lIns="0" tIns="0" rIns="0" bIns="0" rtlCol="0" anchor="ctr"/>
          <a:lstStyle/>
          <a:p>
            <a:pPr indent="0" marL="0">
              <a:buNone/>
            </a:pPr>
            <a:r>
              <a:rPr lang="en-US" sz="1250" b="1" dirty="0">
                <a:solidFill>
                  <a:srgbClr val="1A3A52"/>
                </a:solidFill>
                <a:latin typeface="Georgia" pitchFamily="34" charset="0"/>
                <a:ea typeface="Georgia" pitchFamily="34" charset="-122"/>
                <a:cs typeface="Georgia" pitchFamily="34" charset="-120"/>
              </a:rPr>
              <a:t>v45_probe cross-recipe</a:t>
            </a:r>
            <a:endParaRPr lang="en-US" sz="1250" dirty="0"/>
          </a:p>
        </p:txBody>
      </p:sp>
      <p:sp>
        <p:nvSpPr>
          <p:cNvPr id="28" name="Text 26"/>
          <p:cNvSpPr/>
          <p:nvPr/>
        </p:nvSpPr>
        <p:spPr>
          <a:xfrm>
            <a:off x="6382512" y="3319272"/>
            <a:ext cx="2423160" cy="640080"/>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0.025 LB gap still too wide → confirmed v22 rule</a:t>
            </a:r>
            <a:endParaRPr lang="en-US" sz="1000" dirty="0"/>
          </a:p>
        </p:txBody>
      </p:sp>
      <p:sp>
        <p:nvSpPr>
          <p:cNvPr id="29" name="Shape 27"/>
          <p:cNvSpPr/>
          <p:nvPr/>
        </p:nvSpPr>
        <p:spPr>
          <a:xfrm>
            <a:off x="274320" y="4251960"/>
            <a:ext cx="8595360" cy="384048"/>
          </a:xfrm>
          <a:prstGeom prst="rect">
            <a:avLst/>
          </a:prstGeom>
          <a:solidFill>
            <a:srgbClr val="1A3A52"/>
          </a:solidFill>
          <a:ln w="12700">
            <a:solidFill>
              <a:srgbClr val="1A3A52"/>
            </a:solidFill>
            <a:prstDash val="solid"/>
          </a:ln>
        </p:spPr>
      </p:sp>
      <p:sp>
        <p:nvSpPr>
          <p:cNvPr id="30" name="Text 28"/>
          <p:cNvSpPr/>
          <p:nvPr/>
        </p:nvSpPr>
        <p:spPr>
          <a:xfrm>
            <a:off x="457200" y="4279392"/>
            <a:ext cx="8412480" cy="347472"/>
          </a:xfrm>
          <a:prstGeom prst="rect">
            <a:avLst/>
          </a:prstGeom>
          <a:noFill/>
          <a:ln/>
        </p:spPr>
        <p:txBody>
          <a:bodyPr wrap="square" lIns="0" tIns="0" rIns="0" bIns="0" rtlCol="0" anchor="ctr"/>
          <a:lstStyle/>
          <a:p>
            <a:pPr algn="l" indent="0" marL="0">
              <a:buNone/>
            </a:pPr>
            <a:r>
              <a:rPr lang="en-US" sz="1150" i="1" dirty="0">
                <a:solidFill>
                  <a:srgbClr val="FAF7F2"/>
                </a:solidFill>
                <a:latin typeface="Calibri" pitchFamily="34" charset="0"/>
                <a:ea typeface="Calibri" pitchFamily="34" charset="-122"/>
                <a:cs typeface="Calibri" pitchFamily="34" charset="-120"/>
              </a:rPr>
              <a:t>Every diagnosed failure shaped the v46 recipe directly. The wins are the losses processed.</a:t>
            </a:r>
            <a:endParaRPr lang="en-US" sz="1150" dirty="0"/>
          </a:p>
        </p:txBody>
      </p:sp>
      <p:sp>
        <p:nvSpPr>
          <p:cNvPr id="31" name="Text 29"/>
          <p:cNvSpPr/>
          <p:nvPr/>
        </p:nvSpPr>
        <p:spPr>
          <a:xfrm>
            <a:off x="274320" y="4864608"/>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Multimodal Cancer Cell Classification  ·  Uppsala 1MD042 A3</a:t>
            </a:r>
            <a:endParaRPr lang="en-US" sz="900" dirty="0"/>
          </a:p>
        </p:txBody>
      </p:sp>
      <p:sp>
        <p:nvSpPr>
          <p:cNvPr id="32" name="Text 30"/>
          <p:cNvSpPr/>
          <p:nvPr/>
        </p:nvSpPr>
        <p:spPr>
          <a:xfrm>
            <a:off x="7772400" y="4864608"/>
            <a:ext cx="109728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274320" y="274320"/>
            <a:ext cx="164592" cy="164592"/>
          </a:xfrm>
          <a:prstGeom prst="ellipse">
            <a:avLst/>
          </a:prstGeom>
          <a:solidFill>
            <a:srgbClr val="0D9488"/>
          </a:solidFill>
          <a:ln w="12700">
            <a:solidFill>
              <a:srgbClr val="0D9488"/>
            </a:solidFill>
            <a:prstDash val="solid"/>
          </a:ln>
        </p:spPr>
      </p:sp>
      <p:sp>
        <p:nvSpPr>
          <p:cNvPr id="3" name="Text 1"/>
          <p:cNvSpPr/>
          <p:nvPr/>
        </p:nvSpPr>
        <p:spPr>
          <a:xfrm>
            <a:off x="566928" y="274320"/>
            <a:ext cx="8229600" cy="274320"/>
          </a:xfrm>
          <a:prstGeom prst="rect">
            <a:avLst/>
          </a:prstGeom>
          <a:noFill/>
          <a:ln/>
        </p:spPr>
        <p:txBody>
          <a:bodyPr wrap="square" lIns="0" tIns="0" rIns="0" bIns="0" rtlCol="0" anchor="ctr"/>
          <a:lstStyle/>
          <a:p>
            <a:pPr indent="0" marL="0">
              <a:buNone/>
            </a:pPr>
            <a:r>
              <a:rPr lang="en-US" sz="1050" b="1" spc="400" kern="0" dirty="0">
                <a:solidFill>
                  <a:srgbClr val="0D9488"/>
                </a:solidFill>
                <a:latin typeface="Calibri" pitchFamily="34" charset="0"/>
                <a:ea typeface="Calibri" pitchFamily="34" charset="-122"/>
                <a:cs typeface="Calibri" pitchFamily="34" charset="-120"/>
              </a:rPr>
              <a:t>STRATEGY</a:t>
            </a:r>
            <a:endParaRPr lang="en-US" sz="1050" dirty="0"/>
          </a:p>
        </p:txBody>
      </p:sp>
      <p:sp>
        <p:nvSpPr>
          <p:cNvPr id="4" name="Text 2"/>
          <p:cNvSpPr/>
          <p:nvPr/>
        </p:nvSpPr>
        <p:spPr>
          <a:xfrm>
            <a:off x="274320" y="594360"/>
            <a:ext cx="8595360" cy="777240"/>
          </a:xfrm>
          <a:prstGeom prst="rect">
            <a:avLst/>
          </a:prstGeom>
          <a:noFill/>
          <a:ln/>
        </p:spPr>
        <p:txBody>
          <a:bodyPr wrap="square" lIns="0" tIns="0" rIns="0" bIns="0" rtlCol="0" anchor="ctr"/>
          <a:lstStyle/>
          <a:p>
            <a:pPr indent="0" marL="0">
              <a:buNone/>
            </a:pPr>
            <a:r>
              <a:rPr lang="en-US" sz="2800" b="1" dirty="0">
                <a:solidFill>
                  <a:srgbClr val="1A3A52"/>
                </a:solidFill>
                <a:latin typeface="Georgia" pitchFamily="34" charset="0"/>
                <a:ea typeface="Georgia" pitchFamily="34" charset="-122"/>
                <a:cs typeface="Georgia" pitchFamily="34" charset="-120"/>
              </a:rPr>
              <a:t>Two picks for the private leaderboard</a:t>
            </a:r>
            <a:endParaRPr lang="en-US" sz="2800" dirty="0"/>
          </a:p>
        </p:txBody>
      </p:sp>
      <p:sp>
        <p:nvSpPr>
          <p:cNvPr id="5" name="Shape 3"/>
          <p:cNvSpPr/>
          <p:nvPr/>
        </p:nvSpPr>
        <p:spPr>
          <a:xfrm>
            <a:off x="365760" y="1417320"/>
            <a:ext cx="4114800" cy="16916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6" name="Shape 4"/>
          <p:cNvSpPr/>
          <p:nvPr/>
        </p:nvSpPr>
        <p:spPr>
          <a:xfrm>
            <a:off x="365760" y="1417320"/>
            <a:ext cx="64008" cy="1691640"/>
          </a:xfrm>
          <a:prstGeom prst="rect">
            <a:avLst/>
          </a:prstGeom>
          <a:solidFill>
            <a:srgbClr val="0D9488"/>
          </a:solidFill>
          <a:ln w="12700">
            <a:solidFill>
              <a:srgbClr val="0D9488"/>
            </a:solidFill>
            <a:prstDash val="solid"/>
          </a:ln>
        </p:spPr>
      </p:sp>
      <p:sp>
        <p:nvSpPr>
          <p:cNvPr id="7" name="Text 5"/>
          <p:cNvSpPr/>
          <p:nvPr/>
        </p:nvSpPr>
        <p:spPr>
          <a:xfrm>
            <a:off x="566928" y="1508760"/>
            <a:ext cx="3840480" cy="845820"/>
          </a:xfrm>
          <a:prstGeom prst="rect">
            <a:avLst/>
          </a:prstGeom>
          <a:noFill/>
          <a:ln/>
        </p:spPr>
        <p:txBody>
          <a:bodyPr wrap="square" lIns="0" tIns="0" rIns="0" bIns="0" rtlCol="0" anchor="t"/>
          <a:lstStyle/>
          <a:p>
            <a:pPr algn="l" indent="0" marL="0">
              <a:buNone/>
            </a:pPr>
            <a:r>
              <a:rPr lang="en-US" sz="2800" b="1" dirty="0">
                <a:solidFill>
                  <a:srgbClr val="059669"/>
                </a:solidFill>
                <a:latin typeface="Georgia" pitchFamily="34" charset="0"/>
                <a:ea typeface="Georgia" pitchFamily="34" charset="-122"/>
                <a:cs typeface="Georgia" pitchFamily="34" charset="-120"/>
              </a:rPr>
              <a:t>v46</a:t>
            </a:r>
            <a:endParaRPr lang="en-US" sz="2800" dirty="0"/>
          </a:p>
        </p:txBody>
      </p:sp>
      <p:sp>
        <p:nvSpPr>
          <p:cNvPr id="8" name="Text 6"/>
          <p:cNvSpPr/>
          <p:nvPr/>
        </p:nvSpPr>
        <p:spPr>
          <a:xfrm>
            <a:off x="566928" y="2347722"/>
            <a:ext cx="3840480" cy="676656"/>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primary pick · LB 0.8236 · soft-pseudo distillation</a:t>
            </a:r>
            <a:endParaRPr lang="en-US" sz="1050" dirty="0"/>
          </a:p>
        </p:txBody>
      </p:sp>
      <p:sp>
        <p:nvSpPr>
          <p:cNvPr id="9" name="Shape 7"/>
          <p:cNvSpPr/>
          <p:nvPr/>
        </p:nvSpPr>
        <p:spPr>
          <a:xfrm>
            <a:off x="4754880" y="1417320"/>
            <a:ext cx="4114800" cy="1691640"/>
          </a:xfrm>
          <a:prstGeom prst="rect">
            <a:avLst/>
          </a:prstGeom>
          <a:solidFill>
            <a:srgbClr val="FFFFFF"/>
          </a:solidFill>
          <a:ln w="6350">
            <a:solidFill>
              <a:srgbClr val="E5E7EB"/>
            </a:solidFill>
            <a:prstDash val="solid"/>
          </a:ln>
          <a:effectLst>
            <a:outerShdw sx="100000" sy="100000" kx="0" ky="0" algn="bl" rotWithShape="0" blurRad="76200" dist="25400" dir="5400000">
              <a:srgbClr val="000000">
                <a:alpha val="6000"/>
              </a:srgbClr>
            </a:outerShdw>
          </a:effectLst>
        </p:spPr>
      </p:sp>
      <p:sp>
        <p:nvSpPr>
          <p:cNvPr id="10" name="Shape 8"/>
          <p:cNvSpPr/>
          <p:nvPr/>
        </p:nvSpPr>
        <p:spPr>
          <a:xfrm>
            <a:off x="4754880" y="1417320"/>
            <a:ext cx="64008" cy="1691640"/>
          </a:xfrm>
          <a:prstGeom prst="rect">
            <a:avLst/>
          </a:prstGeom>
          <a:solidFill>
            <a:srgbClr val="0D9488"/>
          </a:solidFill>
          <a:ln w="12700">
            <a:solidFill>
              <a:srgbClr val="0D9488"/>
            </a:solidFill>
            <a:prstDash val="solid"/>
          </a:ln>
        </p:spPr>
      </p:sp>
      <p:sp>
        <p:nvSpPr>
          <p:cNvPr id="11" name="Text 9"/>
          <p:cNvSpPr/>
          <p:nvPr/>
        </p:nvSpPr>
        <p:spPr>
          <a:xfrm>
            <a:off x="4956048" y="1508760"/>
            <a:ext cx="3840480" cy="845820"/>
          </a:xfrm>
          <a:prstGeom prst="rect">
            <a:avLst/>
          </a:prstGeom>
          <a:noFill/>
          <a:ln/>
        </p:spPr>
        <p:txBody>
          <a:bodyPr wrap="square" lIns="0" tIns="0" rIns="0" bIns="0" rtlCol="0" anchor="t"/>
          <a:lstStyle/>
          <a:p>
            <a:pPr algn="l" indent="0" marL="0">
              <a:buNone/>
            </a:pPr>
            <a:r>
              <a:rPr lang="en-US" sz="2800" b="1" dirty="0">
                <a:solidFill>
                  <a:srgbClr val="1A3A52"/>
                </a:solidFill>
                <a:latin typeface="Georgia" pitchFamily="34" charset="0"/>
                <a:ea typeface="Georgia" pitchFamily="34" charset="-122"/>
                <a:cs typeface="Georgia" pitchFamily="34" charset="-120"/>
              </a:rPr>
              <a:t>v41</a:t>
            </a:r>
            <a:endParaRPr lang="en-US" sz="2800" dirty="0"/>
          </a:p>
        </p:txBody>
      </p:sp>
      <p:sp>
        <p:nvSpPr>
          <p:cNvPr id="12" name="Text 10"/>
          <p:cNvSpPr/>
          <p:nvPr/>
        </p:nvSpPr>
        <p:spPr>
          <a:xfrm>
            <a:off x="4956048" y="2347722"/>
            <a:ext cx="3840480" cy="676656"/>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safety net · LB 0.7563 · no pseudo · maximally different recipe</a:t>
            </a:r>
            <a:endParaRPr lang="en-US" sz="1050" dirty="0"/>
          </a:p>
        </p:txBody>
      </p:sp>
      <p:sp>
        <p:nvSpPr>
          <p:cNvPr id="13" name="Text 11"/>
          <p:cNvSpPr/>
          <p:nvPr/>
        </p:nvSpPr>
        <p:spPr>
          <a:xfrm>
            <a:off x="365760" y="3337560"/>
            <a:ext cx="8503920" cy="274320"/>
          </a:xfrm>
          <a:prstGeom prst="rect">
            <a:avLst/>
          </a:prstGeom>
          <a:noFill/>
          <a:ln/>
        </p:spPr>
        <p:txBody>
          <a:bodyPr wrap="square" lIns="0" tIns="0" rIns="0" bIns="0" rtlCol="0" anchor="ctr"/>
          <a:lstStyle/>
          <a:p>
            <a:pPr indent="0" marL="0">
              <a:buNone/>
            </a:pPr>
            <a:r>
              <a:rPr lang="en-US" sz="1200" b="1" spc="200" kern="0" dirty="0">
                <a:solidFill>
                  <a:srgbClr val="0D9488"/>
                </a:solidFill>
                <a:latin typeface="Calibri" pitchFamily="34" charset="0"/>
                <a:ea typeface="Calibri" pitchFamily="34" charset="-122"/>
                <a:cs typeface="Calibri" pitchFamily="34" charset="-120"/>
              </a:rPr>
              <a:t>Why these two — not v44 or v47</a:t>
            </a:r>
            <a:endParaRPr lang="en-US" sz="1200" dirty="0"/>
          </a:p>
        </p:txBody>
      </p:sp>
      <p:sp>
        <p:nvSpPr>
          <p:cNvPr id="14" name="Text 12"/>
          <p:cNvSpPr/>
          <p:nvPr/>
        </p:nvSpPr>
        <p:spPr>
          <a:xfrm>
            <a:off x="365760" y="3657600"/>
            <a:ext cx="8503920" cy="960120"/>
          </a:xfrm>
          <a:prstGeom prst="rect">
            <a:avLst/>
          </a:prstGeom>
          <a:noFill/>
          <a:ln/>
        </p:spPr>
        <p:txBody>
          <a:bodyPr wrap="square" lIns="0" tIns="0" rIns="0" bIns="0" rtlCol="0" anchor="ctr"/>
          <a:lstStyle/>
          <a:p>
            <a:pPr marL="342900" indent="-3429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v44 shares pseudo-label lineage with v46 → correlated → no diversification</a:t>
            </a:r>
            <a:endParaRPr lang="en-US" sz="1150" dirty="0"/>
          </a:p>
          <a:p>
            <a:pPr marL="342900" indent="-3429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v47 (noisy-student round 2) is even more correlated with v46 — same teacher chain</a:t>
            </a:r>
            <a:endParaRPr lang="en-US" sz="1150" dirty="0"/>
          </a:p>
          <a:p>
            <a:pPr marL="342900" indent="-3429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v41 has no pseudo, no SWA, no FL aug — orthogonal failure mode → real hedge</a:t>
            </a:r>
            <a:endParaRPr lang="en-US" sz="1150" dirty="0"/>
          </a:p>
        </p:txBody>
      </p:sp>
      <p:sp>
        <p:nvSpPr>
          <p:cNvPr id="15" name="Text 13"/>
          <p:cNvSpPr/>
          <p:nvPr/>
        </p:nvSpPr>
        <p:spPr>
          <a:xfrm>
            <a:off x="274320" y="4864608"/>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Multimodal Cancer Cell Classification  ·  Uppsala 1MD042 A3</a:t>
            </a:r>
            <a:endParaRPr lang="en-US" sz="900" dirty="0"/>
          </a:p>
        </p:txBody>
      </p:sp>
      <p:sp>
        <p:nvSpPr>
          <p:cNvPr id="16" name="Text 14"/>
          <p:cNvSpPr/>
          <p:nvPr/>
        </p:nvSpPr>
        <p:spPr>
          <a:xfrm>
            <a:off x="7772400" y="4864608"/>
            <a:ext cx="109728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731520" y="457200"/>
            <a:ext cx="7772400" cy="274320"/>
          </a:xfrm>
          <a:prstGeom prst="rect">
            <a:avLst/>
          </a:prstGeom>
          <a:noFill/>
          <a:ln/>
        </p:spPr>
        <p:txBody>
          <a:bodyPr wrap="square" lIns="0" tIns="0" rIns="0" bIns="0" rtlCol="0" anchor="ctr"/>
          <a:lstStyle/>
          <a:p>
            <a:pPr indent="0" marL="0">
              <a:buNone/>
            </a:pPr>
            <a:r>
              <a:rPr lang="en-US" sz="1150" b="1" spc="500" kern="0" dirty="0">
                <a:solidFill>
                  <a:srgbClr val="0D9488"/>
                </a:solidFill>
                <a:latin typeface="Calibri" pitchFamily="34" charset="0"/>
                <a:ea typeface="Calibri" pitchFamily="34" charset="-122"/>
                <a:cs typeface="Calibri" pitchFamily="34" charset="-120"/>
              </a:rPr>
              <a:t>FIVE THINGS WE'LL CARRY FORWARD</a:t>
            </a:r>
            <a:endParaRPr lang="en-US" sz="1150" dirty="0"/>
          </a:p>
        </p:txBody>
      </p:sp>
      <p:sp>
        <p:nvSpPr>
          <p:cNvPr id="4" name="Text 2"/>
          <p:cNvSpPr/>
          <p:nvPr/>
        </p:nvSpPr>
        <p:spPr>
          <a:xfrm>
            <a:off x="731520" y="777240"/>
            <a:ext cx="7863840" cy="59436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Take-home messages</a:t>
            </a:r>
            <a:endParaRPr lang="en-US" sz="3000" dirty="0"/>
          </a:p>
        </p:txBody>
      </p:sp>
      <p:sp>
        <p:nvSpPr>
          <p:cNvPr id="5" name="Text 3"/>
          <p:cNvSpPr/>
          <p:nvPr/>
        </p:nvSpPr>
        <p:spPr>
          <a:xfrm>
            <a:off x="731520" y="1737360"/>
            <a:ext cx="502920" cy="365760"/>
          </a:xfrm>
          <a:prstGeom prst="rect">
            <a:avLst/>
          </a:prstGeom>
          <a:noFill/>
          <a:ln/>
        </p:spPr>
        <p:txBody>
          <a:bodyPr wrap="square" lIns="0" tIns="0" rIns="0" bIns="0" rtlCol="0" anchor="ctr"/>
          <a:lstStyle/>
          <a:p>
            <a:pPr algn="l" indent="0" marL="0">
              <a:buNone/>
            </a:pPr>
            <a:r>
              <a:rPr lang="en-US" sz="1800" b="1" dirty="0">
                <a:solidFill>
                  <a:srgbClr val="D97706"/>
                </a:solidFill>
                <a:latin typeface="Georgia" pitchFamily="34" charset="0"/>
                <a:ea typeface="Georgia" pitchFamily="34" charset="-122"/>
                <a:cs typeface="Georgia" pitchFamily="34" charset="-120"/>
              </a:rPr>
              <a:t>01</a:t>
            </a:r>
            <a:endParaRPr lang="en-US" sz="1800" dirty="0"/>
          </a:p>
        </p:txBody>
      </p:sp>
      <p:sp>
        <p:nvSpPr>
          <p:cNvPr id="6" name="Text 4"/>
          <p:cNvSpPr/>
          <p:nvPr/>
        </p:nvSpPr>
        <p:spPr>
          <a:xfrm>
            <a:off x="1280160" y="1737360"/>
            <a:ext cx="7498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Higher CV ≠ higher LB.</a:t>
            </a:r>
            <a:endParaRPr lang="en-US" sz="1300" dirty="0"/>
          </a:p>
        </p:txBody>
      </p:sp>
      <p:sp>
        <p:nvSpPr>
          <p:cNvPr id="7" name="Text 5"/>
          <p:cNvSpPr/>
          <p:nvPr/>
        </p:nvSpPr>
        <p:spPr>
          <a:xfrm>
            <a:off x="1280160" y="2029968"/>
            <a:ext cx="7498080" cy="274320"/>
          </a:xfrm>
          <a:prstGeom prst="rect">
            <a:avLst/>
          </a:prstGeom>
          <a:noFill/>
          <a:ln/>
        </p:spPr>
        <p:txBody>
          <a:bodyPr wrap="square" lIns="0" tIns="0" rIns="0" bIns="0" rtlCol="0" anchor="ctr"/>
          <a:lstStyle/>
          <a:p>
            <a:pPr indent="0" marL="0">
              <a:buNone/>
            </a:pPr>
            <a:r>
              <a:rPr lang="en-US" sz="1100" i="1" dirty="0">
                <a:solidFill>
                  <a:srgbClr val="FAF7F2"/>
                </a:solidFill>
                <a:latin typeface="Calibri" pitchFamily="34" charset="0"/>
                <a:ea typeface="Calibri" pitchFamily="34" charset="-122"/>
                <a:cs typeface="Calibri" pitchFamily="34" charset="-120"/>
              </a:rPr>
              <a:t>v15 had our best CV (0.866). It had our worst LB (0.572).</a:t>
            </a:r>
            <a:endParaRPr lang="en-US" sz="1100" dirty="0"/>
          </a:p>
        </p:txBody>
      </p:sp>
      <p:sp>
        <p:nvSpPr>
          <p:cNvPr id="8" name="Text 6"/>
          <p:cNvSpPr/>
          <p:nvPr/>
        </p:nvSpPr>
        <p:spPr>
          <a:xfrm>
            <a:off x="731520" y="2304288"/>
            <a:ext cx="502920" cy="365760"/>
          </a:xfrm>
          <a:prstGeom prst="rect">
            <a:avLst/>
          </a:prstGeom>
          <a:noFill/>
          <a:ln/>
        </p:spPr>
        <p:txBody>
          <a:bodyPr wrap="square" lIns="0" tIns="0" rIns="0" bIns="0" rtlCol="0" anchor="ctr"/>
          <a:lstStyle/>
          <a:p>
            <a:pPr algn="l" indent="0" marL="0">
              <a:buNone/>
            </a:pPr>
            <a:r>
              <a:rPr lang="en-US" sz="1800" b="1" dirty="0">
                <a:solidFill>
                  <a:srgbClr val="D97706"/>
                </a:solidFill>
                <a:latin typeface="Georgia" pitchFamily="34" charset="0"/>
                <a:ea typeface="Georgia" pitchFamily="34" charset="-122"/>
                <a:cs typeface="Georgia" pitchFamily="34" charset="-120"/>
              </a:rPr>
              <a:t>02</a:t>
            </a:r>
            <a:endParaRPr lang="en-US" sz="1800" dirty="0"/>
          </a:p>
        </p:txBody>
      </p:sp>
      <p:sp>
        <p:nvSpPr>
          <p:cNvPr id="9" name="Text 7"/>
          <p:cNvSpPr/>
          <p:nvPr/>
        </p:nvSpPr>
        <p:spPr>
          <a:xfrm>
            <a:off x="1280160" y="2304288"/>
            <a:ext cx="7498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Don't stack unvalidated changes.</a:t>
            </a:r>
            <a:endParaRPr lang="en-US" sz="1300" dirty="0"/>
          </a:p>
        </p:txBody>
      </p:sp>
      <p:sp>
        <p:nvSpPr>
          <p:cNvPr id="10" name="Text 8"/>
          <p:cNvSpPr/>
          <p:nvPr/>
        </p:nvSpPr>
        <p:spPr>
          <a:xfrm>
            <a:off x="1280160" y="2596896"/>
            <a:ext cx="7498080" cy="274320"/>
          </a:xfrm>
          <a:prstGeom prst="rect">
            <a:avLst/>
          </a:prstGeom>
          <a:noFill/>
          <a:ln/>
        </p:spPr>
        <p:txBody>
          <a:bodyPr wrap="square" lIns="0" tIns="0" rIns="0" bIns="0" rtlCol="0" anchor="ctr"/>
          <a:lstStyle/>
          <a:p>
            <a:pPr indent="0" marL="0">
              <a:buNone/>
            </a:pPr>
            <a:r>
              <a:rPr lang="en-US" sz="1100" i="1" dirty="0">
                <a:solidFill>
                  <a:srgbClr val="FAF7F2"/>
                </a:solidFill>
                <a:latin typeface="Calibri" pitchFamily="34" charset="0"/>
                <a:ea typeface="Calibri" pitchFamily="34" charset="-122"/>
                <a:cs typeface="Calibri" pitchFamily="34" charset="-120"/>
              </a:rPr>
              <a:t>v43 stacked four tweaks at once → −0.012 LB and no way to attribute blame.</a:t>
            </a:r>
            <a:endParaRPr lang="en-US" sz="1100" dirty="0"/>
          </a:p>
        </p:txBody>
      </p:sp>
      <p:sp>
        <p:nvSpPr>
          <p:cNvPr id="11" name="Text 9"/>
          <p:cNvSpPr/>
          <p:nvPr/>
        </p:nvSpPr>
        <p:spPr>
          <a:xfrm>
            <a:off x="731520" y="2871216"/>
            <a:ext cx="502920" cy="365760"/>
          </a:xfrm>
          <a:prstGeom prst="rect">
            <a:avLst/>
          </a:prstGeom>
          <a:noFill/>
          <a:ln/>
        </p:spPr>
        <p:txBody>
          <a:bodyPr wrap="square" lIns="0" tIns="0" rIns="0" bIns="0" rtlCol="0" anchor="ctr"/>
          <a:lstStyle/>
          <a:p>
            <a:pPr algn="l" indent="0" marL="0">
              <a:buNone/>
            </a:pPr>
            <a:r>
              <a:rPr lang="en-US" sz="1800" b="1" dirty="0">
                <a:solidFill>
                  <a:srgbClr val="D97706"/>
                </a:solidFill>
                <a:latin typeface="Georgia" pitchFamily="34" charset="0"/>
                <a:ea typeface="Georgia" pitchFamily="34" charset="-122"/>
                <a:cs typeface="Georgia" pitchFamily="34" charset="-120"/>
              </a:rPr>
              <a:t>03</a:t>
            </a:r>
            <a:endParaRPr lang="en-US" sz="1800" dirty="0"/>
          </a:p>
        </p:txBody>
      </p:sp>
      <p:sp>
        <p:nvSpPr>
          <p:cNvPr id="12" name="Text 10"/>
          <p:cNvSpPr/>
          <p:nvPr/>
        </p:nvSpPr>
        <p:spPr>
          <a:xfrm>
            <a:off x="1280160" y="2871216"/>
            <a:ext cx="7498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Seed variance is huge.</a:t>
            </a:r>
            <a:endParaRPr lang="en-US" sz="1300" dirty="0"/>
          </a:p>
        </p:txBody>
      </p:sp>
      <p:sp>
        <p:nvSpPr>
          <p:cNvPr id="13" name="Text 11"/>
          <p:cNvSpPr/>
          <p:nvPr/>
        </p:nvSpPr>
        <p:spPr>
          <a:xfrm>
            <a:off x="1280160" y="3163824"/>
            <a:ext cx="7498080" cy="274320"/>
          </a:xfrm>
          <a:prstGeom prst="rect">
            <a:avLst/>
          </a:prstGeom>
          <a:noFill/>
          <a:ln/>
        </p:spPr>
        <p:txBody>
          <a:bodyPr wrap="square" lIns="0" tIns="0" rIns="0" bIns="0" rtlCol="0" anchor="ctr"/>
          <a:lstStyle/>
          <a:p>
            <a:pPr indent="0" marL="0">
              <a:buNone/>
            </a:pPr>
            <a:r>
              <a:rPr lang="en-US" sz="1100" i="1" dirty="0">
                <a:solidFill>
                  <a:srgbClr val="FAF7F2"/>
                </a:solidFill>
                <a:latin typeface="Calibri" pitchFamily="34" charset="0"/>
                <a:ea typeface="Calibri" pitchFamily="34" charset="-122"/>
                <a:cs typeface="Calibri" pitchFamily="34" charset="-120"/>
              </a:rPr>
              <a:t>Same recipe, different seed: 0.03 LB shift. A/B claims under 0.03 are noise.</a:t>
            </a:r>
            <a:endParaRPr lang="en-US" sz="1100" dirty="0"/>
          </a:p>
        </p:txBody>
      </p:sp>
      <p:sp>
        <p:nvSpPr>
          <p:cNvPr id="14" name="Text 12"/>
          <p:cNvSpPr/>
          <p:nvPr/>
        </p:nvSpPr>
        <p:spPr>
          <a:xfrm>
            <a:off x="731520" y="3438144"/>
            <a:ext cx="502920" cy="365760"/>
          </a:xfrm>
          <a:prstGeom prst="rect">
            <a:avLst/>
          </a:prstGeom>
          <a:noFill/>
          <a:ln/>
        </p:spPr>
        <p:txBody>
          <a:bodyPr wrap="square" lIns="0" tIns="0" rIns="0" bIns="0" rtlCol="0" anchor="ctr"/>
          <a:lstStyle/>
          <a:p>
            <a:pPr algn="l" indent="0" marL="0">
              <a:buNone/>
            </a:pPr>
            <a:r>
              <a:rPr lang="en-US" sz="1800" b="1" dirty="0">
                <a:solidFill>
                  <a:srgbClr val="D97706"/>
                </a:solidFill>
                <a:latin typeface="Georgia" pitchFamily="34" charset="0"/>
                <a:ea typeface="Georgia" pitchFamily="34" charset="-122"/>
                <a:cs typeface="Georgia" pitchFamily="34" charset="-120"/>
              </a:rPr>
              <a:t>04</a:t>
            </a:r>
            <a:endParaRPr lang="en-US" sz="1800" dirty="0"/>
          </a:p>
        </p:txBody>
      </p:sp>
      <p:sp>
        <p:nvSpPr>
          <p:cNvPr id="15" name="Text 13"/>
          <p:cNvSpPr/>
          <p:nvPr/>
        </p:nvSpPr>
        <p:spPr>
          <a:xfrm>
            <a:off x="1280160" y="3438144"/>
            <a:ext cx="7498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 small-N, dataset size &gt; regularization.</a:t>
            </a:r>
            <a:endParaRPr lang="en-US" sz="1300" dirty="0"/>
          </a:p>
        </p:txBody>
      </p:sp>
      <p:sp>
        <p:nvSpPr>
          <p:cNvPr id="16" name="Text 14"/>
          <p:cNvSpPr/>
          <p:nvPr/>
        </p:nvSpPr>
        <p:spPr>
          <a:xfrm>
            <a:off x="1280160" y="3730752"/>
            <a:ext cx="7498080" cy="274320"/>
          </a:xfrm>
          <a:prstGeom prst="rect">
            <a:avLst/>
          </a:prstGeom>
          <a:noFill/>
          <a:ln/>
        </p:spPr>
        <p:txBody>
          <a:bodyPr wrap="square" lIns="0" tIns="0" rIns="0" bIns="0" rtlCol="0" anchor="ctr"/>
          <a:lstStyle/>
          <a:p>
            <a:pPr indent="0" marL="0">
              <a:buNone/>
            </a:pPr>
            <a:r>
              <a:rPr lang="en-US" sz="1100" i="1" dirty="0">
                <a:solidFill>
                  <a:srgbClr val="FAF7F2"/>
                </a:solidFill>
                <a:latin typeface="Calibri" pitchFamily="34" charset="0"/>
                <a:ea typeface="Calibri" pitchFamily="34" charset="-122"/>
                <a:cs typeface="Calibri" pitchFamily="34" charset="-120"/>
              </a:rPr>
              <a:t>v41's four regularizers gained +0.011 LB. v46's soft pseudo-labels gained +0.039.</a:t>
            </a:r>
            <a:endParaRPr lang="en-US" sz="1100" dirty="0"/>
          </a:p>
        </p:txBody>
      </p:sp>
      <p:sp>
        <p:nvSpPr>
          <p:cNvPr id="17" name="Text 15"/>
          <p:cNvSpPr/>
          <p:nvPr/>
        </p:nvSpPr>
        <p:spPr>
          <a:xfrm>
            <a:off x="731520" y="4005072"/>
            <a:ext cx="502920" cy="365760"/>
          </a:xfrm>
          <a:prstGeom prst="rect">
            <a:avLst/>
          </a:prstGeom>
          <a:noFill/>
          <a:ln/>
        </p:spPr>
        <p:txBody>
          <a:bodyPr wrap="square" lIns="0" tIns="0" rIns="0" bIns="0" rtlCol="0" anchor="ctr"/>
          <a:lstStyle/>
          <a:p>
            <a:pPr algn="l" indent="0" marL="0">
              <a:buNone/>
            </a:pPr>
            <a:r>
              <a:rPr lang="en-US" sz="1800" b="1" dirty="0">
                <a:solidFill>
                  <a:srgbClr val="D97706"/>
                </a:solidFill>
                <a:latin typeface="Georgia" pitchFamily="34" charset="0"/>
                <a:ea typeface="Georgia" pitchFamily="34" charset="-122"/>
                <a:cs typeface="Georgia" pitchFamily="34" charset="-120"/>
              </a:rPr>
              <a:t>05</a:t>
            </a:r>
            <a:endParaRPr lang="en-US" sz="1800" dirty="0"/>
          </a:p>
        </p:txBody>
      </p:sp>
      <p:sp>
        <p:nvSpPr>
          <p:cNvPr id="18" name="Text 16"/>
          <p:cNvSpPr/>
          <p:nvPr/>
        </p:nvSpPr>
        <p:spPr>
          <a:xfrm>
            <a:off x="1280160" y="4005072"/>
            <a:ext cx="7498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Negative results are the methodology.</a:t>
            </a:r>
            <a:endParaRPr lang="en-US" sz="1300" dirty="0"/>
          </a:p>
        </p:txBody>
      </p:sp>
      <p:sp>
        <p:nvSpPr>
          <p:cNvPr id="19" name="Text 17"/>
          <p:cNvSpPr/>
          <p:nvPr/>
        </p:nvSpPr>
        <p:spPr>
          <a:xfrm>
            <a:off x="1280160" y="4297680"/>
            <a:ext cx="7498080" cy="274320"/>
          </a:xfrm>
          <a:prstGeom prst="rect">
            <a:avLst/>
          </a:prstGeom>
          <a:noFill/>
          <a:ln/>
        </p:spPr>
        <p:txBody>
          <a:bodyPr wrap="square" lIns="0" tIns="0" rIns="0" bIns="0" rtlCol="0" anchor="ctr"/>
          <a:lstStyle/>
          <a:p>
            <a:pPr indent="0" marL="0">
              <a:buNone/>
            </a:pPr>
            <a:r>
              <a:rPr lang="en-US" sz="1100" i="1" dirty="0">
                <a:solidFill>
                  <a:srgbClr val="FAF7F2"/>
                </a:solidFill>
                <a:latin typeface="Calibri" pitchFamily="34" charset="0"/>
                <a:ea typeface="Calibri" pitchFamily="34" charset="-122"/>
                <a:cs typeface="Calibri" pitchFamily="34" charset="-120"/>
              </a:rPr>
              <a:t>Six diagnosed failure modes shaped the v46 recipe directly.</a:t>
            </a:r>
            <a:endParaRPr lang="en-US" sz="1100" dirty="0"/>
          </a:p>
        </p:txBody>
      </p:sp>
      <p:sp>
        <p:nvSpPr>
          <p:cNvPr id="20" name="Text 18"/>
          <p:cNvSpPr/>
          <p:nvPr/>
        </p:nvSpPr>
        <p:spPr>
          <a:xfrm>
            <a:off x="731520" y="4754880"/>
            <a:ext cx="786384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 + LB history: github.com/rafallex/A3-ADL  ·  Questions?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Cancer Cell Classification</dc:title>
  <dc:subject>PptxGenJS Presentation</dc:subject>
  <dc:creator>Rafael Tavares Proença</dc:creator>
  <cp:lastModifiedBy>Rafael Tavares Proença</cp:lastModifiedBy>
  <cp:revision>1</cp:revision>
  <dcterms:created xsi:type="dcterms:W3CDTF">2026-05-25T12:24:14Z</dcterms:created>
  <dcterms:modified xsi:type="dcterms:W3CDTF">2026-05-25T12:24:14Z</dcterms:modified>
</cp:coreProperties>
</file>