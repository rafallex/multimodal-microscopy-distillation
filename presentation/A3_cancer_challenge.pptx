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and a final architecture push. +0.094 LB lift over the supervised baseline to my best single model: v58's intermediate co-attention fusion (seed2) at 0.8392 -- the new best.
But this talk is not primarily about the score. The instructor said grading is based on methodology and presentation, not the leaderboard itself. So I'll spend most of the time on what didn't work and why — six diagnosed failures shaped the winning recipe directly.
Pacing: 14 slides, ~45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The score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 the biggest single jump. v47 iterated with v46 as the new teacher (Xie 2020 noisy student round 2): +0.003 on the ensemble (0.8264) but +0.012 on the best single seed (0.8355).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 The right-edge cluster is the final single-model architecture sweep: v58 intermediate co-attention reached 0.8392 (the new best, amber); v59 (EfficientNetV2-S) and v60 (192px) both regressed; and v61's 2-seed co-attention average (0.8308) landed below the best seed -- ensembling failing yet again.
The +0.094 LB lift from v19 (0.7455) to v58's co-attention best (0.8392) is the headline -- the next two slides cover why ensembling never helped, and the co-attention final push that set that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slide I want you to remember: on this problem, ensembling never gave a lift beyond noise. I tried a dozen flavours; all but one regressed below my best single model, and the one that edged it did so by about 0.1 sigma -- a tie.
Within-recipe seed averaging: my three v47 seeds average to 0.8264, but the best single seed is 0.8355. I confirmed it a second time on the winning co-attention recipe — v61's two-seed average scored 0.8308, below its best seed 0.8350. The per-seed leaderboard spread is ~0.023 on twelve patients — so wide that averaging doesn't cancel noise, it just drags the lucky draw back down to the mean.
Cross-recipe averaging: v22 averaged v19 and v21 and landed at 0.7422, below v19's 0.7455 alone. v45_probe confirmed it. Symmetric averaging always pulls toward the weaker member, and the quality gap between any two of my models is wide enough that it hurts.
And the one that should have worked: a gradient-boosted tree on hand-crafted features, genuinely decorrelated from the CNN at rank-correlation 0.41 — textbook ideal ensemble ingredient. Its leave-patients-out CV was 0.82. Blended 50/50 with my best model it scored 0.7074. Its CV simply did not transfer to unseen patients — the exact CV-versus-LB trap that defines this whole project, now sprung on the ensemble itself.
The conclusion: with twelve patients, variance dominates, and no averaging gives a lift beyond noise -- the one within-rule blend only tied the best single (0.8404 vs 0.8392, ~0.1 sigma). For the final lock-in I chose robustness over the lucky draw: two variance-reduced models -- v58's 2-seed co-attention mean (0.8314) and v47's 3-seed distillation ensemble (0.8264) -- neither dependent on a single lucky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chapter, after the distillation breakthrough. I swept the remaining architectural levers as single EfficientNet models — no ensembles (those all failed; next slide).
Two hurt: bumping capacity to EfficientNetV2-S dropped to 0.7376 (a bigger model overfits 12 patients), and raising input resolution to 192px dropped to 0.7823. Both reinforce the data-bound thesis.
One helped: intermediate co-attention fusion — the CAFNet design from the source-dataset paper, applied to EfficientNet-B0. Its best seed reached 0.8392, a new best over v47's 0.8355, and it lifted the mean too. The learning curves (left) show clean training to ~0.99 train AUC with no instability — I had to harden the attention (fp32 + a zero-init ReZero gate) to stop an fp16 NaN.
Take-home: fusion design is the one architectural lever that moved the needle here; capacity and resolution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0.8392</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v58 co-attention seed2  ·  single model</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+0.094</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0.8392</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BEST LB  ·  v58 co-attention</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60520"/>
            <a:ext cx="8595360" cy="384048"/>
          </a:xfrm>
          <a:prstGeom prst="rect">
            <a:avLst/>
          </a:prstGeom>
          <a:solidFill>
            <a:srgbClr val="1A3A52"/>
          </a:solidFill>
          <a:ln w="12700">
            <a:solidFill>
              <a:srgbClr val="1A3A52"/>
            </a:solidFill>
            <a:prstDash val="solid"/>
          </a:ln>
        </p:spPr>
      </p:sp>
      <p:sp>
        <p:nvSpPr>
          <p:cNvPr id="39" name="Shape 37"/>
          <p:cNvSpPr/>
          <p:nvPr/>
        </p:nvSpPr>
        <p:spPr>
          <a:xfrm>
            <a:off x="274320" y="4160520"/>
            <a:ext cx="64008" cy="384048"/>
          </a:xfrm>
          <a:prstGeom prst="rect">
            <a:avLst/>
          </a:prstGeom>
          <a:solidFill>
            <a:srgbClr val="D97706"/>
          </a:solidFill>
          <a:ln w="12700">
            <a:solidFill>
              <a:srgbClr val="D97706"/>
            </a:solidFill>
            <a:prstDash val="solid"/>
          </a:ln>
        </p:spPr>
      </p:sp>
      <p:sp>
        <p:nvSpPr>
          <p:cNvPr id="40" name="Text 38"/>
          <p:cNvSpPr/>
          <p:nvPr/>
        </p:nvSpPr>
        <p:spPr>
          <a:xfrm>
            <a:off x="493776" y="4160520"/>
            <a:ext cx="8229600" cy="384048"/>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HEADLINE    </a:t>
            </a:r>
            <a:pPr indent="0" marL="0">
              <a:buNone/>
            </a:pPr>
            <a:r>
              <a:rPr lang="en-US" sz="1100" i="1" dirty="0">
                <a:solidFill>
                  <a:srgbClr val="FAF7F2"/>
                </a:solidFill>
                <a:latin typeface="Georgia" pitchFamily="34" charset="0"/>
                <a:ea typeface="Georgia" pitchFamily="34" charset="-122"/>
                <a:cs typeface="Georgia" pitchFamily="34" charset="-120"/>
              </a:rPr>
              <a:t>+0.094 LB total — the biggest single jump (+0.039) was soft-pseudo distillation (Hinton 2015).</a:t>
            </a:r>
            <a:endParaRPr lang="en-US" sz="950" dirty="0"/>
          </a:p>
        </p:txBody>
      </p:sp>
      <p:sp>
        <p:nvSpPr>
          <p:cNvPr id="41" name="Text 39"/>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2" name="Text 40"/>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19.7%</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FL TEST brighter than train — why AdaBN + stain norm</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389120"/>
            <a:ext cx="8595360" cy="365760"/>
          </a:xfrm>
          <a:prstGeom prst="rect">
            <a:avLst/>
          </a:prstGeom>
          <a:solidFill>
            <a:srgbClr val="1A3A52"/>
          </a:solidFill>
          <a:ln w="12700">
            <a:solidFill>
              <a:srgbClr val="1A3A52"/>
            </a:solidFill>
            <a:prstDash val="solid"/>
          </a:ln>
        </p:spPr>
      </p:sp>
      <p:sp>
        <p:nvSpPr>
          <p:cNvPr id="23" name="Shape 21"/>
          <p:cNvSpPr/>
          <p:nvPr/>
        </p:nvSpPr>
        <p:spPr>
          <a:xfrm>
            <a:off x="274320" y="4389120"/>
            <a:ext cx="64008" cy="365760"/>
          </a:xfrm>
          <a:prstGeom prst="rect">
            <a:avLst/>
          </a:prstGeom>
          <a:solidFill>
            <a:srgbClr val="D97706"/>
          </a:solidFill>
          <a:ln w="12700">
            <a:solidFill>
              <a:srgbClr val="D97706"/>
            </a:solidFill>
            <a:prstDash val="solid"/>
          </a:ln>
        </p:spPr>
      </p:sp>
      <p:sp>
        <p:nvSpPr>
          <p:cNvPr id="24" name="Text 22"/>
          <p:cNvSpPr/>
          <p:nvPr/>
        </p:nvSpPr>
        <p:spPr>
          <a:xfrm>
            <a:off x="493776" y="4389120"/>
            <a:ext cx="8229600" cy="365760"/>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TAKE-HOME    </a:t>
            </a:r>
            <a:pPr indent="0" marL="0">
              <a:buNone/>
            </a:pPr>
            <a:r>
              <a:rPr lang="en-US" sz="1100" i="1" dirty="0">
                <a:solidFill>
                  <a:srgbClr val="FAF7F2"/>
                </a:solidFill>
                <a:latin typeface="Georgia" pitchFamily="34" charset="0"/>
                <a:ea typeface="Georgia" pitchFamily="34" charset="-122"/>
                <a:cs typeface="Georgia" pitchFamily="34" charset="-120"/>
              </a:rPr>
              <a:t>The win wasn't a new architecture — it was treating the test distribution as the thing to model.</a:t>
            </a:r>
            <a:endParaRPr lang="en-US" sz="950" dirty="0"/>
          </a:p>
        </p:txBody>
      </p:sp>
      <p:sp>
        <p:nvSpPr>
          <p:cNvPr id="25" name="Text 2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6" name="Text 2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drops 84% of test cells; soft keeps all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distillation seed 0.8355 → v58 intermediate co-attention 0.8392, the new best. v59 (EfficientNetV2-S) and v60 (192px) regressed; the v61 2-seed average sits below the best seed.">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Amber = co-attention (new best) · green = pseudo-label breakthrough · blue = useful gain · red = regression · grey = neutral.</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Text 46"/>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9" name="Text 47"/>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ENSEMBLING FAILED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Ensembling never beat the best single model — beyond noise</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B91C1C"/>
          </a:solidFill>
          <a:ln w="12700">
            <a:solidFill>
              <a:srgbClr val="B91C1C"/>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0.8264</a:t>
            </a:r>
            <a:endParaRPr lang="en-US" sz="30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3-seed average — BELOW the 0.8355 best single seed</a:t>
            </a:r>
            <a:endParaRPr lang="en-US" sz="95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B91C1C"/>
          </a:solidFill>
          <a:ln w="12700">
            <a:solidFill>
              <a:srgbClr val="B91C1C"/>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0.7074</a:t>
            </a:r>
            <a:endParaRPr lang="en-US" sz="30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orthogonal feature-GBM blend — CV said 0.82, the LB said this</a:t>
            </a:r>
            <a:endParaRPr lang="en-US" sz="95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0.7422</a:t>
            </a:r>
            <a:endParaRPr lang="en-US" sz="30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cross-recipe average (v22) — below v19 (0.7455) alone</a:t>
            </a:r>
            <a:endParaRPr lang="en-US" sz="950" dirty="0"/>
          </a:p>
        </p:txBody>
      </p:sp>
      <p:sp>
        <p:nvSpPr>
          <p:cNvPr id="18" name="Shape 16"/>
          <p:cNvSpPr/>
          <p:nvPr/>
        </p:nvSpPr>
        <p:spPr>
          <a:xfrm>
            <a:off x="274320" y="3017520"/>
            <a:ext cx="36576" cy="1417320"/>
          </a:xfrm>
          <a:prstGeom prst="rect">
            <a:avLst/>
          </a:prstGeom>
          <a:solidFill>
            <a:srgbClr val="B91C1C">
              <a:alpha val="70000"/>
            </a:srgbClr>
          </a:solidFill>
          <a:ln w="12700">
            <a:solidFill>
              <a:srgbClr val="B91C1C"/>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Within-recipe averaging regresses.</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v47's 3-seed mean (0.8264) fell below its best seed (0.8355); v61's 2-seed mean (0.8308) fell below its best (0.8350). Per-seed LB spans ~0.023 on N=12 — variance, not signal to average out.</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Cross-recipe and orthogonal blends regress too.</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v22 (0.7422) fell below v19 (0.7455); a decorrelated feature-GBM blend scored 0.7074 — its leave-patients-out CV (0.82) did not transfer to unseen patients.</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The one exception is within noise.</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A weighted blend of my two best, near-tied, different-recipe models (v58 + v47, 0.0037 apart) reached 0.8404 — but that is +0.0012 over the best single seed, about 0.1σ against the seed-noise floor. A statistical tie, not a lift.</a:t>
            </a:r>
            <a:endParaRPr lang="en-US" sz="1050" dirty="0"/>
          </a:p>
        </p:txBody>
      </p:sp>
      <p:sp>
        <p:nvSpPr>
          <p:cNvPr id="20" name="Shape 18"/>
          <p:cNvSpPr/>
          <p:nvPr/>
        </p:nvSpPr>
        <p:spPr>
          <a:xfrm>
            <a:off x="274320" y="4498848"/>
            <a:ext cx="8595360" cy="292608"/>
          </a:xfrm>
          <a:prstGeom prst="rect">
            <a:avLst/>
          </a:prstGeom>
          <a:solidFill>
            <a:srgbClr val="1A3A52"/>
          </a:solidFill>
          <a:ln w="12700">
            <a:solidFill>
              <a:srgbClr val="1A3A52"/>
            </a:solidFill>
            <a:prstDash val="solid"/>
          </a:ln>
        </p:spPr>
      </p:sp>
      <p:sp>
        <p:nvSpPr>
          <p:cNvPr id="21" name="Shape 19"/>
          <p:cNvSpPr/>
          <p:nvPr/>
        </p:nvSpPr>
        <p:spPr>
          <a:xfrm>
            <a:off x="274320" y="4498848"/>
            <a:ext cx="64008" cy="292608"/>
          </a:xfrm>
          <a:prstGeom prst="rect">
            <a:avLst/>
          </a:prstGeom>
          <a:solidFill>
            <a:srgbClr val="B91C1C"/>
          </a:solidFill>
          <a:ln w="12700">
            <a:solidFill>
              <a:srgbClr val="B91C1C"/>
            </a:solidFill>
            <a:prstDash val="solid"/>
          </a:ln>
        </p:spPr>
      </p:sp>
      <p:sp>
        <p:nvSpPr>
          <p:cNvPr id="22" name="Text 20"/>
          <p:cNvSpPr/>
          <p:nvPr/>
        </p:nvSpPr>
        <p:spPr>
          <a:xfrm>
            <a:off x="493776" y="4498848"/>
            <a:ext cx="8229600" cy="292608"/>
          </a:xfrm>
          <a:prstGeom prst="rect">
            <a:avLst/>
          </a:prstGeom>
          <a:noFill/>
          <a:ln/>
        </p:spPr>
        <p:txBody>
          <a:bodyPr wrap="square" lIns="0" tIns="0" rIns="0" bIns="0" rtlCol="0" anchor="ctr"/>
          <a:lstStyle/>
          <a:p>
            <a:pPr indent="0" marL="0">
              <a:buNone/>
            </a:pPr>
            <a:r>
              <a:rPr lang="en-US" sz="950" b="1" spc="300" kern="0" dirty="0">
                <a:solidFill>
                  <a:srgbClr val="B91C1C"/>
                </a:solidFill>
                <a:latin typeface="Calibri" pitchFamily="34" charset="0"/>
                <a:ea typeface="Calibri" pitchFamily="34" charset="-122"/>
                <a:cs typeface="Calibri" pitchFamily="34" charset="-120"/>
              </a:rPr>
              <a:t>TAKE-HOME    </a:t>
            </a:r>
            <a:pPr indent="0" marL="0">
              <a:buNone/>
            </a:pPr>
            <a:r>
              <a:rPr lang="en-US" sz="1000" i="1" dirty="0">
                <a:solidFill>
                  <a:srgbClr val="FAF7F2"/>
                </a:solidFill>
                <a:latin typeface="Georgia" pitchFamily="34" charset="0"/>
                <a:ea typeface="Georgia" pitchFamily="34" charset="-122"/>
                <a:cs typeface="Georgia" pitchFamily="34" charset="-120"/>
              </a:rPr>
              <a:t>Averaging gave no lift here — only lower variance. So I locked two variance-reduced models, not the lucky single seed.</a:t>
            </a:r>
            <a:endParaRPr lang="en-US" sz="95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THE FINAL PUSH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Co-attention broke the plateau — a new best, 0.8392</a:t>
            </a:r>
            <a:endParaRPr lang="en-US" sz="2600" dirty="0"/>
          </a:p>
        </p:txBody>
      </p:sp>
      <p:pic>
        <p:nvPicPr>
          <p:cNvPr id="6" name="Image 0" descr="Training curves for the v58 co-attention model: per-cell train AUC climbs smoothly from ~0.83 to ~0.99 over 12 epochs for both seeds, and loss decreases monotonically with no divergence (fp32 attention + ReZero gate kept it stable).">    </p:cNvPr>
          <p:cNvPicPr>
            <a:picLocks noChangeAspect="1"/>
          </p:cNvPicPr>
          <p:nvPr/>
        </p:nvPicPr>
        <p:blipFill>
          <a:blip r:embed="rId1"/>
          <a:srcRect l="0" r="0" t="0" b="0"/>
          <a:stretch/>
        </p:blipFill>
        <p:spPr>
          <a:xfrm>
            <a:off x="274320" y="1481328"/>
            <a:ext cx="4800600" cy="2788920"/>
          </a:xfrm>
          <a:prstGeom prst="rect">
            <a:avLst/>
          </a:prstGeom>
        </p:spPr>
      </p:pic>
      <p:sp>
        <p:nvSpPr>
          <p:cNvPr id="7" name="Text 4"/>
          <p:cNvSpPr/>
          <p:nvPr/>
        </p:nvSpPr>
        <p:spPr>
          <a:xfrm>
            <a:off x="274320" y="4334256"/>
            <a:ext cx="4800600" cy="38404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5  v58 co-attention learning curves — train AUC + loss, 2 seeds, 12 epochs. Clean, no instability.</a:t>
            </a:r>
            <a:endParaRPr lang="en-US" sz="900" dirty="0"/>
          </a:p>
        </p:txBody>
      </p:sp>
      <p:sp>
        <p:nvSpPr>
          <p:cNvPr id="8" name="Shape 5"/>
          <p:cNvSpPr/>
          <p:nvPr/>
        </p:nvSpPr>
        <p:spPr>
          <a:xfrm>
            <a:off x="5303520" y="15544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9" name="Shape 6"/>
          <p:cNvSpPr/>
          <p:nvPr/>
        </p:nvSpPr>
        <p:spPr>
          <a:xfrm>
            <a:off x="5303520" y="1554480"/>
            <a:ext cx="64008" cy="822960"/>
          </a:xfrm>
          <a:prstGeom prst="rect">
            <a:avLst/>
          </a:prstGeom>
          <a:solidFill>
            <a:srgbClr val="0D9488"/>
          </a:solidFill>
          <a:ln w="12700">
            <a:solidFill>
              <a:srgbClr val="0D9488"/>
            </a:solidFill>
            <a:prstDash val="solid"/>
          </a:ln>
        </p:spPr>
      </p:sp>
      <p:sp>
        <p:nvSpPr>
          <p:cNvPr id="10" name="Text 7"/>
          <p:cNvSpPr/>
          <p:nvPr/>
        </p:nvSpPr>
        <p:spPr>
          <a:xfrm>
            <a:off x="5486400" y="1645920"/>
            <a:ext cx="3291840" cy="452628"/>
          </a:xfrm>
          <a:prstGeom prst="rect">
            <a:avLst/>
          </a:prstGeom>
          <a:noFill/>
          <a:ln/>
        </p:spPr>
        <p:txBody>
          <a:bodyPr wrap="square" lIns="0" tIns="0" rIns="0" bIns="0" rtlCol="0" anchor="t"/>
          <a:lstStyle/>
          <a:p>
            <a:pPr algn="l" indent="0" marL="0">
              <a:buNone/>
            </a:pPr>
            <a:r>
              <a:rPr lang="en-US" sz="2100" b="1" dirty="0">
                <a:solidFill>
                  <a:srgbClr val="0D9488"/>
                </a:solidFill>
                <a:latin typeface="Georgia" pitchFamily="34" charset="0"/>
                <a:ea typeface="Georgia" pitchFamily="34" charset="-122"/>
                <a:cs typeface="Georgia" pitchFamily="34" charset="-120"/>
              </a:rPr>
              <a:t>0.8392  ✓</a:t>
            </a:r>
            <a:endParaRPr lang="en-US" sz="2100" dirty="0"/>
          </a:p>
        </p:txBody>
      </p:sp>
      <p:sp>
        <p:nvSpPr>
          <p:cNvPr id="11" name="Text 8"/>
          <p:cNvSpPr/>
          <p:nvPr/>
        </p:nvSpPr>
        <p:spPr>
          <a:xfrm>
            <a:off x="5486400" y="20071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intermediate CO-ATTENTION (CAFNet-style) — new best, beats v47's 0.8355</a:t>
            </a:r>
            <a:endParaRPr lang="en-US" sz="900" dirty="0"/>
          </a:p>
        </p:txBody>
      </p:sp>
      <p:sp>
        <p:nvSpPr>
          <p:cNvPr id="12" name="Shape 9"/>
          <p:cNvSpPr/>
          <p:nvPr/>
        </p:nvSpPr>
        <p:spPr>
          <a:xfrm>
            <a:off x="5303520" y="24688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3" name="Shape 10"/>
          <p:cNvSpPr/>
          <p:nvPr/>
        </p:nvSpPr>
        <p:spPr>
          <a:xfrm>
            <a:off x="5303520" y="2468880"/>
            <a:ext cx="64008" cy="822960"/>
          </a:xfrm>
          <a:prstGeom prst="rect">
            <a:avLst/>
          </a:prstGeom>
          <a:solidFill>
            <a:srgbClr val="B91C1C"/>
          </a:solidFill>
          <a:ln w="12700">
            <a:solidFill>
              <a:srgbClr val="B91C1C"/>
            </a:solidFill>
            <a:prstDash val="solid"/>
          </a:ln>
        </p:spPr>
      </p:sp>
      <p:sp>
        <p:nvSpPr>
          <p:cNvPr id="14" name="Text 11"/>
          <p:cNvSpPr/>
          <p:nvPr/>
        </p:nvSpPr>
        <p:spPr>
          <a:xfrm>
            <a:off x="5486400" y="25603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0.7823  ✗</a:t>
            </a:r>
            <a:endParaRPr lang="en-US" sz="2100" dirty="0"/>
          </a:p>
        </p:txBody>
      </p:sp>
      <p:sp>
        <p:nvSpPr>
          <p:cNvPr id="15" name="Text 12"/>
          <p:cNvSpPr/>
          <p:nvPr/>
        </p:nvSpPr>
        <p:spPr>
          <a:xfrm>
            <a:off x="5486400" y="29215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higher resolution (192 px) — regressed</a:t>
            </a:r>
            <a:endParaRPr lang="en-US" sz="900" dirty="0"/>
          </a:p>
        </p:txBody>
      </p:sp>
      <p:sp>
        <p:nvSpPr>
          <p:cNvPr id="16" name="Shape 13"/>
          <p:cNvSpPr/>
          <p:nvPr/>
        </p:nvSpPr>
        <p:spPr>
          <a:xfrm>
            <a:off x="5303520" y="33832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7" name="Shape 14"/>
          <p:cNvSpPr/>
          <p:nvPr/>
        </p:nvSpPr>
        <p:spPr>
          <a:xfrm>
            <a:off x="5303520" y="3383280"/>
            <a:ext cx="64008" cy="822960"/>
          </a:xfrm>
          <a:prstGeom prst="rect">
            <a:avLst/>
          </a:prstGeom>
          <a:solidFill>
            <a:srgbClr val="B91C1C"/>
          </a:solidFill>
          <a:ln w="12700">
            <a:solidFill>
              <a:srgbClr val="B91C1C"/>
            </a:solidFill>
            <a:prstDash val="solid"/>
          </a:ln>
        </p:spPr>
      </p:sp>
      <p:sp>
        <p:nvSpPr>
          <p:cNvPr id="18" name="Text 15"/>
          <p:cNvSpPr/>
          <p:nvPr/>
        </p:nvSpPr>
        <p:spPr>
          <a:xfrm>
            <a:off x="5486400" y="34747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0.7376  ✗</a:t>
            </a:r>
            <a:endParaRPr lang="en-US" sz="2100" dirty="0"/>
          </a:p>
        </p:txBody>
      </p:sp>
      <p:sp>
        <p:nvSpPr>
          <p:cNvPr id="19" name="Text 16"/>
          <p:cNvSpPr/>
          <p:nvPr/>
        </p:nvSpPr>
        <p:spPr>
          <a:xfrm>
            <a:off x="5486400" y="38359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more capacity (EfficientNetV2-S) — regressed</a:t>
            </a:r>
            <a:endParaRPr lang="en-US" sz="900" dirty="0"/>
          </a:p>
        </p:txBody>
      </p:sp>
      <p:sp>
        <p:nvSpPr>
          <p:cNvPr id="20" name="Text 17"/>
          <p:cNvSpPr/>
          <p:nvPr/>
        </p:nvSpPr>
        <p:spPr>
          <a:xfrm>
            <a:off x="5303520" y="4334256"/>
            <a:ext cx="3566160" cy="502920"/>
          </a:xfrm>
          <a:prstGeom prst="rect">
            <a:avLst/>
          </a:prstGeom>
          <a:noFill/>
          <a:ln/>
        </p:spPr>
        <p:txBody>
          <a:bodyPr wrap="square" lIns="0" tIns="0" rIns="0" bIns="0" rtlCol="0" anchor="ctr"/>
          <a:lstStyle/>
          <a:p>
            <a:pPr indent="0" marL="0">
              <a:buNone/>
            </a:pPr>
            <a:r>
              <a:rPr lang="en-US" sz="950" i="1" dirty="0">
                <a:solidFill>
                  <a:srgbClr val="334155"/>
                </a:solidFill>
                <a:latin typeface="Calibri" pitchFamily="34" charset="0"/>
                <a:ea typeface="Calibri" pitchFamily="34" charset="-122"/>
                <a:cs typeface="Calibri" pitchFamily="34" charset="-120"/>
              </a:rPr>
              <a:t>Of every architecture tried, only fusion design moved the needle — the model is data-bound. Capacity and resolution both hurt.</a:t>
            </a:r>
            <a:endParaRPr lang="en-US" sz="950" dirty="0"/>
          </a:p>
        </p:txBody>
      </p:sp>
      <p:sp>
        <p:nvSpPr>
          <p:cNvPr id="21" name="Text 1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2" name="Text 1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 / 14</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§12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 is the lever — not architecture.</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regularisers gained +0.011; soft-pseudo distillation gained +0.042. Even the SOTA co-attention fusion ≈ plain late fusion (0.97 corr, both 0.83). Only co-attention fusion nudged architecture (+0.004 to a new best 0.8392); data was ~10x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2026-06-01T16:51:27Z</dcterms:created>
  <dcterms:modified xsi:type="dcterms:W3CDTF">2026-06-01T16:51:27Z</dcterms:modified>
</cp:coreProperties>
</file>