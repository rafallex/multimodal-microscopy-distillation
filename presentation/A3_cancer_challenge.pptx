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 I'm Rafael, presenting our run at the Multimodal Cancer Cell Classification Challenge.</a:t>
            </a:r>
          </a:p>
          <a:p/>
          <a:p>
            <a:r>
              <a:t>Quick framing: this talk isn't 'here's the model that worked'. It's the story of 36 versions and the lesson each one taught us about the gap between cross-validation AUC and public leaderboard AUC. The arc goes from an ambitious SSL pipeline that scored highest CV ever but collapsed on the LB, through a careful but unsuccessful 9-change rescue attempt, to a much simpler EfficientNet recipe at LB 0.7455 — which then became the foundation for a semi-supervised pipeline (Lee 2013 pseudo-labels, then Hinton 2015 distillation) that reached LB 0.8236 and currently holds #1 on the public leaderboard.</a:t>
            </a:r>
          </a:p>
          <a:p/>
          <a:p>
            <a:r>
              <a:t>Time budget: ~50 seconds per slide, 11 slides, leaves ~30s of buffer for Q&amp;A.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setup. Per-cell binary classification — is this oral cell malignant or not — from a pair of microscopy images: brightfield and fluorescence, both 128 by 128 grayscale.</a:t>
            </a:r>
          </a:p>
          <a:p/>
          <a:p>
            <a:r>
              <a:t>Two things make this hard. First, only 12 training patients — small dataset. Second, test patients are unknown. That second point ends up dominating everything. Our cross-validation has to be leave-one-patient-out, and even that turns out not to be enough.</a:t>
            </a:r>
          </a:p>
          <a:p/>
          <a:p>
            <a:r>
              <a:t>Anchor for the audience: by the end of this presentation we currently hold the public LB at 0.8264 — but I'll trace how we got there through 5 acts. The earlier leader was at 0.78; we passed it with v46's distillation step and extended further with v47.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acts to this story. I'm using version numbers as anchors — we tracked every Kaggle submission in a LB_HISTORY.md file in the repo, so 'v19' or 'v34' means a specific notebook with a specific recipe.</a:t>
            </a:r>
          </a:p>
          <a:p/>
          <a:p>
            <a:r>
              <a:t>Act 1, v10 through v14, was iteration on a course-starter ResNet-18 — AdamW, OneCycleLR, paired augmentation. No LB submissions yet.</a:t>
            </a:r>
          </a:p>
          <a:p/>
          <a:p>
            <a:r>
              <a:t>Act 2, v15 and v16, was where we went big — CoMIR-style contrastive SSL. v15 scored 0.866 in CV, the highest we'd ever seen, then crashed to 0.572 on the leaderboard. v16 was a careful 9-change response that improved patient-level OOF to 0.943 but the LB stayed near random at 0.503.</a:t>
            </a:r>
          </a:p>
          <a:p/>
          <a:p>
            <a:r>
              <a:t>Act 3, v17–v19, was the pivot — drop the SSL complexity, go back to a simple EffNet-B0 + heavy augmentation. v19 landed our best single-model LB at 0.7455.</a:t>
            </a:r>
          </a:p>
          <a:p/>
          <a:p>
            <a:r>
              <a:t>Act 4, v20–v41, was about understanding what each ingredient actually contributed. Lots of failures with lessons. v34 — ResNet-50 cleanly — hit 0.7155. Act 4 climaxed in v41, which stacked four L4 regularizers cleanly for +0.011 over v19 → 0.7563.</a:t>
            </a:r>
          </a:p>
          <a:p/>
          <a:p>
            <a:r>
              <a:t>Act 5 — the new chapter, v42 through v47 — was the semi-supervised pivot. v44 added Lee 2013 hard pseudo-labels (+0.025 LB), v46 swapped to Hinton 2015 soft-target distillation on all 59k test cells (+0.039 LB), and v47 iterated to round 2 with v46 as the new teacher (+0.003 LB, Xie 2020). v47 at 0.8264 holds #1.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v15 was our big swing. We built a CoMIR-style contrastive SSL pipeline — two ResNet-18 backbones, one for brightfield and one for fluorescence, each with a projection head trained with NT-Xent contrastive loss. The idea was to learn cross-modal correspondence first, then fine-tune for the classification task.</a:t>
            </a:r>
          </a:p>
          <a:p/>
          <a:p>
            <a:r>
              <a:t>Cross-validation came in at 0.866 — the best we'd ever seen. We were excited. We submitted.</a:t>
            </a:r>
          </a:p>
          <a:p/>
          <a:p>
            <a:r>
              <a:t>Leaderboard came in at 0.572. Twenty-nine AUC points of generalization gap.</a:t>
            </a:r>
          </a:p>
          <a:p/>
          <a:p>
            <a:r>
              <a:t>The diagnosis took us a couple of days. The 3-fold CV split was hiding it: two of three folds happened to have validation patients that were similar to training patients — val AUC &gt; 0.88, looked great. The third fold had OOD-like patients, with val AUC peaking at epoch 0 — meaning the model never actually learned anything for that fold; it was essentially the initialization plus one gradient step. The CV mean of 0.866 buried the failure.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responded with v16. Nine changes, each mapped to a specific cause of v15's collapse. The big four were: no mixup (it fought the SSL alignment), LOPO CV for an honest OOD estimator, an auxiliary NT-Xent loss to anchor the supervised stage to the SSL features, and a multi-snapshot ensemble at epochs 3 and 5 instead of best-val-AUC selection. The other five were defensible smaller fixes — label smoothing, EMA tuned for our short training, heavy stain augmentation during SSL.</a:t>
            </a:r>
          </a:p>
          <a:p/>
          <a:p>
            <a:r>
              <a:t>Patient-level OOF went up to 0.943, our best ever. We thought we had it.</a:t>
            </a:r>
          </a:p>
          <a:p/>
          <a:p>
            <a:r>
              <a:t>Leaderboard came in at 0.503. Basically random.</a:t>
            </a:r>
          </a:p>
          <a:p/>
          <a:p>
            <a:r>
              <a:t>The lesson: there's a level of OOD that LOPO cannot detect. If every training patient was scanned on the same microscope or stained with the same protocol, and the test patients weren't, then no training-only validation can warn you. We'd hit a ceiling that the architecture couldn't break through.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pivot. We dropped the SSL complexity entirely and went back to something much simpler: an off-the-shelf EfficientNet-B0, ImageNet-pretrained.</a:t>
            </a:r>
          </a:p>
          <a:p/>
          <a:p>
            <a:r>
              <a:t>What changed was where we spent the effort. Instead of trying to learn a better internal representation, we focused on test-time techniques that close the training-to-test distribution gap. Five ingredients: heavy color and stain augmentation, multiple-instance learning across cells per patient, adaptive BatchNorm — letting BN re-estimate its statistics on the test set — 8-way D4 test-time augmentation, and test-time stain normalization.</a:t>
            </a:r>
          </a:p>
          <a:p/>
          <a:p>
            <a:r>
              <a:t>Public LB came in at 0.7455. That's a 0.24 AUC jump over v16. Best single model we'd produced, and within 0.04 of the leaderboard leader.</a:t>
            </a:r>
          </a:p>
          <a:p/>
          <a:p>
            <a:r>
              <a:t>The key insight, written on the bottom of the slide: the win came from treating the test distribution as the thing to model. The SSL pipeline was trying to learn invariance from scratch; v19 imported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 4 was about understanding what each ingredient in v19 actually contributed, by trying to change one thing at a time. Many of these failed. Each failure taught us something.</a:t>
            </a:r>
          </a:p>
          <a:p/>
          <a:p>
            <a:r>
              <a:t>v20: a more aggressive augmentation recipe destroyed the signal — 0.5974. There's a ceiling on how much you can perturb a 128x128 cell image before it stops being a cell.</a:t>
            </a:r>
          </a:p>
          <a:p/>
          <a:p>
            <a:r>
              <a:t>v21: tried ResNet-50, but with 224 upscale. Two changes at once. LB 0.7018. Couldn't tell whether ResNet-50 was worse or the upscaling was the problem. v34 later resolves this.</a:t>
            </a:r>
          </a:p>
          <a:p/>
          <a:p>
            <a:r>
              <a:t>v22: ensembled v19 with v21. Got 0.7422 — worse than v19 alone. Lesson: don't ensemble when one member is more than 0.02 below the other.</a:t>
            </a:r>
          </a:p>
          <a:p/>
          <a:p>
            <a:r>
              <a:t>v23: same v19 recipe, only the random seed changed. 0.7154 instead of 0.7455. 0.03 LB swing from seed alone. This is the most important slide-7 lesson: any conclusion based on a single-seed delta smaller than 0.03 is noise.</a:t>
            </a:r>
          </a:p>
          <a:p/>
          <a:p>
            <a:r>
              <a:t>v27: tried using a 2-patient validation holdout instead of LOPO. The validation AUC was so noisy on N=12 patients that the model picked epoch 0 as best, which is essentially the untrained initialization.</a:t>
            </a:r>
          </a:p>
          <a:p/>
          <a:p>
            <a:r>
              <a:t>v30: the L4 lecture's discriminative-LR recipe — backbone at 1/10 head LR — hurt us by a full 0.10 AUC. The reason: ImageNet features don't transfer cleanly to microscopy textures, so the backbone needs MORE learning rate, not less.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 4 final piece: clean backbone tests. We wanted to know whether EfficientNet-B0 was actually special, or whether v19 just got lucky.</a:t>
            </a:r>
          </a:p>
          <a:p/>
          <a:p>
            <a:r>
              <a:t>v34 is the answer. Same recipe as v19 — same augmentation, same MIL, same TTA — but the backbone swapped to ResNet-50. No upscale, no discriminative LR. Crucially, this is a single change from v19. LB came in at 0.7155.</a:t>
            </a:r>
          </a:p>
          <a:p/>
          <a:p>
            <a:r>
              <a:t>Two things to take from that. First, ResNet-50 is fine — it's not worse than EfficientNet in any meaningful way. The 0.7155 number sits inside the seed-variance band of v19 (0.7154 with seed 2 versus 0.7455 with seed 1). So we can now say: v21's earlier 0.7018 result was the 224 upscale's fault, not the backbone's. The 'no interpolation' warning from Lu 2020 was right.</a:t>
            </a:r>
          </a:p>
          <a:p/>
          <a:p>
            <a:r>
              <a:t>v35 with DenseNet-201 and v36 with SE-ResNet-50 are queued — both are tests of whether more parameters or channel attention closes the small remaining gap to v19's 0.7455. Results pending.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curves from v19, the LB winner. A few things worth pointing out.</a:t>
            </a:r>
          </a:p>
          <a:p/>
          <a:p>
            <a:r>
              <a:t>First, the train and validation curves track each other through the run — no obvious overfitting signature, no early peak collapse like we saw in v15.</a:t>
            </a:r>
          </a:p>
          <a:p/>
          <a:p>
            <a:r>
              <a:t>Second, convergence is clean. The model stabilizes around epoch 10 and stays there.</a:t>
            </a:r>
          </a:p>
          <a:p/>
          <a:p>
            <a:r>
              <a:t>Third — and this is the assignment's take-home in one chart — the validation AUC looks great, but the public LB still sits about 0.04 below it. That's the OOD gap we cannot close from training-set evidence alone. The curves you can draw from training data have a floor below which they cannot warn you.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Kaggle lets you pick two submissions for the private leaderboard. Our plan:</a:t>
            </a:r>
          </a:p>
          <a:p/>
          <a:p>
            <a:r>
              <a:t>Pick 1 is v19 — our known safety net at 0.7455. We don't gamble this slot.</a:t>
            </a:r>
          </a:p>
          <a:p/>
          <a:p>
            <a:r>
              <a:t>Pick 2 is the best of the backbone-comparison runs — whichever of v34, v35, v36 lands highest by competition close on June 3. If all three underperform v19, we pick v19 twice and our report still tells the honest experimental story.</a:t>
            </a:r>
          </a:p>
          <a:p/>
          <a:p>
            <a:r>
              <a:t>Where we sit relative to the leaderboard: leader is 0.7832, we're at 0.7455, and v34 is at 0.7155. The gap to leader is 0.038. v16 — our heaviest engineering effort — is shown below the scale at 0.503, basically random. The chart is a compact picture of the whole story.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 5 — the chapter that didn't exist when this deck was first built.</a:t>
            </a:r>
          </a:p>
          <a:p/>
          <a:p>
            <a:r>
              <a:t>Quick arc: v41 stacked four L4-textbook regularizers cleanly for +0.011 LB. v43 then stacked four MORE changes simultaneously and regressed by 0.012 — a methodological warning we paid the price to learn.</a:t>
            </a:r>
          </a:p>
          <a:p/>
          <a:p>
            <a:r>
              <a:t>v44 was the first breakthrough: Lee 2013 pseudo-labels. Teacher (v41) predicts on the test set; cells with confidence &gt;0.95 or &lt;0.05 get added to training with patient_id=-1 so MIL skips them. +0.025 LB.</a:t>
            </a:r>
          </a:p>
          <a:p/>
          <a:p>
            <a:r>
              <a:t>v46 was the bigger breakthrough: Hinton 2015 distillation. Use ALL 59,000 test cells, not just the confident ones. Soft target = teacher's raw probability. +0.039 LB. We took #1 on the public LB at 0.8236.</a:t>
            </a:r>
          </a:p>
          <a:p/>
          <a:p>
            <a:r>
              <a:t>v47 closed the loop: Xie 2020-style iterative noisy student round 2. Same recipe as v46 but with v46's ensemble as the new teacher. +0.003 LB — small, but enough to extend our LB lead to +0.013 over next-best. The per-seed tr_auc spread also tightened (0.989-0.993 in v46 → 0.993-0.994 in v47), so round 2 acts as a variance reducer as well.</a:t>
            </a:r>
          </a:p>
          <a:p/>
          <a:p>
            <a:r>
              <a:t>The key methodological insight (bottom banner): the +0.067 LB lift from pseudo+distillation dwarfed the +0.011 from textbook regularization. On 12 patients, the dataset-size lever is bigger than the model-quality lever.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things we'll carry forward. I'll read them quickly and leave the slide up for questions.</a:t>
            </a:r>
          </a:p>
          <a:p/>
          <a:p>
            <a:r>
              <a:t>1. Higher CV doesn't mean higher LB. v15 had our best CV — 0.866 — and our worst LB — 0.572. If you only have CV, you don't know what you have.</a:t>
            </a:r>
          </a:p>
          <a:p/>
          <a:p>
            <a:r>
              <a:t>2. Don't stack unvalidated changes. v43 added four tweaks at once on top of v41 and regressed by 0.012 LB. We had no way to attribute blame and the run cost 5 hours of Kaggle GPU. After v43 we adopted a one-or-two-variables-per-experiment rule.</a:t>
            </a:r>
          </a:p>
          <a:p/>
          <a:p>
            <a:r>
              <a:t>3. Seed variance is huge. v23 was v19 with a different random seed. 0.03 LB shift. Most A/B comparisons in the literature with deltas under 0.03 are not reliable.</a:t>
            </a:r>
          </a:p>
          <a:p/>
          <a:p>
            <a:r>
              <a:t>4. On small-N patient-grouped data, dataset size beats regularization. v41 stacked four textbook regularizers for +0.011 LB. v46 added soft pseudo-labels for ~50,000 extra effective cells: +0.039 LB. Three and a half times the gain from a different lever entirely.</a:t>
            </a:r>
          </a:p>
          <a:p/>
          <a:p>
            <a:r>
              <a:t>5. Negative results are the methodology. v42 SSL collapse, v22 and v45_probe ensemble failures, v43 stacked regression — six diagnosed failure modes, each shaped the next version. The wins came from cleanly understanding the failures.</a:t>
            </a:r>
          </a:p>
          <a:p/>
          <a:p>
            <a:r>
              <a:t>Thanks. Code + full LB history at github.com/rafallex/A3-ADL.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2540"/>
        </a:solidFill>
        <a:effectLst/>
      </p:bgPr>
    </p:bg>
    <p:spTree>
      <p:nvGrpSpPr>
        <p:cNvPr id="1" name=""/>
        <p:cNvGrpSpPr/>
        <p:nvPr/>
      </p:nvGrpSpPr>
      <p:grpSpPr/>
      <p:sp>
        <p:nvSpPr>
          <p:cNvPr id="2" name="Rectangle 1"/>
          <p:cNvSpPr/>
          <p:nvPr/>
        </p:nvSpPr>
        <p:spPr>
          <a:xfrm>
            <a:off x="0" y="0"/>
            <a:ext cx="228600" cy="5143500"/>
          </a:xfrm>
          <a:prstGeom prst="rect">
            <a:avLst/>
          </a:prstGeom>
          <a:solidFill>
            <a:srgbClr val="E07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822960"/>
            <a:ext cx="7315200" cy="274320"/>
          </a:xfrm>
          <a:prstGeom prst="rect">
            <a:avLst/>
          </a:prstGeom>
          <a:noFill/>
        </p:spPr>
        <p:txBody>
          <a:bodyPr wrap="square" lIns="0" rIns="0" tIns="0" bIns="0" anchor="t">
            <a:spAutoFit/>
          </a:bodyPr>
          <a:lstStyle/>
          <a:p>
            <a:pPr algn="l"/>
            <a:r>
              <a:rPr sz="1200" b="1" i="0">
                <a:solidFill>
                  <a:srgbClr val="E07856"/>
                </a:solidFill>
                <a:latin typeface="Calibri"/>
              </a:rPr>
              <a:t>ASSIGNMENT 3  ·  KAGGLE CHALLENGE</a:t>
            </a:r>
          </a:p>
        </p:txBody>
      </p:sp>
      <p:sp>
        <p:nvSpPr>
          <p:cNvPr id="4" name="TextBox 3"/>
          <p:cNvSpPr txBox="1"/>
          <p:nvPr/>
        </p:nvSpPr>
        <p:spPr>
          <a:xfrm>
            <a:off x="731520" y="1234440"/>
            <a:ext cx="7772400" cy="1371600"/>
          </a:xfrm>
          <a:prstGeom prst="rect">
            <a:avLst/>
          </a:prstGeom>
          <a:noFill/>
        </p:spPr>
        <p:txBody>
          <a:bodyPr wrap="square" lIns="0" rIns="0" tIns="0" bIns="0" anchor="t">
            <a:spAutoFit/>
          </a:bodyPr>
          <a:lstStyle/>
          <a:p>
            <a:pPr algn="l">
              <a:lnSpc>
                <a:spcPct val="105000"/>
              </a:lnSpc>
            </a:pPr>
            <a:r>
              <a:rPr sz="4000" b="1" i="0">
                <a:solidFill>
                  <a:srgbClr val="FFFFFF"/>
                </a:solidFill>
                <a:latin typeface="Georgia"/>
              </a:rPr>
              <a:t>Multimodal Cancer Cell</a:t>
            </a:r>
          </a:p>
          <a:p>
            <a:pPr algn="l">
              <a:lnSpc>
                <a:spcPct val="105000"/>
              </a:lnSpc>
            </a:pPr>
            <a:r>
              <a:rPr sz="4000" b="1" i="0">
                <a:solidFill>
                  <a:srgbClr val="FFFFFF"/>
                </a:solidFill>
                <a:latin typeface="Georgia"/>
              </a:rPr>
              <a:t>Classification</a:t>
            </a:r>
          </a:p>
        </p:txBody>
      </p:sp>
      <p:sp>
        <p:nvSpPr>
          <p:cNvPr id="5" name="TextBox 4"/>
          <p:cNvSpPr txBox="1"/>
          <p:nvPr/>
        </p:nvSpPr>
        <p:spPr>
          <a:xfrm>
            <a:off x="731520" y="2788920"/>
            <a:ext cx="7772400" cy="457200"/>
          </a:xfrm>
          <a:prstGeom prst="rect">
            <a:avLst/>
          </a:prstGeom>
          <a:noFill/>
        </p:spPr>
        <p:txBody>
          <a:bodyPr wrap="square" lIns="0" rIns="0" tIns="0" bIns="0" anchor="t">
            <a:spAutoFit/>
          </a:bodyPr>
          <a:lstStyle/>
          <a:p>
            <a:pPr algn="l"/>
            <a:r>
              <a:rPr sz="1800" b="0" i="1">
                <a:solidFill>
                  <a:srgbClr val="F5F0E8"/>
                </a:solidFill>
                <a:latin typeface="Georgia"/>
              </a:rPr>
              <a:t>From SSL collapse to #1 on the leaderboard — 30 versions, 5 acts, +0.081 LB</a:t>
            </a:r>
          </a:p>
        </p:txBody>
      </p:sp>
      <p:sp>
        <p:nvSpPr>
          <p:cNvPr id="6" name="Rectangle 5"/>
          <p:cNvSpPr/>
          <p:nvPr/>
        </p:nvSpPr>
        <p:spPr>
          <a:xfrm>
            <a:off x="731520" y="3520440"/>
            <a:ext cx="2286000" cy="22860"/>
          </a:xfrm>
          <a:prstGeom prst="rect">
            <a:avLst/>
          </a:prstGeom>
          <a:solidFill>
            <a:srgbClr val="E07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703320"/>
            <a:ext cx="7772400" cy="274320"/>
          </a:xfrm>
          <a:prstGeom prst="rect">
            <a:avLst/>
          </a:prstGeom>
          <a:noFill/>
        </p:spPr>
        <p:txBody>
          <a:bodyPr wrap="square" lIns="0" rIns="0" tIns="0" bIns="0" anchor="t">
            <a:spAutoFit/>
          </a:bodyPr>
          <a:lstStyle/>
          <a:p>
            <a:pPr algn="l"/>
            <a:r>
              <a:rPr sz="1400" b="1" i="0">
                <a:solidFill>
                  <a:srgbClr val="FFFFFF"/>
                </a:solidFill>
                <a:latin typeface="Calibri"/>
              </a:rPr>
              <a:t>Rafael Tavares Proença</a:t>
            </a:r>
          </a:p>
        </p:txBody>
      </p:sp>
      <p:sp>
        <p:nvSpPr>
          <p:cNvPr id="8" name="TextBox 7"/>
          <p:cNvSpPr txBox="1"/>
          <p:nvPr/>
        </p:nvSpPr>
        <p:spPr>
          <a:xfrm>
            <a:off x="731520" y="4023360"/>
            <a:ext cx="7772400" cy="274320"/>
          </a:xfrm>
          <a:prstGeom prst="rect">
            <a:avLst/>
          </a:prstGeom>
          <a:noFill/>
        </p:spPr>
        <p:txBody>
          <a:bodyPr wrap="square" lIns="0" rIns="0" tIns="0" bIns="0" anchor="t">
            <a:spAutoFit/>
          </a:bodyPr>
          <a:lstStyle/>
          <a:p>
            <a:pPr algn="l"/>
            <a:r>
              <a:rPr sz="1200" b="0" i="0">
                <a:solidFill>
                  <a:srgbClr val="F5F0E8"/>
                </a:solidFill>
                <a:latin typeface="Calibri"/>
              </a:rPr>
              <a:t>Advanced Deep Learning for Image Processing (1MD042)</a:t>
            </a:r>
          </a:p>
        </p:txBody>
      </p:sp>
      <p:sp>
        <p:nvSpPr>
          <p:cNvPr id="9" name="TextBox 8"/>
          <p:cNvSpPr txBox="1"/>
          <p:nvPr/>
        </p:nvSpPr>
        <p:spPr>
          <a:xfrm>
            <a:off x="731520" y="4297680"/>
            <a:ext cx="7772400" cy="274320"/>
          </a:xfrm>
          <a:prstGeom prst="rect">
            <a:avLst/>
          </a:prstGeom>
          <a:noFill/>
        </p:spPr>
        <p:txBody>
          <a:bodyPr wrap="square" lIns="0" rIns="0" tIns="0" bIns="0" anchor="t">
            <a:spAutoFit/>
          </a:bodyPr>
          <a:lstStyle/>
          <a:p>
            <a:pPr algn="l"/>
            <a:r>
              <a:rPr sz="1200" b="0" i="0">
                <a:solidFill>
                  <a:srgbClr val="8A9197"/>
                </a:solidFill>
                <a:latin typeface="Calibri"/>
              </a:rPr>
              <a:t>Uppsala University  ·  June 4,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Rectangle 1"/>
          <p:cNvSpPr/>
          <p:nvPr/>
        </p:nvSpPr>
        <p:spPr>
          <a:xfrm>
            <a:off x="0" y="0"/>
            <a:ext cx="73152" cy="5143500"/>
          </a:xfrm>
          <a:prstGeom prst="rect">
            <a:avLst/>
          </a:prstGeom>
          <a:solidFill>
            <a:srgbClr val="E07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20040"/>
            <a:ext cx="8229600" cy="274320"/>
          </a:xfrm>
          <a:prstGeom prst="rect">
            <a:avLst/>
          </a:prstGeom>
          <a:noFill/>
        </p:spPr>
        <p:txBody>
          <a:bodyPr wrap="square" lIns="0" rIns="0" tIns="0" bIns="0" anchor="t">
            <a:spAutoFit/>
          </a:bodyPr>
          <a:lstStyle/>
          <a:p>
            <a:pPr algn="l"/>
            <a:r>
              <a:rPr sz="1100" b="1" i="0">
                <a:solidFill>
                  <a:srgbClr val="E07856"/>
                </a:solidFill>
                <a:latin typeface="Calibri"/>
              </a:rPr>
              <a:t>THE CHALLENGE</a:t>
            </a:r>
          </a:p>
        </p:txBody>
      </p:sp>
      <p:sp>
        <p:nvSpPr>
          <p:cNvPr id="4" name="TextBox 3"/>
          <p:cNvSpPr txBox="1"/>
          <p:nvPr/>
        </p:nvSpPr>
        <p:spPr>
          <a:xfrm>
            <a:off x="365760" y="612647"/>
            <a:ext cx="8229600" cy="640080"/>
          </a:xfrm>
          <a:prstGeom prst="rect">
            <a:avLst/>
          </a:prstGeom>
          <a:noFill/>
        </p:spPr>
        <p:txBody>
          <a:bodyPr wrap="square" lIns="0" rIns="0" tIns="0" bIns="0" anchor="t">
            <a:spAutoFit/>
          </a:bodyPr>
          <a:lstStyle/>
          <a:p>
            <a:pPr algn="l"/>
            <a:r>
              <a:rPr sz="2800" b="1" i="0">
                <a:solidFill>
                  <a:srgbClr val="1A2540"/>
                </a:solidFill>
                <a:latin typeface="Georgia"/>
              </a:rPr>
              <a:t>Binary classification on paired microscopy</a:t>
            </a:r>
          </a:p>
        </p:txBody>
      </p:sp>
      <p:sp>
        <p:nvSpPr>
          <p:cNvPr id="5" name="TextBox 4"/>
          <p:cNvSpPr txBox="1"/>
          <p:nvPr/>
        </p:nvSpPr>
        <p:spPr>
          <a:xfrm>
            <a:off x="365760" y="1371600"/>
            <a:ext cx="4572000" cy="3200400"/>
          </a:xfrm>
          <a:prstGeom prst="rect">
            <a:avLst/>
          </a:prstGeom>
          <a:noFill/>
        </p:spPr>
        <p:txBody>
          <a:bodyPr wrap="square" lIns="0" rIns="0" tIns="0" bIns="0">
            <a:spAutoFit/>
          </a:bodyPr>
          <a:lstStyle/>
          <a:p>
            <a:pPr algn="l">
              <a:lnSpc>
                <a:spcPct val="115000"/>
              </a:lnSpc>
            </a:pPr>
            <a:r>
              <a:rPr sz="1400" b="1">
                <a:solidFill>
                  <a:srgbClr val="E07856"/>
                </a:solidFill>
                <a:latin typeface="Calibri"/>
              </a:rPr>
              <a:t>— </a:t>
            </a:r>
            <a:r>
              <a:rPr sz="1400">
                <a:solidFill>
                  <a:srgbClr val="1A2540"/>
                </a:solidFill>
                <a:latin typeface="Calibri"/>
              </a:rPr>
              <a:t>Task: per-cell label — malignant vs benign (oral cancer)</a:t>
            </a:r>
          </a:p>
          <a:p>
            <a:pPr algn="l">
              <a:lnSpc>
                <a:spcPct val="115000"/>
              </a:lnSpc>
            </a:pPr>
            <a:r>
              <a:rPr sz="1400" b="1">
                <a:solidFill>
                  <a:srgbClr val="E07856"/>
                </a:solidFill>
                <a:latin typeface="Calibri"/>
              </a:rPr>
              <a:t>— </a:t>
            </a:r>
            <a:r>
              <a:rPr sz="1400">
                <a:solidFill>
                  <a:srgbClr val="1A2540"/>
                </a:solidFill>
                <a:latin typeface="Calibri"/>
              </a:rPr>
              <a:t>Inputs: paired BF + FL microscopy, 128×128 grayscale</a:t>
            </a:r>
          </a:p>
          <a:p>
            <a:pPr algn="l">
              <a:lnSpc>
                <a:spcPct val="115000"/>
              </a:lnSpc>
            </a:pPr>
            <a:r>
              <a:rPr sz="1400" b="1">
                <a:solidFill>
                  <a:srgbClr val="E07856"/>
                </a:solidFill>
                <a:latin typeface="Calibri"/>
              </a:rPr>
              <a:t>— </a:t>
            </a:r>
            <a:r>
              <a:rPr sz="1400">
                <a:solidFill>
                  <a:srgbClr val="1A2540"/>
                </a:solidFill>
                <a:latin typeface="Calibri"/>
              </a:rPr>
              <a:t>Train: 12 patients with leave-one-patient-out CV</a:t>
            </a:r>
          </a:p>
          <a:p>
            <a:pPr algn="l">
              <a:lnSpc>
                <a:spcPct val="115000"/>
              </a:lnSpc>
            </a:pPr>
            <a:r>
              <a:rPr sz="1400" b="1">
                <a:solidFill>
                  <a:srgbClr val="E07856"/>
                </a:solidFill>
                <a:latin typeface="Calibri"/>
              </a:rPr>
              <a:t>— </a:t>
            </a:r>
            <a:r>
              <a:rPr sz="1400">
                <a:solidFill>
                  <a:srgbClr val="1A2540"/>
                </a:solidFill>
                <a:latin typeface="Calibri"/>
              </a:rPr>
              <a:t>Test: unknown patients → OOD generalization is the dominant failure mode</a:t>
            </a:r>
          </a:p>
          <a:p>
            <a:pPr algn="l">
              <a:lnSpc>
                <a:spcPct val="115000"/>
              </a:lnSpc>
            </a:pPr>
            <a:r>
              <a:rPr sz="1400" b="1">
                <a:solidFill>
                  <a:srgbClr val="E07856"/>
                </a:solidFill>
                <a:latin typeface="Calibri"/>
              </a:rPr>
              <a:t>— </a:t>
            </a:r>
            <a:r>
              <a:rPr sz="1400">
                <a:solidFill>
                  <a:srgbClr val="1A2540"/>
                </a:solidFill>
                <a:latin typeface="Calibri"/>
              </a:rPr>
              <a:t>Current LB position: we hold #1 at 0.8264 (+0.013 above next-best)</a:t>
            </a:r>
          </a:p>
        </p:txBody>
      </p:sp>
      <p:sp>
        <p:nvSpPr>
          <p:cNvPr id="6" name="Rectangle 5"/>
          <p:cNvSpPr/>
          <p:nvPr/>
        </p:nvSpPr>
        <p:spPr>
          <a:xfrm>
            <a:off x="5303520" y="1371600"/>
            <a:ext cx="3383280" cy="1188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0" y="1371600"/>
            <a:ext cx="54864" cy="1188720"/>
          </a:xfrm>
          <a:prstGeom prst="rect">
            <a:avLst/>
          </a:prstGeom>
          <a:solidFill>
            <a:srgbClr val="E07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32120" y="1481328"/>
            <a:ext cx="3063240" cy="640080"/>
          </a:xfrm>
          <a:prstGeom prst="rect">
            <a:avLst/>
          </a:prstGeom>
          <a:noFill/>
        </p:spPr>
        <p:txBody>
          <a:bodyPr wrap="square" lIns="0" rIns="0" tIns="0" bIns="0" anchor="t">
            <a:spAutoFit/>
          </a:bodyPr>
          <a:lstStyle/>
          <a:p>
            <a:pPr algn="l"/>
            <a:r>
              <a:rPr sz="3200" b="1" i="0">
                <a:solidFill>
                  <a:srgbClr val="1A2540"/>
                </a:solidFill>
                <a:latin typeface="Georgia"/>
              </a:rPr>
              <a:t>12 patients</a:t>
            </a:r>
          </a:p>
        </p:txBody>
      </p:sp>
      <p:sp>
        <p:nvSpPr>
          <p:cNvPr id="9" name="TextBox 8"/>
          <p:cNvSpPr txBox="1"/>
          <p:nvPr/>
        </p:nvSpPr>
        <p:spPr>
          <a:xfrm>
            <a:off x="5532120" y="2148840"/>
            <a:ext cx="3063240" cy="274320"/>
          </a:xfrm>
          <a:prstGeom prst="rect">
            <a:avLst/>
          </a:prstGeom>
          <a:noFill/>
        </p:spPr>
        <p:txBody>
          <a:bodyPr wrap="square" lIns="0" rIns="0" tIns="0" bIns="0" anchor="t">
            <a:spAutoFit/>
          </a:bodyPr>
          <a:lstStyle/>
          <a:p>
            <a:pPr algn="l"/>
            <a:r>
              <a:rPr sz="1000" b="0" i="0">
                <a:solidFill>
                  <a:srgbClr val="8A9197"/>
                </a:solidFill>
                <a:latin typeface="Calibri"/>
              </a:rPr>
              <a:t>training set size</a:t>
            </a:r>
          </a:p>
        </p:txBody>
      </p:sp>
      <p:sp>
        <p:nvSpPr>
          <p:cNvPr id="10" name="Rectangle 9"/>
          <p:cNvSpPr/>
          <p:nvPr/>
        </p:nvSpPr>
        <p:spPr>
          <a:xfrm>
            <a:off x="5303520" y="2697480"/>
            <a:ext cx="3383280" cy="1188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2697480"/>
            <a:ext cx="54864" cy="1188720"/>
          </a:xfrm>
          <a:prstGeom prst="rect">
            <a:avLst/>
          </a:prstGeom>
          <a:solidFill>
            <a:srgbClr val="E07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32120" y="2807208"/>
            <a:ext cx="3063240" cy="640080"/>
          </a:xfrm>
          <a:prstGeom prst="rect">
            <a:avLst/>
          </a:prstGeom>
          <a:noFill/>
        </p:spPr>
        <p:txBody>
          <a:bodyPr wrap="square" lIns="0" rIns="0" tIns="0" bIns="0" anchor="t">
            <a:spAutoFit/>
          </a:bodyPr>
          <a:lstStyle/>
          <a:p>
            <a:pPr algn="l"/>
            <a:r>
              <a:rPr sz="3200" b="1" i="0">
                <a:solidFill>
                  <a:srgbClr val="1A2540"/>
                </a:solidFill>
                <a:latin typeface="Georgia"/>
              </a:rPr>
              <a:t>2 modalities</a:t>
            </a:r>
          </a:p>
        </p:txBody>
      </p:sp>
      <p:sp>
        <p:nvSpPr>
          <p:cNvPr id="13" name="TextBox 12"/>
          <p:cNvSpPr txBox="1"/>
          <p:nvPr/>
        </p:nvSpPr>
        <p:spPr>
          <a:xfrm>
            <a:off x="5532120" y="3474720"/>
            <a:ext cx="3063240" cy="274320"/>
          </a:xfrm>
          <a:prstGeom prst="rect">
            <a:avLst/>
          </a:prstGeom>
          <a:noFill/>
        </p:spPr>
        <p:txBody>
          <a:bodyPr wrap="square" lIns="0" rIns="0" tIns="0" bIns="0" anchor="t">
            <a:spAutoFit/>
          </a:bodyPr>
          <a:lstStyle/>
          <a:p>
            <a:pPr algn="l"/>
            <a:r>
              <a:rPr sz="1000" b="0" i="0">
                <a:solidFill>
                  <a:srgbClr val="8A9197"/>
                </a:solidFill>
                <a:latin typeface="Calibri"/>
              </a:rPr>
              <a:t>brightfield + fluorescence per cell</a:t>
            </a:r>
          </a:p>
        </p:txBody>
      </p:sp>
      <p:sp>
        <p:nvSpPr>
          <p:cNvPr id="14" name="Rectangle 13"/>
          <p:cNvSpPr/>
          <p:nvPr/>
        </p:nvSpPr>
        <p:spPr>
          <a:xfrm>
            <a:off x="5303520" y="4023360"/>
            <a:ext cx="1627632"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303520" y="4023360"/>
            <a:ext cx="54864" cy="713232"/>
          </a:xfrm>
          <a:prstGeom prst="rect">
            <a:avLst/>
          </a:prstGeom>
          <a:solidFill>
            <a:srgbClr val="E07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32120" y="4133088"/>
            <a:ext cx="1307592" cy="640080"/>
          </a:xfrm>
          <a:prstGeom prst="rect">
            <a:avLst/>
          </a:prstGeom>
          <a:noFill/>
        </p:spPr>
        <p:txBody>
          <a:bodyPr wrap="square" lIns="0" rIns="0" tIns="0" bIns="0" anchor="t">
            <a:spAutoFit/>
          </a:bodyPr>
          <a:lstStyle/>
          <a:p>
            <a:pPr algn="l"/>
            <a:r>
              <a:rPr sz="2600" b="1" i="0">
                <a:solidFill>
                  <a:srgbClr val="1A2540"/>
                </a:solidFill>
                <a:latin typeface="Georgia"/>
              </a:rPr>
              <a:t>128×</a:t>
            </a:r>
          </a:p>
        </p:txBody>
      </p:sp>
      <p:sp>
        <p:nvSpPr>
          <p:cNvPr id="17" name="TextBox 16"/>
          <p:cNvSpPr txBox="1"/>
          <p:nvPr/>
        </p:nvSpPr>
        <p:spPr>
          <a:xfrm>
            <a:off x="5532120" y="4462272"/>
            <a:ext cx="1307592" cy="274320"/>
          </a:xfrm>
          <a:prstGeom prst="rect">
            <a:avLst/>
          </a:prstGeom>
          <a:noFill/>
        </p:spPr>
        <p:txBody>
          <a:bodyPr wrap="square" lIns="0" rIns="0" tIns="0" bIns="0" anchor="t">
            <a:spAutoFit/>
          </a:bodyPr>
          <a:lstStyle/>
          <a:p>
            <a:pPr algn="l"/>
            <a:r>
              <a:rPr sz="1000" b="0" i="0">
                <a:solidFill>
                  <a:srgbClr val="8A9197"/>
                </a:solidFill>
                <a:latin typeface="Calibri"/>
              </a:rPr>
              <a:t>input pixel side</a:t>
            </a:r>
          </a:p>
        </p:txBody>
      </p:sp>
      <p:sp>
        <p:nvSpPr>
          <p:cNvPr id="18" name="Rectangle 17"/>
          <p:cNvSpPr/>
          <p:nvPr/>
        </p:nvSpPr>
        <p:spPr>
          <a:xfrm>
            <a:off x="7059168" y="4023360"/>
            <a:ext cx="1627632"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059168" y="4023360"/>
            <a:ext cx="54864" cy="713232"/>
          </a:xfrm>
          <a:prstGeom prst="rect">
            <a:avLst/>
          </a:prstGeom>
          <a:solidFill>
            <a:srgbClr val="E07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87768" y="4133088"/>
            <a:ext cx="1307592" cy="640080"/>
          </a:xfrm>
          <a:prstGeom prst="rect">
            <a:avLst/>
          </a:prstGeom>
          <a:noFill/>
        </p:spPr>
        <p:txBody>
          <a:bodyPr wrap="square" lIns="0" rIns="0" tIns="0" bIns="0" anchor="t">
            <a:spAutoFit/>
          </a:bodyPr>
          <a:lstStyle/>
          <a:p>
            <a:pPr algn="l"/>
            <a:r>
              <a:rPr sz="2600" b="1" i="0">
                <a:solidFill>
                  <a:srgbClr val="E07856"/>
                </a:solidFill>
                <a:latin typeface="Georgia"/>
              </a:rPr>
              <a:t>OOD</a:t>
            </a:r>
          </a:p>
        </p:txBody>
      </p:sp>
      <p:sp>
        <p:nvSpPr>
          <p:cNvPr id="21" name="TextBox 20"/>
          <p:cNvSpPr txBox="1"/>
          <p:nvPr/>
        </p:nvSpPr>
        <p:spPr>
          <a:xfrm>
            <a:off x="7287768" y="4462272"/>
            <a:ext cx="1307592" cy="274320"/>
          </a:xfrm>
          <a:prstGeom prst="rect">
            <a:avLst/>
          </a:prstGeom>
          <a:noFill/>
        </p:spPr>
        <p:txBody>
          <a:bodyPr wrap="square" lIns="0" rIns="0" tIns="0" bIns="0" anchor="t">
            <a:spAutoFit/>
          </a:bodyPr>
          <a:lstStyle/>
          <a:p>
            <a:pPr algn="l"/>
            <a:r>
              <a:rPr sz="1000" b="0" i="0">
                <a:solidFill>
                  <a:srgbClr val="8A9197"/>
                </a:solidFill>
                <a:latin typeface="Calibri"/>
              </a:rPr>
              <a:t>unseen test patients</a:t>
            </a:r>
          </a:p>
        </p:txBody>
      </p:sp>
      <p:sp>
        <p:nvSpPr>
          <p:cNvPr id="22" name="TextBox 21"/>
          <p:cNvSpPr txBox="1"/>
          <p:nvPr/>
        </p:nvSpPr>
        <p:spPr>
          <a:xfrm>
            <a:off x="365760" y="4846320"/>
            <a:ext cx="5486400" cy="228600"/>
          </a:xfrm>
          <a:prstGeom prst="rect">
            <a:avLst/>
          </a:prstGeom>
          <a:noFill/>
        </p:spPr>
        <p:txBody>
          <a:bodyPr wrap="square" lIns="0" rIns="0" tIns="0" bIns="0" anchor="t">
            <a:spAutoFit/>
          </a:bodyPr>
          <a:lstStyle/>
          <a:p>
            <a:pPr algn="l"/>
            <a:r>
              <a:rPr sz="900" b="0" i="0">
                <a:solidFill>
                  <a:srgbClr val="8A9197"/>
                </a:solidFill>
                <a:latin typeface="Calibri"/>
              </a:rPr>
              <a:t>Multimodal Cancer Cell Classification  ·  Uppsala 1MD042 A3</a:t>
            </a:r>
          </a:p>
        </p:txBody>
      </p:sp>
      <p:sp>
        <p:nvSpPr>
          <p:cNvPr id="23" name="TextBox 22"/>
          <p:cNvSpPr txBox="1"/>
          <p:nvPr/>
        </p:nvSpPr>
        <p:spPr>
          <a:xfrm>
            <a:off x="7772400" y="4846320"/>
            <a:ext cx="1097280" cy="228600"/>
          </a:xfrm>
          <a:prstGeom prst="rect">
            <a:avLst/>
          </a:prstGeom>
          <a:noFill/>
        </p:spPr>
        <p:txBody>
          <a:bodyPr wrap="square" lIns="0" rIns="0" tIns="0" bIns="0" anchor="t">
            <a:spAutoFit/>
          </a:bodyPr>
          <a:lstStyle/>
          <a:p>
            <a:pPr algn="r"/>
            <a:r>
              <a:rPr sz="900" b="0" i="0">
                <a:solidFill>
                  <a:srgbClr val="8A9197"/>
                </a:solidFill>
                <a:latin typeface="Calibri"/>
              </a:rP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Rectangle 1"/>
          <p:cNvSpPr/>
          <p:nvPr/>
        </p:nvSpPr>
        <p:spPr>
          <a:xfrm>
            <a:off x="0" y="0"/>
            <a:ext cx="73152" cy="5143500"/>
          </a:xfrm>
          <a:prstGeom prst="rect">
            <a:avLst/>
          </a:prstGeom>
          <a:solidFill>
            <a:srgbClr val="E07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20040"/>
            <a:ext cx="8229600" cy="274320"/>
          </a:xfrm>
          <a:prstGeom prst="rect">
            <a:avLst/>
          </a:prstGeom>
          <a:noFill/>
        </p:spPr>
        <p:txBody>
          <a:bodyPr wrap="square" lIns="0" rIns="0" tIns="0" bIns="0" anchor="t">
            <a:spAutoFit/>
          </a:bodyPr>
          <a:lstStyle/>
          <a:p>
            <a:pPr algn="l"/>
            <a:r>
              <a:rPr sz="1100" b="1" i="0">
                <a:solidFill>
                  <a:srgbClr val="E07856"/>
                </a:solidFill>
                <a:latin typeface="Calibri"/>
              </a:rPr>
              <a:t>THE JOURNEY</a:t>
            </a:r>
          </a:p>
        </p:txBody>
      </p:sp>
      <p:sp>
        <p:nvSpPr>
          <p:cNvPr id="4" name="TextBox 3"/>
          <p:cNvSpPr txBox="1"/>
          <p:nvPr/>
        </p:nvSpPr>
        <p:spPr>
          <a:xfrm>
            <a:off x="365760" y="612647"/>
            <a:ext cx="8229600" cy="640080"/>
          </a:xfrm>
          <a:prstGeom prst="rect">
            <a:avLst/>
          </a:prstGeom>
          <a:noFill/>
        </p:spPr>
        <p:txBody>
          <a:bodyPr wrap="square" lIns="0" rIns="0" tIns="0" bIns="0" anchor="t">
            <a:spAutoFit/>
          </a:bodyPr>
          <a:lstStyle/>
          <a:p>
            <a:pPr algn="l"/>
            <a:r>
              <a:rPr sz="2800" b="1" i="0">
                <a:solidFill>
                  <a:srgbClr val="1A2540"/>
                </a:solidFill>
                <a:latin typeface="Georgia"/>
              </a:rPr>
              <a:t>36 versions, 4 acts</a:t>
            </a:r>
          </a:p>
        </p:txBody>
      </p:sp>
      <p:sp>
        <p:nvSpPr>
          <p:cNvPr id="5" name="Rectangle 4"/>
          <p:cNvSpPr/>
          <p:nvPr/>
        </p:nvSpPr>
        <p:spPr>
          <a:xfrm>
            <a:off x="1371600" y="2468880"/>
            <a:ext cx="6400800" cy="54864"/>
          </a:xfrm>
          <a:prstGeom prst="rect">
            <a:avLst/>
          </a:prstGeom>
          <a:solidFill>
            <a:srgbClr val="8A91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444752" y="2377440"/>
            <a:ext cx="274320" cy="274320"/>
          </a:xfrm>
          <a:prstGeom prst="ellipse">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417320"/>
            <a:ext cx="1463040" cy="274320"/>
          </a:xfrm>
          <a:prstGeom prst="rect">
            <a:avLst/>
          </a:prstGeom>
          <a:noFill/>
        </p:spPr>
        <p:txBody>
          <a:bodyPr wrap="square" lIns="0" rIns="0" tIns="0" bIns="0" anchor="t">
            <a:spAutoFit/>
          </a:bodyPr>
          <a:lstStyle/>
          <a:p>
            <a:pPr algn="ctr"/>
            <a:r>
              <a:rPr sz="1000" b="1" i="0">
                <a:solidFill>
                  <a:srgbClr val="E07856"/>
                </a:solidFill>
                <a:latin typeface="Calibri"/>
              </a:rPr>
              <a:t>ACT 1+2</a:t>
            </a:r>
          </a:p>
        </p:txBody>
      </p:sp>
      <p:sp>
        <p:nvSpPr>
          <p:cNvPr id="8" name="TextBox 7"/>
          <p:cNvSpPr txBox="1"/>
          <p:nvPr/>
        </p:nvSpPr>
        <p:spPr>
          <a:xfrm>
            <a:off x="822959" y="1691640"/>
            <a:ext cx="1463040" cy="274320"/>
          </a:xfrm>
          <a:prstGeom prst="rect">
            <a:avLst/>
          </a:prstGeom>
          <a:noFill/>
        </p:spPr>
        <p:txBody>
          <a:bodyPr wrap="square" lIns="0" rIns="0" tIns="0" bIns="0" anchor="t">
            <a:spAutoFit/>
          </a:bodyPr>
          <a:lstStyle/>
          <a:p>
            <a:pPr algn="ctr"/>
            <a:r>
              <a:rPr sz="1300" b="1" i="0">
                <a:solidFill>
                  <a:srgbClr val="1A2540"/>
                </a:solidFill>
                <a:latin typeface="Georgia"/>
              </a:rPr>
              <a:t>v10–v16</a:t>
            </a:r>
          </a:p>
        </p:txBody>
      </p:sp>
      <p:sp>
        <p:nvSpPr>
          <p:cNvPr id="9" name="TextBox 8"/>
          <p:cNvSpPr txBox="1"/>
          <p:nvPr/>
        </p:nvSpPr>
        <p:spPr>
          <a:xfrm>
            <a:off x="685800" y="1965960"/>
            <a:ext cx="1737360" cy="365760"/>
          </a:xfrm>
          <a:prstGeom prst="rect">
            <a:avLst/>
          </a:prstGeom>
          <a:noFill/>
        </p:spPr>
        <p:txBody>
          <a:bodyPr wrap="square" lIns="0" rIns="0" tIns="0" bIns="0" anchor="t">
            <a:spAutoFit/>
          </a:bodyPr>
          <a:lstStyle/>
          <a:p>
            <a:pPr algn="ctr"/>
            <a:r>
              <a:rPr sz="1100" b="0" i="1">
                <a:solidFill>
                  <a:srgbClr val="8A9197"/>
                </a:solidFill>
                <a:latin typeface="Calibri"/>
              </a:rPr>
              <a:t>Baselines &amp; SSL</a:t>
            </a:r>
          </a:p>
        </p:txBody>
      </p:sp>
      <p:sp>
        <p:nvSpPr>
          <p:cNvPr id="10" name="Oval 9"/>
          <p:cNvSpPr/>
          <p:nvPr/>
        </p:nvSpPr>
        <p:spPr>
          <a:xfrm>
            <a:off x="3456432" y="2377440"/>
            <a:ext cx="274320" cy="274320"/>
          </a:xfrm>
          <a:prstGeom prst="ellipse">
            <a:avLst/>
          </a:prstGeom>
          <a:solidFill>
            <a:srgbClr val="2E5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34639" y="1417320"/>
            <a:ext cx="1463040" cy="274320"/>
          </a:xfrm>
          <a:prstGeom prst="rect">
            <a:avLst/>
          </a:prstGeom>
          <a:noFill/>
        </p:spPr>
        <p:txBody>
          <a:bodyPr wrap="square" lIns="0" rIns="0" tIns="0" bIns="0" anchor="t">
            <a:spAutoFit/>
          </a:bodyPr>
          <a:lstStyle/>
          <a:p>
            <a:pPr algn="ctr"/>
            <a:r>
              <a:rPr sz="1000" b="1" i="0">
                <a:solidFill>
                  <a:srgbClr val="E07856"/>
                </a:solidFill>
                <a:latin typeface="Calibri"/>
              </a:rPr>
              <a:t>ACT 3</a:t>
            </a:r>
          </a:p>
        </p:txBody>
      </p:sp>
      <p:sp>
        <p:nvSpPr>
          <p:cNvPr id="12" name="TextBox 11"/>
          <p:cNvSpPr txBox="1"/>
          <p:nvPr/>
        </p:nvSpPr>
        <p:spPr>
          <a:xfrm>
            <a:off x="2834639" y="1691640"/>
            <a:ext cx="1463040" cy="274320"/>
          </a:xfrm>
          <a:prstGeom prst="rect">
            <a:avLst/>
          </a:prstGeom>
          <a:noFill/>
        </p:spPr>
        <p:txBody>
          <a:bodyPr wrap="square" lIns="0" rIns="0" tIns="0" bIns="0" anchor="t">
            <a:spAutoFit/>
          </a:bodyPr>
          <a:lstStyle/>
          <a:p>
            <a:pPr algn="ctr"/>
            <a:r>
              <a:rPr sz="1300" b="1" i="0">
                <a:solidFill>
                  <a:srgbClr val="1A2540"/>
                </a:solidFill>
                <a:latin typeface="Georgia"/>
              </a:rPr>
              <a:t>v17–v19</a:t>
            </a:r>
          </a:p>
        </p:txBody>
      </p:sp>
      <p:sp>
        <p:nvSpPr>
          <p:cNvPr id="13" name="TextBox 12"/>
          <p:cNvSpPr txBox="1"/>
          <p:nvPr/>
        </p:nvSpPr>
        <p:spPr>
          <a:xfrm>
            <a:off x="2697480" y="1965960"/>
            <a:ext cx="1737360" cy="365760"/>
          </a:xfrm>
          <a:prstGeom prst="rect">
            <a:avLst/>
          </a:prstGeom>
          <a:noFill/>
        </p:spPr>
        <p:txBody>
          <a:bodyPr wrap="square" lIns="0" rIns="0" tIns="0" bIns="0" anchor="t">
            <a:spAutoFit/>
          </a:bodyPr>
          <a:lstStyle/>
          <a:p>
            <a:pPr algn="ctr"/>
            <a:r>
              <a:rPr sz="1100" b="0" i="1">
                <a:solidFill>
                  <a:srgbClr val="8A9197"/>
                </a:solidFill>
                <a:latin typeface="Calibri"/>
              </a:rPr>
              <a:t>EffNet pivot</a:t>
            </a:r>
          </a:p>
        </p:txBody>
      </p:sp>
      <p:sp>
        <p:nvSpPr>
          <p:cNvPr id="14" name="Oval 13"/>
          <p:cNvSpPr/>
          <p:nvPr/>
        </p:nvSpPr>
        <p:spPr>
          <a:xfrm>
            <a:off x="5468112" y="2377440"/>
            <a:ext cx="274320" cy="274320"/>
          </a:xfrm>
          <a:prstGeom prst="ellipse">
            <a:avLst/>
          </a:prstGeom>
          <a:solidFill>
            <a:srgbClr val="1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46320" y="1417320"/>
            <a:ext cx="1463040" cy="274320"/>
          </a:xfrm>
          <a:prstGeom prst="rect">
            <a:avLst/>
          </a:prstGeom>
          <a:noFill/>
        </p:spPr>
        <p:txBody>
          <a:bodyPr wrap="square" lIns="0" rIns="0" tIns="0" bIns="0" anchor="t">
            <a:spAutoFit/>
          </a:bodyPr>
          <a:lstStyle/>
          <a:p>
            <a:pPr algn="ctr"/>
            <a:r>
              <a:rPr sz="1000" b="1" i="0">
                <a:solidFill>
                  <a:srgbClr val="E07856"/>
                </a:solidFill>
                <a:latin typeface="Calibri"/>
              </a:rPr>
              <a:t>ACT 4</a:t>
            </a:r>
          </a:p>
        </p:txBody>
      </p:sp>
      <p:sp>
        <p:nvSpPr>
          <p:cNvPr id="16" name="TextBox 15"/>
          <p:cNvSpPr txBox="1"/>
          <p:nvPr/>
        </p:nvSpPr>
        <p:spPr>
          <a:xfrm>
            <a:off x="4846320" y="1691640"/>
            <a:ext cx="1463040" cy="274320"/>
          </a:xfrm>
          <a:prstGeom prst="rect">
            <a:avLst/>
          </a:prstGeom>
          <a:noFill/>
        </p:spPr>
        <p:txBody>
          <a:bodyPr wrap="square" lIns="0" rIns="0" tIns="0" bIns="0" anchor="t">
            <a:spAutoFit/>
          </a:bodyPr>
          <a:lstStyle/>
          <a:p>
            <a:pPr algn="ctr"/>
            <a:r>
              <a:rPr sz="1300" b="1" i="0">
                <a:solidFill>
                  <a:srgbClr val="1A2540"/>
                </a:solidFill>
                <a:latin typeface="Georgia"/>
              </a:rPr>
              <a:t>v20–v41</a:t>
            </a:r>
          </a:p>
        </p:txBody>
      </p:sp>
      <p:sp>
        <p:nvSpPr>
          <p:cNvPr id="17" name="TextBox 16"/>
          <p:cNvSpPr txBox="1"/>
          <p:nvPr/>
        </p:nvSpPr>
        <p:spPr>
          <a:xfrm>
            <a:off x="4709159" y="1965960"/>
            <a:ext cx="1737360" cy="365760"/>
          </a:xfrm>
          <a:prstGeom prst="rect">
            <a:avLst/>
          </a:prstGeom>
          <a:noFill/>
        </p:spPr>
        <p:txBody>
          <a:bodyPr wrap="square" lIns="0" rIns="0" tIns="0" bIns="0" anchor="t">
            <a:spAutoFit/>
          </a:bodyPr>
          <a:lstStyle/>
          <a:p>
            <a:pPr algn="ctr"/>
            <a:r>
              <a:rPr sz="1100" b="0" i="1">
                <a:solidFill>
                  <a:srgbClr val="8A9197"/>
                </a:solidFill>
                <a:latin typeface="Calibri"/>
              </a:rPr>
              <a:t>Regularizer search</a:t>
            </a:r>
          </a:p>
        </p:txBody>
      </p:sp>
      <p:sp>
        <p:nvSpPr>
          <p:cNvPr id="18" name="Oval 17"/>
          <p:cNvSpPr/>
          <p:nvPr/>
        </p:nvSpPr>
        <p:spPr>
          <a:xfrm>
            <a:off x="7479792" y="2377440"/>
            <a:ext cx="274320" cy="274320"/>
          </a:xfrm>
          <a:prstGeom prst="ellipse">
            <a:avLst/>
          </a:prstGeom>
          <a:solidFill>
            <a:srgbClr val="2A8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0" y="1417320"/>
            <a:ext cx="1463040" cy="274320"/>
          </a:xfrm>
          <a:prstGeom prst="rect">
            <a:avLst/>
          </a:prstGeom>
          <a:noFill/>
        </p:spPr>
        <p:txBody>
          <a:bodyPr wrap="square" lIns="0" rIns="0" tIns="0" bIns="0" anchor="t">
            <a:spAutoFit/>
          </a:bodyPr>
          <a:lstStyle/>
          <a:p>
            <a:pPr algn="ctr"/>
            <a:r>
              <a:rPr sz="1000" b="1" i="0">
                <a:solidFill>
                  <a:srgbClr val="E07856"/>
                </a:solidFill>
                <a:latin typeface="Calibri"/>
              </a:rPr>
              <a:t>ACT 5</a:t>
            </a:r>
          </a:p>
        </p:txBody>
      </p:sp>
      <p:sp>
        <p:nvSpPr>
          <p:cNvPr id="20" name="TextBox 19"/>
          <p:cNvSpPr txBox="1"/>
          <p:nvPr/>
        </p:nvSpPr>
        <p:spPr>
          <a:xfrm>
            <a:off x="6858000" y="1691640"/>
            <a:ext cx="1463040" cy="274320"/>
          </a:xfrm>
          <a:prstGeom prst="rect">
            <a:avLst/>
          </a:prstGeom>
          <a:noFill/>
        </p:spPr>
        <p:txBody>
          <a:bodyPr wrap="square" lIns="0" rIns="0" tIns="0" bIns="0" anchor="t">
            <a:spAutoFit/>
          </a:bodyPr>
          <a:lstStyle/>
          <a:p>
            <a:pPr algn="ctr"/>
            <a:r>
              <a:rPr sz="1300" b="1" i="0">
                <a:solidFill>
                  <a:srgbClr val="1A2540"/>
                </a:solidFill>
                <a:latin typeface="Georgia"/>
              </a:rPr>
              <a:t>v42–v47</a:t>
            </a:r>
          </a:p>
        </p:txBody>
      </p:sp>
      <p:sp>
        <p:nvSpPr>
          <p:cNvPr id="21" name="TextBox 20"/>
          <p:cNvSpPr txBox="1"/>
          <p:nvPr/>
        </p:nvSpPr>
        <p:spPr>
          <a:xfrm>
            <a:off x="6720840" y="1965960"/>
            <a:ext cx="1737360" cy="365760"/>
          </a:xfrm>
          <a:prstGeom prst="rect">
            <a:avLst/>
          </a:prstGeom>
          <a:noFill/>
        </p:spPr>
        <p:txBody>
          <a:bodyPr wrap="square" lIns="0" rIns="0" tIns="0" bIns="0" anchor="t">
            <a:spAutoFit/>
          </a:bodyPr>
          <a:lstStyle/>
          <a:p>
            <a:pPr algn="ctr"/>
            <a:r>
              <a:rPr sz="1100" b="0" i="1">
                <a:solidFill>
                  <a:srgbClr val="8A9197"/>
                </a:solidFill>
                <a:latin typeface="Calibri"/>
              </a:rPr>
              <a:t>Semi-supervised</a:t>
            </a:r>
          </a:p>
        </p:txBody>
      </p:sp>
      <p:sp>
        <p:nvSpPr>
          <p:cNvPr id="22" name="TextBox 21"/>
          <p:cNvSpPr txBox="1"/>
          <p:nvPr/>
        </p:nvSpPr>
        <p:spPr>
          <a:xfrm>
            <a:off x="685800" y="2926080"/>
            <a:ext cx="1737360" cy="365760"/>
          </a:xfrm>
          <a:prstGeom prst="rect">
            <a:avLst/>
          </a:prstGeom>
          <a:noFill/>
        </p:spPr>
        <p:txBody>
          <a:bodyPr wrap="square" lIns="0" rIns="0" tIns="0" bIns="0" anchor="t">
            <a:spAutoFit/>
          </a:bodyPr>
          <a:lstStyle/>
          <a:p>
            <a:pPr algn="ctr"/>
            <a:r>
              <a:rPr sz="1500" b="1" i="0">
                <a:solidFill>
                  <a:srgbClr val="1A2540"/>
                </a:solidFill>
                <a:latin typeface="Georgia"/>
              </a:rPr>
              <a:t>0.572 → 0.503</a:t>
            </a:r>
          </a:p>
        </p:txBody>
      </p:sp>
      <p:sp>
        <p:nvSpPr>
          <p:cNvPr id="23" name="TextBox 22"/>
          <p:cNvSpPr txBox="1"/>
          <p:nvPr/>
        </p:nvSpPr>
        <p:spPr>
          <a:xfrm>
            <a:off x="685800" y="3291840"/>
            <a:ext cx="1737360" cy="365760"/>
          </a:xfrm>
          <a:prstGeom prst="rect">
            <a:avLst/>
          </a:prstGeom>
          <a:noFill/>
        </p:spPr>
        <p:txBody>
          <a:bodyPr wrap="square" lIns="0" rIns="0" tIns="0" bIns="0" anchor="t">
            <a:spAutoFit/>
          </a:bodyPr>
          <a:lstStyle/>
          <a:p>
            <a:pPr algn="ctr"/>
            <a:r>
              <a:rPr sz="1000" b="0" i="1">
                <a:solidFill>
                  <a:srgbClr val="8A9197"/>
                </a:solidFill>
                <a:latin typeface="Calibri"/>
              </a:rPr>
              <a:t>SSL collapse</a:t>
            </a:r>
          </a:p>
        </p:txBody>
      </p:sp>
      <p:sp>
        <p:nvSpPr>
          <p:cNvPr id="24" name="TextBox 23"/>
          <p:cNvSpPr txBox="1"/>
          <p:nvPr/>
        </p:nvSpPr>
        <p:spPr>
          <a:xfrm>
            <a:off x="2697480" y="2926080"/>
            <a:ext cx="1737360" cy="365760"/>
          </a:xfrm>
          <a:prstGeom prst="rect">
            <a:avLst/>
          </a:prstGeom>
          <a:noFill/>
        </p:spPr>
        <p:txBody>
          <a:bodyPr wrap="square" lIns="0" rIns="0" tIns="0" bIns="0" anchor="t">
            <a:spAutoFit/>
          </a:bodyPr>
          <a:lstStyle/>
          <a:p>
            <a:pPr algn="ctr"/>
            <a:r>
              <a:rPr sz="1500" b="1" i="0">
                <a:solidFill>
                  <a:srgbClr val="1A2540"/>
                </a:solidFill>
                <a:latin typeface="Georgia"/>
              </a:rPr>
              <a:t>0.7455</a:t>
            </a:r>
          </a:p>
        </p:txBody>
      </p:sp>
      <p:sp>
        <p:nvSpPr>
          <p:cNvPr id="25" name="TextBox 24"/>
          <p:cNvSpPr txBox="1"/>
          <p:nvPr/>
        </p:nvSpPr>
        <p:spPr>
          <a:xfrm>
            <a:off x="2697480" y="3291840"/>
            <a:ext cx="1737360" cy="365760"/>
          </a:xfrm>
          <a:prstGeom prst="rect">
            <a:avLst/>
          </a:prstGeom>
          <a:noFill/>
        </p:spPr>
        <p:txBody>
          <a:bodyPr wrap="square" lIns="0" rIns="0" tIns="0" bIns="0" anchor="t">
            <a:spAutoFit/>
          </a:bodyPr>
          <a:lstStyle/>
          <a:p>
            <a:pPr algn="ctr"/>
            <a:r>
              <a:rPr sz="1000" b="0" i="1">
                <a:solidFill>
                  <a:srgbClr val="8A9197"/>
                </a:solidFill>
                <a:latin typeface="Calibri"/>
              </a:rPr>
              <a:t>supervised floor</a:t>
            </a:r>
          </a:p>
        </p:txBody>
      </p:sp>
      <p:sp>
        <p:nvSpPr>
          <p:cNvPr id="26" name="TextBox 25"/>
          <p:cNvSpPr txBox="1"/>
          <p:nvPr/>
        </p:nvSpPr>
        <p:spPr>
          <a:xfrm>
            <a:off x="4709159" y="2926080"/>
            <a:ext cx="1737360" cy="365760"/>
          </a:xfrm>
          <a:prstGeom prst="rect">
            <a:avLst/>
          </a:prstGeom>
          <a:noFill/>
        </p:spPr>
        <p:txBody>
          <a:bodyPr wrap="square" lIns="0" rIns="0" tIns="0" bIns="0" anchor="t">
            <a:spAutoFit/>
          </a:bodyPr>
          <a:lstStyle/>
          <a:p>
            <a:pPr algn="ctr"/>
            <a:r>
              <a:rPr sz="1500" b="1" i="0">
                <a:solidFill>
                  <a:srgbClr val="1A2540"/>
                </a:solidFill>
                <a:latin typeface="Georgia"/>
              </a:rPr>
              <a:t>0.7563</a:t>
            </a:r>
          </a:p>
        </p:txBody>
      </p:sp>
      <p:sp>
        <p:nvSpPr>
          <p:cNvPr id="27" name="TextBox 26"/>
          <p:cNvSpPr txBox="1"/>
          <p:nvPr/>
        </p:nvSpPr>
        <p:spPr>
          <a:xfrm>
            <a:off x="4709159" y="3291840"/>
            <a:ext cx="1737360" cy="365760"/>
          </a:xfrm>
          <a:prstGeom prst="rect">
            <a:avLst/>
          </a:prstGeom>
          <a:noFill/>
        </p:spPr>
        <p:txBody>
          <a:bodyPr wrap="square" lIns="0" rIns="0" tIns="0" bIns="0" anchor="t">
            <a:spAutoFit/>
          </a:bodyPr>
          <a:lstStyle/>
          <a:p>
            <a:pPr algn="ctr"/>
            <a:r>
              <a:rPr sz="1000" b="0" i="1">
                <a:solidFill>
                  <a:srgbClr val="8A9197"/>
                </a:solidFill>
                <a:latin typeface="Calibri"/>
              </a:rPr>
              <a:t>v41 stacked L4 regs</a:t>
            </a:r>
          </a:p>
        </p:txBody>
      </p:sp>
      <p:sp>
        <p:nvSpPr>
          <p:cNvPr id="28" name="TextBox 27"/>
          <p:cNvSpPr txBox="1"/>
          <p:nvPr/>
        </p:nvSpPr>
        <p:spPr>
          <a:xfrm>
            <a:off x="6720840" y="2926080"/>
            <a:ext cx="1737360" cy="365760"/>
          </a:xfrm>
          <a:prstGeom prst="rect">
            <a:avLst/>
          </a:prstGeom>
          <a:noFill/>
        </p:spPr>
        <p:txBody>
          <a:bodyPr wrap="square" lIns="0" rIns="0" tIns="0" bIns="0" anchor="t">
            <a:spAutoFit/>
          </a:bodyPr>
          <a:lstStyle/>
          <a:p>
            <a:pPr algn="ctr"/>
            <a:r>
              <a:rPr sz="1500" b="1" i="0">
                <a:solidFill>
                  <a:srgbClr val="1A2540"/>
                </a:solidFill>
                <a:latin typeface="Georgia"/>
              </a:rPr>
              <a:t>0.8264</a:t>
            </a:r>
          </a:p>
        </p:txBody>
      </p:sp>
      <p:sp>
        <p:nvSpPr>
          <p:cNvPr id="29" name="TextBox 28"/>
          <p:cNvSpPr txBox="1"/>
          <p:nvPr/>
        </p:nvSpPr>
        <p:spPr>
          <a:xfrm>
            <a:off x="6720840" y="3291840"/>
            <a:ext cx="1737360" cy="365760"/>
          </a:xfrm>
          <a:prstGeom prst="rect">
            <a:avLst/>
          </a:prstGeom>
          <a:noFill/>
        </p:spPr>
        <p:txBody>
          <a:bodyPr wrap="square" lIns="0" rIns="0" tIns="0" bIns="0" anchor="t">
            <a:spAutoFit/>
          </a:bodyPr>
          <a:lstStyle/>
          <a:p>
            <a:pPr algn="ctr"/>
            <a:r>
              <a:rPr sz="1000" b="0" i="1">
                <a:solidFill>
                  <a:srgbClr val="8A9197"/>
                </a:solidFill>
                <a:latin typeface="Calibri"/>
              </a:rPr>
              <a:t>v47 #1 on LB</a:t>
            </a:r>
          </a:p>
        </p:txBody>
      </p:sp>
      <p:sp>
        <p:nvSpPr>
          <p:cNvPr id="30" name="Rectangle 29"/>
          <p:cNvSpPr/>
          <p:nvPr/>
        </p:nvSpPr>
        <p:spPr>
          <a:xfrm>
            <a:off x="365760" y="4023360"/>
            <a:ext cx="8412480" cy="594360"/>
          </a:xfrm>
          <a:prstGeom prst="rect">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4114800"/>
            <a:ext cx="8229600" cy="411480"/>
          </a:xfrm>
          <a:prstGeom prst="rect">
            <a:avLst/>
          </a:prstGeom>
          <a:noFill/>
        </p:spPr>
        <p:txBody>
          <a:bodyPr wrap="square" lIns="0" rIns="0" tIns="0" bIns="0" anchor="ctr">
            <a:spAutoFit/>
          </a:bodyPr>
          <a:lstStyle/>
          <a:p>
            <a:pPr algn="l"/>
            <a:r>
              <a:rPr sz="1400" b="0" i="1">
                <a:solidFill>
                  <a:srgbClr val="F5F0E8"/>
                </a:solidFill>
                <a:latin typeface="Georgia"/>
              </a:rPr>
              <a:t>Each act answered a question. Each result changed the next question.</a:t>
            </a:r>
          </a:p>
        </p:txBody>
      </p:sp>
      <p:sp>
        <p:nvSpPr>
          <p:cNvPr id="32" name="TextBox 31"/>
          <p:cNvSpPr txBox="1"/>
          <p:nvPr/>
        </p:nvSpPr>
        <p:spPr>
          <a:xfrm>
            <a:off x="365760" y="4846320"/>
            <a:ext cx="5486400" cy="228600"/>
          </a:xfrm>
          <a:prstGeom prst="rect">
            <a:avLst/>
          </a:prstGeom>
          <a:noFill/>
        </p:spPr>
        <p:txBody>
          <a:bodyPr wrap="square" lIns="0" rIns="0" tIns="0" bIns="0" anchor="t">
            <a:spAutoFit/>
          </a:bodyPr>
          <a:lstStyle/>
          <a:p>
            <a:pPr algn="l"/>
            <a:r>
              <a:rPr sz="900" b="0" i="0">
                <a:solidFill>
                  <a:srgbClr val="8A9197"/>
                </a:solidFill>
                <a:latin typeface="Calibri"/>
              </a:rPr>
              <a:t>Multimodal Cancer Cell Classification  ·  Uppsala 1MD042 A3</a:t>
            </a:r>
          </a:p>
        </p:txBody>
      </p:sp>
      <p:sp>
        <p:nvSpPr>
          <p:cNvPr id="33" name="TextBox 32"/>
          <p:cNvSpPr txBox="1"/>
          <p:nvPr/>
        </p:nvSpPr>
        <p:spPr>
          <a:xfrm>
            <a:off x="7772400" y="4846320"/>
            <a:ext cx="1097280" cy="228600"/>
          </a:xfrm>
          <a:prstGeom prst="rect">
            <a:avLst/>
          </a:prstGeom>
          <a:noFill/>
        </p:spPr>
        <p:txBody>
          <a:bodyPr wrap="square" lIns="0" rIns="0" tIns="0" bIns="0" anchor="t">
            <a:spAutoFit/>
          </a:bodyPr>
          <a:lstStyle/>
          <a:p>
            <a:pPr algn="r"/>
            <a:r>
              <a:rPr sz="900" b="0" i="0">
                <a:solidFill>
                  <a:srgbClr val="8A9197"/>
                </a:solidFill>
                <a:latin typeface="Calibri"/>
              </a:rPr>
              <a:t>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Rectangle 1"/>
          <p:cNvSpPr/>
          <p:nvPr/>
        </p:nvSpPr>
        <p:spPr>
          <a:xfrm>
            <a:off x="0" y="0"/>
            <a:ext cx="73152" cy="5143500"/>
          </a:xfrm>
          <a:prstGeom prst="rect">
            <a:avLst/>
          </a:prstGeom>
          <a:solidFill>
            <a:srgbClr val="E07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20040"/>
            <a:ext cx="8229600" cy="274320"/>
          </a:xfrm>
          <a:prstGeom prst="rect">
            <a:avLst/>
          </a:prstGeom>
          <a:noFill/>
        </p:spPr>
        <p:txBody>
          <a:bodyPr wrap="square" lIns="0" rIns="0" tIns="0" bIns="0" anchor="t">
            <a:spAutoFit/>
          </a:bodyPr>
          <a:lstStyle/>
          <a:p>
            <a:pPr algn="l"/>
            <a:r>
              <a:rPr sz="1100" b="1" i="0">
                <a:solidFill>
                  <a:srgbClr val="E07856"/>
                </a:solidFill>
                <a:latin typeface="Calibri"/>
              </a:rPr>
              <a:t>ACT 2  ·  THE AMBITION</a:t>
            </a:r>
          </a:p>
        </p:txBody>
      </p:sp>
      <p:sp>
        <p:nvSpPr>
          <p:cNvPr id="4" name="TextBox 3"/>
          <p:cNvSpPr txBox="1"/>
          <p:nvPr/>
        </p:nvSpPr>
        <p:spPr>
          <a:xfrm>
            <a:off x="365760" y="612647"/>
            <a:ext cx="8229600" cy="640080"/>
          </a:xfrm>
          <a:prstGeom prst="rect">
            <a:avLst/>
          </a:prstGeom>
          <a:noFill/>
        </p:spPr>
        <p:txBody>
          <a:bodyPr wrap="square" lIns="0" rIns="0" tIns="0" bIns="0" anchor="t">
            <a:spAutoFit/>
          </a:bodyPr>
          <a:lstStyle/>
          <a:p>
            <a:pPr algn="l"/>
            <a:r>
              <a:rPr sz="2800" b="1" i="0">
                <a:solidFill>
                  <a:srgbClr val="1A2540"/>
                </a:solidFill>
                <a:latin typeface="Georgia"/>
              </a:rPr>
              <a:t>v15: CoMIR SSL — the CV was beautiful</a:t>
            </a:r>
          </a:p>
        </p:txBody>
      </p:sp>
      <p:sp>
        <p:nvSpPr>
          <p:cNvPr id="5" name="TextBox 4"/>
          <p:cNvSpPr txBox="1"/>
          <p:nvPr/>
        </p:nvSpPr>
        <p:spPr>
          <a:xfrm>
            <a:off x="365760" y="1325880"/>
            <a:ext cx="4572000" cy="320040"/>
          </a:xfrm>
          <a:prstGeom prst="rect">
            <a:avLst/>
          </a:prstGeom>
          <a:noFill/>
        </p:spPr>
        <p:txBody>
          <a:bodyPr wrap="square" lIns="0" rIns="0" tIns="0" bIns="0" anchor="t">
            <a:spAutoFit/>
          </a:bodyPr>
          <a:lstStyle/>
          <a:p>
            <a:pPr algn="l"/>
            <a:r>
              <a:rPr sz="1200" b="1" i="0">
                <a:solidFill>
                  <a:srgbClr val="E07856"/>
                </a:solidFill>
                <a:latin typeface="Calibri"/>
              </a:rPr>
              <a:t>What we built</a:t>
            </a:r>
          </a:p>
        </p:txBody>
      </p:sp>
      <p:sp>
        <p:nvSpPr>
          <p:cNvPr id="6" name="TextBox 5"/>
          <p:cNvSpPr txBox="1"/>
          <p:nvPr/>
        </p:nvSpPr>
        <p:spPr>
          <a:xfrm>
            <a:off x="365760" y="1645920"/>
            <a:ext cx="4572000" cy="2286000"/>
          </a:xfrm>
          <a:prstGeom prst="rect">
            <a:avLst/>
          </a:prstGeom>
          <a:noFill/>
        </p:spPr>
        <p:txBody>
          <a:bodyPr wrap="square" lIns="0" rIns="0" tIns="0" bIns="0">
            <a:spAutoFit/>
          </a:bodyPr>
          <a:lstStyle/>
          <a:p>
            <a:pPr algn="l">
              <a:lnSpc>
                <a:spcPct val="115000"/>
              </a:lnSpc>
            </a:pPr>
            <a:r>
              <a:rPr sz="1300" b="1">
                <a:solidFill>
                  <a:srgbClr val="E07856"/>
                </a:solidFill>
                <a:latin typeface="Calibri"/>
              </a:rPr>
              <a:t>— </a:t>
            </a:r>
            <a:r>
              <a:rPr sz="1300">
                <a:solidFill>
                  <a:srgbClr val="1A2540"/>
                </a:solidFill>
                <a:latin typeface="Calibri"/>
              </a:rPr>
              <a:t>Two ResNet-18 branches (BF + FL), each with projection head</a:t>
            </a:r>
          </a:p>
          <a:p>
            <a:pPr algn="l">
              <a:lnSpc>
                <a:spcPct val="115000"/>
              </a:lnSpc>
            </a:pPr>
            <a:r>
              <a:rPr sz="1300" b="1">
                <a:solidFill>
                  <a:srgbClr val="E07856"/>
                </a:solidFill>
                <a:latin typeface="Calibri"/>
              </a:rPr>
              <a:t>— </a:t>
            </a:r>
            <a:r>
              <a:rPr sz="1300">
                <a:solidFill>
                  <a:srgbClr val="1A2540"/>
                </a:solidFill>
                <a:latin typeface="Calibri"/>
              </a:rPr>
              <a:t>CoMIR contrastive SSL pretrain (NT-Xent, τ=0.1)</a:t>
            </a:r>
          </a:p>
          <a:p>
            <a:pPr algn="l">
              <a:lnSpc>
                <a:spcPct val="115000"/>
              </a:lnSpc>
            </a:pPr>
            <a:r>
              <a:rPr sz="1300" b="1">
                <a:solidFill>
                  <a:srgbClr val="E07856"/>
                </a:solidFill>
                <a:latin typeface="Calibri"/>
              </a:rPr>
              <a:t>— </a:t>
            </a:r>
            <a:r>
              <a:rPr sz="1300">
                <a:solidFill>
                  <a:srgbClr val="1A2540"/>
                </a:solidFill>
                <a:latin typeface="Calibri"/>
              </a:rPr>
              <a:t>Supervised stage with discriminative LR (1:10 backbone:head)</a:t>
            </a:r>
          </a:p>
          <a:p>
            <a:pPr algn="l">
              <a:lnSpc>
                <a:spcPct val="115000"/>
              </a:lnSpc>
            </a:pPr>
            <a:r>
              <a:rPr sz="1300" b="1">
                <a:solidFill>
                  <a:srgbClr val="E07856"/>
                </a:solidFill>
                <a:latin typeface="Calibri"/>
              </a:rPr>
              <a:t>— </a:t>
            </a:r>
            <a:r>
              <a:rPr sz="1300">
                <a:solidFill>
                  <a:srgbClr val="1A2540"/>
                </a:solidFill>
                <a:latin typeface="Calibri"/>
              </a:rPr>
              <a:t>3-fold stratified-group CV — our undoing</a:t>
            </a:r>
          </a:p>
        </p:txBody>
      </p:sp>
      <p:sp>
        <p:nvSpPr>
          <p:cNvPr id="7" name="TextBox 6"/>
          <p:cNvSpPr txBox="1"/>
          <p:nvPr/>
        </p:nvSpPr>
        <p:spPr>
          <a:xfrm>
            <a:off x="5212080" y="1325880"/>
            <a:ext cx="3657600" cy="320040"/>
          </a:xfrm>
          <a:prstGeom prst="rect">
            <a:avLst/>
          </a:prstGeom>
          <a:noFill/>
        </p:spPr>
        <p:txBody>
          <a:bodyPr wrap="square" lIns="0" rIns="0" tIns="0" bIns="0" anchor="t">
            <a:spAutoFit/>
          </a:bodyPr>
          <a:lstStyle/>
          <a:p>
            <a:pPr algn="l"/>
            <a:r>
              <a:rPr sz="1200" b="1" i="0">
                <a:solidFill>
                  <a:srgbClr val="E07856"/>
                </a:solidFill>
                <a:latin typeface="Calibri"/>
              </a:rPr>
              <a:t>Then the leaderboard arrived</a:t>
            </a:r>
          </a:p>
        </p:txBody>
      </p:sp>
      <p:sp>
        <p:nvSpPr>
          <p:cNvPr id="8" name="Rectangle 7"/>
          <p:cNvSpPr/>
          <p:nvPr/>
        </p:nvSpPr>
        <p:spPr>
          <a:xfrm>
            <a:off x="5212080" y="1691640"/>
            <a:ext cx="3474720" cy="1188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212080" y="1691640"/>
            <a:ext cx="73152" cy="1188720"/>
          </a:xfrm>
          <a:prstGeom prst="rect">
            <a:avLst/>
          </a:prstGeom>
          <a:solidFill>
            <a:srgbClr val="2E52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4960" y="1783080"/>
            <a:ext cx="3291840" cy="365760"/>
          </a:xfrm>
          <a:prstGeom prst="rect">
            <a:avLst/>
          </a:prstGeom>
          <a:noFill/>
        </p:spPr>
        <p:txBody>
          <a:bodyPr wrap="square" lIns="0" rIns="0" tIns="0" bIns="0" anchor="t">
            <a:spAutoFit/>
          </a:bodyPr>
          <a:lstStyle/>
          <a:p>
            <a:pPr algn="l"/>
            <a:r>
              <a:rPr sz="1100" b="0" i="0">
                <a:solidFill>
                  <a:srgbClr val="8A9197"/>
                </a:solidFill>
                <a:latin typeface="Calibri"/>
              </a:rPr>
              <a:t>CV AUC</a:t>
            </a:r>
          </a:p>
        </p:txBody>
      </p:sp>
      <p:sp>
        <p:nvSpPr>
          <p:cNvPr id="11" name="TextBox 10"/>
          <p:cNvSpPr txBox="1"/>
          <p:nvPr/>
        </p:nvSpPr>
        <p:spPr>
          <a:xfrm>
            <a:off x="5394960" y="2057400"/>
            <a:ext cx="3291840" cy="731520"/>
          </a:xfrm>
          <a:prstGeom prst="rect">
            <a:avLst/>
          </a:prstGeom>
          <a:noFill/>
        </p:spPr>
        <p:txBody>
          <a:bodyPr wrap="square" lIns="0" rIns="0" tIns="0" bIns="0" anchor="t">
            <a:spAutoFit/>
          </a:bodyPr>
          <a:lstStyle/>
          <a:p>
            <a:pPr algn="l"/>
            <a:r>
              <a:rPr sz="4400" b="1" i="0">
                <a:solidFill>
                  <a:srgbClr val="1A2540"/>
                </a:solidFill>
                <a:latin typeface="Georgia"/>
              </a:rPr>
              <a:t>0.866</a:t>
            </a:r>
          </a:p>
        </p:txBody>
      </p:sp>
      <p:sp>
        <p:nvSpPr>
          <p:cNvPr id="12" name="Rectangle 11"/>
          <p:cNvSpPr/>
          <p:nvPr/>
        </p:nvSpPr>
        <p:spPr>
          <a:xfrm>
            <a:off x="5212080" y="2971800"/>
            <a:ext cx="3474720" cy="1188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212080" y="2971800"/>
            <a:ext cx="73152" cy="1188720"/>
          </a:xfrm>
          <a:prstGeom prst="rect">
            <a:avLst/>
          </a:prstGeom>
          <a:solidFill>
            <a:srgbClr val="E07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94960" y="3063240"/>
            <a:ext cx="3291840" cy="365760"/>
          </a:xfrm>
          <a:prstGeom prst="rect">
            <a:avLst/>
          </a:prstGeom>
          <a:noFill/>
        </p:spPr>
        <p:txBody>
          <a:bodyPr wrap="square" lIns="0" rIns="0" tIns="0" bIns="0" anchor="t">
            <a:spAutoFit/>
          </a:bodyPr>
          <a:lstStyle/>
          <a:p>
            <a:pPr algn="l"/>
            <a:r>
              <a:rPr sz="1100" b="0" i="0">
                <a:solidFill>
                  <a:srgbClr val="8A9197"/>
                </a:solidFill>
                <a:latin typeface="Calibri"/>
              </a:rPr>
              <a:t>Public LB AUC</a:t>
            </a:r>
          </a:p>
        </p:txBody>
      </p:sp>
      <p:sp>
        <p:nvSpPr>
          <p:cNvPr id="15" name="TextBox 14"/>
          <p:cNvSpPr txBox="1"/>
          <p:nvPr/>
        </p:nvSpPr>
        <p:spPr>
          <a:xfrm>
            <a:off x="5394960" y="3337560"/>
            <a:ext cx="3291840" cy="731520"/>
          </a:xfrm>
          <a:prstGeom prst="rect">
            <a:avLst/>
          </a:prstGeom>
          <a:noFill/>
        </p:spPr>
        <p:txBody>
          <a:bodyPr wrap="square" lIns="0" rIns="0" tIns="0" bIns="0" anchor="t">
            <a:spAutoFit/>
          </a:bodyPr>
          <a:lstStyle/>
          <a:p>
            <a:pPr algn="l"/>
            <a:r>
              <a:rPr sz="4400" b="1" i="0">
                <a:solidFill>
                  <a:srgbClr val="E07856"/>
                </a:solidFill>
                <a:latin typeface="Georgia"/>
              </a:rPr>
              <a:t>0.572</a:t>
            </a:r>
          </a:p>
        </p:txBody>
      </p:sp>
      <p:sp>
        <p:nvSpPr>
          <p:cNvPr id="16" name="Rectangle 15"/>
          <p:cNvSpPr/>
          <p:nvPr/>
        </p:nvSpPr>
        <p:spPr>
          <a:xfrm>
            <a:off x="365760" y="4160520"/>
            <a:ext cx="8412480" cy="502920"/>
          </a:xfrm>
          <a:prstGeom prst="rect">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224528"/>
            <a:ext cx="8229600" cy="365760"/>
          </a:xfrm>
          <a:prstGeom prst="rect">
            <a:avLst/>
          </a:prstGeom>
          <a:noFill/>
        </p:spPr>
        <p:txBody>
          <a:bodyPr wrap="square" lIns="0" rIns="0" tIns="0" bIns="0" anchor="ctr">
            <a:spAutoFit/>
          </a:bodyPr>
          <a:lstStyle/>
          <a:p>
            <a:pPr algn="l"/>
            <a:r>
              <a:rPr sz="1200" b="0" i="1">
                <a:solidFill>
                  <a:srgbClr val="F5F0E8"/>
                </a:solidFill>
                <a:latin typeface="Georgia"/>
              </a:rPr>
              <a:t>Diagnosis: 3-fold CV had val patients similar to train in 2/3 folds. The hard fold peaked at epoch 0 — essentially untrained.</a:t>
            </a:r>
          </a:p>
        </p:txBody>
      </p:sp>
      <p:sp>
        <p:nvSpPr>
          <p:cNvPr id="18" name="TextBox 17"/>
          <p:cNvSpPr txBox="1"/>
          <p:nvPr/>
        </p:nvSpPr>
        <p:spPr>
          <a:xfrm>
            <a:off x="365760" y="4846320"/>
            <a:ext cx="5486400" cy="228600"/>
          </a:xfrm>
          <a:prstGeom prst="rect">
            <a:avLst/>
          </a:prstGeom>
          <a:noFill/>
        </p:spPr>
        <p:txBody>
          <a:bodyPr wrap="square" lIns="0" rIns="0" tIns="0" bIns="0" anchor="t">
            <a:spAutoFit/>
          </a:bodyPr>
          <a:lstStyle/>
          <a:p>
            <a:pPr algn="l"/>
            <a:r>
              <a:rPr sz="900" b="0" i="0">
                <a:solidFill>
                  <a:srgbClr val="8A9197"/>
                </a:solidFill>
                <a:latin typeface="Calibri"/>
              </a:rPr>
              <a:t>Multimodal Cancer Cell Classification  ·  Uppsala 1MD042 A3</a:t>
            </a:r>
          </a:p>
        </p:txBody>
      </p:sp>
      <p:sp>
        <p:nvSpPr>
          <p:cNvPr id="19" name="TextBox 18"/>
          <p:cNvSpPr txBox="1"/>
          <p:nvPr/>
        </p:nvSpPr>
        <p:spPr>
          <a:xfrm>
            <a:off x="7772400" y="4846320"/>
            <a:ext cx="1097280" cy="228600"/>
          </a:xfrm>
          <a:prstGeom prst="rect">
            <a:avLst/>
          </a:prstGeom>
          <a:noFill/>
        </p:spPr>
        <p:txBody>
          <a:bodyPr wrap="square" lIns="0" rIns="0" tIns="0" bIns="0" anchor="t">
            <a:spAutoFit/>
          </a:bodyPr>
          <a:lstStyle/>
          <a:p>
            <a:pPr algn="r"/>
            <a:r>
              <a:rPr sz="900" b="0" i="0">
                <a:solidFill>
                  <a:srgbClr val="8A9197"/>
                </a:solidFill>
                <a:latin typeface="Calibri"/>
              </a:rPr>
              <a:t>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Rectangle 1"/>
          <p:cNvSpPr/>
          <p:nvPr/>
        </p:nvSpPr>
        <p:spPr>
          <a:xfrm>
            <a:off x="0" y="0"/>
            <a:ext cx="73152" cy="5143500"/>
          </a:xfrm>
          <a:prstGeom prst="rect">
            <a:avLst/>
          </a:prstGeom>
          <a:solidFill>
            <a:srgbClr val="E07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20040"/>
            <a:ext cx="8229600" cy="274320"/>
          </a:xfrm>
          <a:prstGeom prst="rect">
            <a:avLst/>
          </a:prstGeom>
          <a:noFill/>
        </p:spPr>
        <p:txBody>
          <a:bodyPr wrap="square" lIns="0" rIns="0" tIns="0" bIns="0" anchor="t">
            <a:spAutoFit/>
          </a:bodyPr>
          <a:lstStyle/>
          <a:p>
            <a:pPr algn="l"/>
            <a:r>
              <a:rPr sz="1100" b="1" i="0">
                <a:solidFill>
                  <a:srgbClr val="E07856"/>
                </a:solidFill>
                <a:latin typeface="Calibri"/>
              </a:rPr>
              <a:t>ACT 2  ·  THE RESPONSE</a:t>
            </a:r>
          </a:p>
        </p:txBody>
      </p:sp>
      <p:sp>
        <p:nvSpPr>
          <p:cNvPr id="4" name="TextBox 3"/>
          <p:cNvSpPr txBox="1"/>
          <p:nvPr/>
        </p:nvSpPr>
        <p:spPr>
          <a:xfrm>
            <a:off x="365760" y="612647"/>
            <a:ext cx="8229600" cy="640080"/>
          </a:xfrm>
          <a:prstGeom prst="rect">
            <a:avLst/>
          </a:prstGeom>
          <a:noFill/>
        </p:spPr>
        <p:txBody>
          <a:bodyPr wrap="square" lIns="0" rIns="0" tIns="0" bIns="0" anchor="t">
            <a:spAutoFit/>
          </a:bodyPr>
          <a:lstStyle/>
          <a:p>
            <a:pPr algn="l"/>
            <a:r>
              <a:rPr sz="2800" b="1" i="0">
                <a:solidFill>
                  <a:srgbClr val="1A2540"/>
                </a:solidFill>
                <a:latin typeface="Georgia"/>
              </a:rPr>
              <a:t>v16: nine careful fixes</a:t>
            </a:r>
          </a:p>
        </p:txBody>
      </p:sp>
      <p:sp>
        <p:nvSpPr>
          <p:cNvPr id="5" name="Rectangle 4"/>
          <p:cNvSpPr/>
          <p:nvPr/>
        </p:nvSpPr>
        <p:spPr>
          <a:xfrm>
            <a:off x="365760" y="1325880"/>
            <a:ext cx="1691640"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325880"/>
            <a:ext cx="45720" cy="868680"/>
          </a:xfrm>
          <a:prstGeom prst="rect">
            <a:avLst/>
          </a:prstGeom>
          <a:solidFill>
            <a:srgbClr val="2E52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71600"/>
            <a:ext cx="274320" cy="274320"/>
          </a:xfrm>
          <a:prstGeom prst="rect">
            <a:avLst/>
          </a:prstGeom>
          <a:noFill/>
        </p:spPr>
        <p:txBody>
          <a:bodyPr wrap="square" lIns="0" rIns="0" tIns="0" bIns="0" anchor="t">
            <a:spAutoFit/>
          </a:bodyPr>
          <a:lstStyle/>
          <a:p>
            <a:pPr algn="l"/>
            <a:r>
              <a:rPr sz="1400" b="1" i="0">
                <a:solidFill>
                  <a:srgbClr val="E07856"/>
                </a:solidFill>
                <a:latin typeface="Georgia"/>
              </a:rPr>
              <a:t>1</a:t>
            </a:r>
          </a:p>
        </p:txBody>
      </p:sp>
      <p:sp>
        <p:nvSpPr>
          <p:cNvPr id="8" name="TextBox 7"/>
          <p:cNvSpPr txBox="1"/>
          <p:nvPr/>
        </p:nvSpPr>
        <p:spPr>
          <a:xfrm>
            <a:off x="822960" y="1371600"/>
            <a:ext cx="1188720" cy="320040"/>
          </a:xfrm>
          <a:prstGeom prst="rect">
            <a:avLst/>
          </a:prstGeom>
          <a:noFill/>
        </p:spPr>
        <p:txBody>
          <a:bodyPr wrap="square" lIns="0" rIns="0" tIns="0" bIns="0" anchor="t">
            <a:spAutoFit/>
          </a:bodyPr>
          <a:lstStyle/>
          <a:p>
            <a:pPr algn="l"/>
            <a:r>
              <a:rPr sz="1100" b="1" i="0">
                <a:solidFill>
                  <a:srgbClr val="1A2540"/>
                </a:solidFill>
                <a:latin typeface="Calibri"/>
              </a:rPr>
              <a:t>No mixup</a:t>
            </a:r>
          </a:p>
        </p:txBody>
      </p:sp>
      <p:sp>
        <p:nvSpPr>
          <p:cNvPr id="9" name="TextBox 8"/>
          <p:cNvSpPr txBox="1"/>
          <p:nvPr/>
        </p:nvSpPr>
        <p:spPr>
          <a:xfrm>
            <a:off x="502920" y="1709928"/>
            <a:ext cx="1508760" cy="457200"/>
          </a:xfrm>
          <a:prstGeom prst="rect">
            <a:avLst/>
          </a:prstGeom>
          <a:noFill/>
        </p:spPr>
        <p:txBody>
          <a:bodyPr wrap="square" lIns="0" rIns="0" tIns="0" bIns="0" anchor="t">
            <a:spAutoFit/>
          </a:bodyPr>
          <a:lstStyle/>
          <a:p>
            <a:pPr algn="l"/>
            <a:r>
              <a:rPr sz="900" b="0" i="1">
                <a:solidFill>
                  <a:srgbClr val="8A9197"/>
                </a:solidFill>
                <a:latin typeface="Calibri"/>
              </a:rPr>
              <a:t>fought CoMIR alignment</a:t>
            </a:r>
          </a:p>
        </p:txBody>
      </p:sp>
      <p:sp>
        <p:nvSpPr>
          <p:cNvPr id="10" name="Rectangle 9"/>
          <p:cNvSpPr/>
          <p:nvPr/>
        </p:nvSpPr>
        <p:spPr>
          <a:xfrm>
            <a:off x="2103120" y="1325880"/>
            <a:ext cx="1691640"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03120" y="1325880"/>
            <a:ext cx="45720" cy="868680"/>
          </a:xfrm>
          <a:prstGeom prst="rect">
            <a:avLst/>
          </a:prstGeom>
          <a:solidFill>
            <a:srgbClr val="2E52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40280" y="1371600"/>
            <a:ext cx="274320" cy="274320"/>
          </a:xfrm>
          <a:prstGeom prst="rect">
            <a:avLst/>
          </a:prstGeom>
          <a:noFill/>
        </p:spPr>
        <p:txBody>
          <a:bodyPr wrap="square" lIns="0" rIns="0" tIns="0" bIns="0" anchor="t">
            <a:spAutoFit/>
          </a:bodyPr>
          <a:lstStyle/>
          <a:p>
            <a:pPr algn="l"/>
            <a:r>
              <a:rPr sz="1400" b="1" i="0">
                <a:solidFill>
                  <a:srgbClr val="E07856"/>
                </a:solidFill>
                <a:latin typeface="Georgia"/>
              </a:rPr>
              <a:t>2</a:t>
            </a:r>
          </a:p>
        </p:txBody>
      </p:sp>
      <p:sp>
        <p:nvSpPr>
          <p:cNvPr id="13" name="TextBox 12"/>
          <p:cNvSpPr txBox="1"/>
          <p:nvPr/>
        </p:nvSpPr>
        <p:spPr>
          <a:xfrm>
            <a:off x="2560320" y="1371600"/>
            <a:ext cx="1188720" cy="320040"/>
          </a:xfrm>
          <a:prstGeom prst="rect">
            <a:avLst/>
          </a:prstGeom>
          <a:noFill/>
        </p:spPr>
        <p:txBody>
          <a:bodyPr wrap="square" lIns="0" rIns="0" tIns="0" bIns="0" anchor="t">
            <a:spAutoFit/>
          </a:bodyPr>
          <a:lstStyle/>
          <a:p>
            <a:pPr algn="l"/>
            <a:r>
              <a:rPr sz="1100" b="1" i="0">
                <a:solidFill>
                  <a:srgbClr val="1A2540"/>
                </a:solidFill>
                <a:latin typeface="Calibri"/>
              </a:rPr>
              <a:t>LOPO 12-fold CV</a:t>
            </a:r>
          </a:p>
        </p:txBody>
      </p:sp>
      <p:sp>
        <p:nvSpPr>
          <p:cNvPr id="14" name="TextBox 13"/>
          <p:cNvSpPr txBox="1"/>
          <p:nvPr/>
        </p:nvSpPr>
        <p:spPr>
          <a:xfrm>
            <a:off x="2240280" y="1709928"/>
            <a:ext cx="1508760" cy="457200"/>
          </a:xfrm>
          <a:prstGeom prst="rect">
            <a:avLst/>
          </a:prstGeom>
          <a:noFill/>
        </p:spPr>
        <p:txBody>
          <a:bodyPr wrap="square" lIns="0" rIns="0" tIns="0" bIns="0" anchor="t">
            <a:spAutoFit/>
          </a:bodyPr>
          <a:lstStyle/>
          <a:p>
            <a:pPr algn="l"/>
            <a:r>
              <a:rPr sz="900" b="0" i="1">
                <a:solidFill>
                  <a:srgbClr val="8A9197"/>
                </a:solidFill>
                <a:latin typeface="Calibri"/>
              </a:rPr>
              <a:t>honest OOD estimator</a:t>
            </a:r>
          </a:p>
        </p:txBody>
      </p:sp>
      <p:sp>
        <p:nvSpPr>
          <p:cNvPr id="15" name="Rectangle 14"/>
          <p:cNvSpPr/>
          <p:nvPr/>
        </p:nvSpPr>
        <p:spPr>
          <a:xfrm>
            <a:off x="3840480" y="1325880"/>
            <a:ext cx="1691640"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40480" y="1325880"/>
            <a:ext cx="45720" cy="868680"/>
          </a:xfrm>
          <a:prstGeom prst="rect">
            <a:avLst/>
          </a:prstGeom>
          <a:solidFill>
            <a:srgbClr val="2E52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77640" y="1371600"/>
            <a:ext cx="274320" cy="274320"/>
          </a:xfrm>
          <a:prstGeom prst="rect">
            <a:avLst/>
          </a:prstGeom>
          <a:noFill/>
        </p:spPr>
        <p:txBody>
          <a:bodyPr wrap="square" lIns="0" rIns="0" tIns="0" bIns="0" anchor="t">
            <a:spAutoFit/>
          </a:bodyPr>
          <a:lstStyle/>
          <a:p>
            <a:pPr algn="l"/>
            <a:r>
              <a:rPr sz="1400" b="1" i="0">
                <a:solidFill>
                  <a:srgbClr val="E07856"/>
                </a:solidFill>
                <a:latin typeface="Georgia"/>
              </a:rPr>
              <a:t>3</a:t>
            </a:r>
          </a:p>
        </p:txBody>
      </p:sp>
      <p:sp>
        <p:nvSpPr>
          <p:cNvPr id="18" name="TextBox 17"/>
          <p:cNvSpPr txBox="1"/>
          <p:nvPr/>
        </p:nvSpPr>
        <p:spPr>
          <a:xfrm>
            <a:off x="4297680" y="1371600"/>
            <a:ext cx="1188720" cy="320040"/>
          </a:xfrm>
          <a:prstGeom prst="rect">
            <a:avLst/>
          </a:prstGeom>
          <a:noFill/>
        </p:spPr>
        <p:txBody>
          <a:bodyPr wrap="square" lIns="0" rIns="0" tIns="0" bIns="0" anchor="t">
            <a:spAutoFit/>
          </a:bodyPr>
          <a:lstStyle/>
          <a:p>
            <a:pPr algn="l"/>
            <a:r>
              <a:rPr sz="1100" b="1" i="0">
                <a:solidFill>
                  <a:srgbClr val="1A2540"/>
                </a:solidFill>
                <a:latin typeface="Calibri"/>
              </a:rPr>
              <a:t>Heavy stain aug</a:t>
            </a:r>
          </a:p>
        </p:txBody>
      </p:sp>
      <p:sp>
        <p:nvSpPr>
          <p:cNvPr id="19" name="TextBox 18"/>
          <p:cNvSpPr txBox="1"/>
          <p:nvPr/>
        </p:nvSpPr>
        <p:spPr>
          <a:xfrm>
            <a:off x="3977640" y="1709928"/>
            <a:ext cx="1508760" cy="457200"/>
          </a:xfrm>
          <a:prstGeom prst="rect">
            <a:avLst/>
          </a:prstGeom>
          <a:noFill/>
        </p:spPr>
        <p:txBody>
          <a:bodyPr wrap="square" lIns="0" rIns="0" tIns="0" bIns="0" anchor="t">
            <a:spAutoFit/>
          </a:bodyPr>
          <a:lstStyle/>
          <a:p>
            <a:pPr algn="l"/>
            <a:r>
              <a:rPr sz="900" b="0" i="1">
                <a:solidFill>
                  <a:srgbClr val="8A9197"/>
                </a:solidFill>
                <a:latin typeface="Calibri"/>
              </a:rPr>
              <a:t>invariance during SSL</a:t>
            </a:r>
          </a:p>
        </p:txBody>
      </p:sp>
      <p:sp>
        <p:nvSpPr>
          <p:cNvPr id="20" name="Rectangle 19"/>
          <p:cNvSpPr/>
          <p:nvPr/>
        </p:nvSpPr>
        <p:spPr>
          <a:xfrm>
            <a:off x="365760" y="2286000"/>
            <a:ext cx="1691640"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 y="2286000"/>
            <a:ext cx="45720" cy="868680"/>
          </a:xfrm>
          <a:prstGeom prst="rect">
            <a:avLst/>
          </a:prstGeom>
          <a:solidFill>
            <a:srgbClr val="2E52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2331720"/>
            <a:ext cx="274320" cy="274320"/>
          </a:xfrm>
          <a:prstGeom prst="rect">
            <a:avLst/>
          </a:prstGeom>
          <a:noFill/>
        </p:spPr>
        <p:txBody>
          <a:bodyPr wrap="square" lIns="0" rIns="0" tIns="0" bIns="0" anchor="t">
            <a:spAutoFit/>
          </a:bodyPr>
          <a:lstStyle/>
          <a:p>
            <a:pPr algn="l"/>
            <a:r>
              <a:rPr sz="1400" b="1" i="0">
                <a:solidFill>
                  <a:srgbClr val="E07856"/>
                </a:solidFill>
                <a:latin typeface="Georgia"/>
              </a:rPr>
              <a:t>4</a:t>
            </a:r>
          </a:p>
        </p:txBody>
      </p:sp>
      <p:sp>
        <p:nvSpPr>
          <p:cNvPr id="23" name="TextBox 22"/>
          <p:cNvSpPr txBox="1"/>
          <p:nvPr/>
        </p:nvSpPr>
        <p:spPr>
          <a:xfrm>
            <a:off x="822960" y="2331720"/>
            <a:ext cx="1188720" cy="320040"/>
          </a:xfrm>
          <a:prstGeom prst="rect">
            <a:avLst/>
          </a:prstGeom>
          <a:noFill/>
        </p:spPr>
        <p:txBody>
          <a:bodyPr wrap="square" lIns="0" rIns="0" tIns="0" bIns="0" anchor="t">
            <a:spAutoFit/>
          </a:bodyPr>
          <a:lstStyle/>
          <a:p>
            <a:pPr algn="l"/>
            <a:r>
              <a:rPr sz="1100" b="1" i="0">
                <a:solidFill>
                  <a:srgbClr val="1A2540"/>
                </a:solidFill>
                <a:latin typeface="Calibri"/>
              </a:rPr>
              <a:t>Logit-space TTA</a:t>
            </a:r>
          </a:p>
        </p:txBody>
      </p:sp>
      <p:sp>
        <p:nvSpPr>
          <p:cNvPr id="24" name="TextBox 23"/>
          <p:cNvSpPr txBox="1"/>
          <p:nvPr/>
        </p:nvSpPr>
        <p:spPr>
          <a:xfrm>
            <a:off x="502920" y="2670048"/>
            <a:ext cx="1508760" cy="457200"/>
          </a:xfrm>
          <a:prstGeom prst="rect">
            <a:avLst/>
          </a:prstGeom>
          <a:noFill/>
        </p:spPr>
        <p:txBody>
          <a:bodyPr wrap="square" lIns="0" rIns="0" tIns="0" bIns="0" anchor="t">
            <a:spAutoFit/>
          </a:bodyPr>
          <a:lstStyle/>
          <a:p>
            <a:pPr algn="l"/>
            <a:r>
              <a:rPr sz="900" b="0" i="1">
                <a:solidFill>
                  <a:srgbClr val="8A9197"/>
                </a:solidFill>
                <a:latin typeface="Calibri"/>
              </a:rPr>
              <a:t>preserves range</a:t>
            </a:r>
          </a:p>
        </p:txBody>
      </p:sp>
      <p:sp>
        <p:nvSpPr>
          <p:cNvPr id="25" name="Rectangle 24"/>
          <p:cNvSpPr/>
          <p:nvPr/>
        </p:nvSpPr>
        <p:spPr>
          <a:xfrm>
            <a:off x="2103120" y="2286000"/>
            <a:ext cx="1691640"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103120" y="2286000"/>
            <a:ext cx="45720" cy="868680"/>
          </a:xfrm>
          <a:prstGeom prst="rect">
            <a:avLst/>
          </a:prstGeom>
          <a:solidFill>
            <a:srgbClr val="2E52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40280" y="2331720"/>
            <a:ext cx="274320" cy="274320"/>
          </a:xfrm>
          <a:prstGeom prst="rect">
            <a:avLst/>
          </a:prstGeom>
          <a:noFill/>
        </p:spPr>
        <p:txBody>
          <a:bodyPr wrap="square" lIns="0" rIns="0" tIns="0" bIns="0" anchor="t">
            <a:spAutoFit/>
          </a:bodyPr>
          <a:lstStyle/>
          <a:p>
            <a:pPr algn="l"/>
            <a:r>
              <a:rPr sz="1400" b="1" i="0">
                <a:solidFill>
                  <a:srgbClr val="E07856"/>
                </a:solidFill>
                <a:latin typeface="Georgia"/>
              </a:rPr>
              <a:t>5</a:t>
            </a:r>
          </a:p>
        </p:txBody>
      </p:sp>
      <p:sp>
        <p:nvSpPr>
          <p:cNvPr id="28" name="TextBox 27"/>
          <p:cNvSpPr txBox="1"/>
          <p:nvPr/>
        </p:nvSpPr>
        <p:spPr>
          <a:xfrm>
            <a:off x="2560320" y="2331720"/>
            <a:ext cx="1188720" cy="320040"/>
          </a:xfrm>
          <a:prstGeom prst="rect">
            <a:avLst/>
          </a:prstGeom>
          <a:noFill/>
        </p:spPr>
        <p:txBody>
          <a:bodyPr wrap="square" lIns="0" rIns="0" tIns="0" bIns="0" anchor="t">
            <a:spAutoFit/>
          </a:bodyPr>
          <a:lstStyle/>
          <a:p>
            <a:pPr algn="l"/>
            <a:r>
              <a:rPr sz="1100" b="1" i="0">
                <a:solidFill>
                  <a:srgbClr val="1A2540"/>
                </a:solidFill>
                <a:latin typeface="Calibri"/>
              </a:rPr>
              <a:t>Multi-snapshot</a:t>
            </a:r>
          </a:p>
        </p:txBody>
      </p:sp>
      <p:sp>
        <p:nvSpPr>
          <p:cNvPr id="29" name="TextBox 28"/>
          <p:cNvSpPr txBox="1"/>
          <p:nvPr/>
        </p:nvSpPr>
        <p:spPr>
          <a:xfrm>
            <a:off x="2240280" y="2670048"/>
            <a:ext cx="1508760" cy="457200"/>
          </a:xfrm>
          <a:prstGeom prst="rect">
            <a:avLst/>
          </a:prstGeom>
          <a:noFill/>
        </p:spPr>
        <p:txBody>
          <a:bodyPr wrap="square" lIns="0" rIns="0" tIns="0" bIns="0" anchor="t">
            <a:spAutoFit/>
          </a:bodyPr>
          <a:lstStyle/>
          <a:p>
            <a:pPr algn="l"/>
            <a:r>
              <a:rPr sz="900" b="0" i="1">
                <a:solidFill>
                  <a:srgbClr val="8A9197"/>
                </a:solidFill>
                <a:latin typeface="Calibri"/>
              </a:rPr>
              <a:t>robust to calib drift</a:t>
            </a:r>
          </a:p>
        </p:txBody>
      </p:sp>
      <p:sp>
        <p:nvSpPr>
          <p:cNvPr id="30" name="Rectangle 29"/>
          <p:cNvSpPr/>
          <p:nvPr/>
        </p:nvSpPr>
        <p:spPr>
          <a:xfrm>
            <a:off x="3840480" y="2286000"/>
            <a:ext cx="1691640"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840480" y="2286000"/>
            <a:ext cx="45720" cy="868680"/>
          </a:xfrm>
          <a:prstGeom prst="rect">
            <a:avLst/>
          </a:prstGeom>
          <a:solidFill>
            <a:srgbClr val="2E52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77640" y="2331720"/>
            <a:ext cx="274320" cy="274320"/>
          </a:xfrm>
          <a:prstGeom prst="rect">
            <a:avLst/>
          </a:prstGeom>
          <a:noFill/>
        </p:spPr>
        <p:txBody>
          <a:bodyPr wrap="square" lIns="0" rIns="0" tIns="0" bIns="0" anchor="t">
            <a:spAutoFit/>
          </a:bodyPr>
          <a:lstStyle/>
          <a:p>
            <a:pPr algn="l"/>
            <a:r>
              <a:rPr sz="1400" b="1" i="0">
                <a:solidFill>
                  <a:srgbClr val="E07856"/>
                </a:solidFill>
                <a:latin typeface="Georgia"/>
              </a:rPr>
              <a:t>6</a:t>
            </a:r>
          </a:p>
        </p:txBody>
      </p:sp>
      <p:sp>
        <p:nvSpPr>
          <p:cNvPr id="33" name="TextBox 32"/>
          <p:cNvSpPr txBox="1"/>
          <p:nvPr/>
        </p:nvSpPr>
        <p:spPr>
          <a:xfrm>
            <a:off x="4297680" y="2331720"/>
            <a:ext cx="1188720" cy="320040"/>
          </a:xfrm>
          <a:prstGeom prst="rect">
            <a:avLst/>
          </a:prstGeom>
          <a:noFill/>
        </p:spPr>
        <p:txBody>
          <a:bodyPr wrap="square" lIns="0" rIns="0" tIns="0" bIns="0" anchor="t">
            <a:spAutoFit/>
          </a:bodyPr>
          <a:lstStyle/>
          <a:p>
            <a:pPr algn="l"/>
            <a:r>
              <a:rPr sz="1100" b="1" i="0">
                <a:solidFill>
                  <a:srgbClr val="1A2540"/>
                </a:solidFill>
                <a:latin typeface="Calibri"/>
              </a:rPr>
              <a:t>Label smoothing</a:t>
            </a:r>
          </a:p>
        </p:txBody>
      </p:sp>
      <p:sp>
        <p:nvSpPr>
          <p:cNvPr id="34" name="TextBox 33"/>
          <p:cNvSpPr txBox="1"/>
          <p:nvPr/>
        </p:nvSpPr>
        <p:spPr>
          <a:xfrm>
            <a:off x="3977640" y="2670048"/>
            <a:ext cx="1508760" cy="457200"/>
          </a:xfrm>
          <a:prstGeom prst="rect">
            <a:avLst/>
          </a:prstGeom>
          <a:noFill/>
        </p:spPr>
        <p:txBody>
          <a:bodyPr wrap="square" lIns="0" rIns="0" tIns="0" bIns="0" anchor="t">
            <a:spAutoFit/>
          </a:bodyPr>
          <a:lstStyle/>
          <a:p>
            <a:pPr algn="l"/>
            <a:r>
              <a:rPr sz="900" b="0" i="1">
                <a:solidFill>
                  <a:srgbClr val="8A9197"/>
                </a:solidFill>
                <a:latin typeface="Calibri"/>
              </a:rPr>
              <a:t>ε = 0.05</a:t>
            </a:r>
          </a:p>
        </p:txBody>
      </p:sp>
      <p:sp>
        <p:nvSpPr>
          <p:cNvPr id="35" name="Rectangle 34"/>
          <p:cNvSpPr/>
          <p:nvPr/>
        </p:nvSpPr>
        <p:spPr>
          <a:xfrm>
            <a:off x="365760" y="3246120"/>
            <a:ext cx="1691640"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5760" y="3246120"/>
            <a:ext cx="45720" cy="868680"/>
          </a:xfrm>
          <a:prstGeom prst="rect">
            <a:avLst/>
          </a:prstGeom>
          <a:solidFill>
            <a:srgbClr val="2E52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3291840"/>
            <a:ext cx="274320" cy="274320"/>
          </a:xfrm>
          <a:prstGeom prst="rect">
            <a:avLst/>
          </a:prstGeom>
          <a:noFill/>
        </p:spPr>
        <p:txBody>
          <a:bodyPr wrap="square" lIns="0" rIns="0" tIns="0" bIns="0" anchor="t">
            <a:spAutoFit/>
          </a:bodyPr>
          <a:lstStyle/>
          <a:p>
            <a:pPr algn="l"/>
            <a:r>
              <a:rPr sz="1400" b="1" i="0">
                <a:solidFill>
                  <a:srgbClr val="E07856"/>
                </a:solidFill>
                <a:latin typeface="Georgia"/>
              </a:rPr>
              <a:t>7</a:t>
            </a:r>
          </a:p>
        </p:txBody>
      </p:sp>
      <p:sp>
        <p:nvSpPr>
          <p:cNvPr id="38" name="TextBox 37"/>
          <p:cNvSpPr txBox="1"/>
          <p:nvPr/>
        </p:nvSpPr>
        <p:spPr>
          <a:xfrm>
            <a:off x="822960" y="3291840"/>
            <a:ext cx="1188720" cy="320040"/>
          </a:xfrm>
          <a:prstGeom prst="rect">
            <a:avLst/>
          </a:prstGeom>
          <a:noFill/>
        </p:spPr>
        <p:txBody>
          <a:bodyPr wrap="square" lIns="0" rIns="0" tIns="0" bIns="0" anchor="t">
            <a:spAutoFit/>
          </a:bodyPr>
          <a:lstStyle/>
          <a:p>
            <a:pPr algn="l"/>
            <a:r>
              <a:rPr sz="1100" b="1" i="0">
                <a:solidFill>
                  <a:srgbClr val="1A2540"/>
                </a:solidFill>
                <a:latin typeface="Calibri"/>
              </a:rPr>
              <a:t>Snap at {3, 5}</a:t>
            </a:r>
          </a:p>
        </p:txBody>
      </p:sp>
      <p:sp>
        <p:nvSpPr>
          <p:cNvPr id="39" name="TextBox 38"/>
          <p:cNvSpPr txBox="1"/>
          <p:nvPr/>
        </p:nvSpPr>
        <p:spPr>
          <a:xfrm>
            <a:off x="502920" y="3630168"/>
            <a:ext cx="1508760" cy="457200"/>
          </a:xfrm>
          <a:prstGeom prst="rect">
            <a:avLst/>
          </a:prstGeom>
          <a:noFill/>
        </p:spPr>
        <p:txBody>
          <a:bodyPr wrap="square" lIns="0" rIns="0" tIns="0" bIns="0" anchor="t">
            <a:spAutoFit/>
          </a:bodyPr>
          <a:lstStyle/>
          <a:p>
            <a:pPr algn="l"/>
            <a:r>
              <a:rPr sz="900" b="0" i="1">
                <a:solidFill>
                  <a:srgbClr val="8A9197"/>
                </a:solidFill>
                <a:latin typeface="Calibri"/>
              </a:rPr>
              <a:t>no val_auc selection</a:t>
            </a:r>
          </a:p>
        </p:txBody>
      </p:sp>
      <p:sp>
        <p:nvSpPr>
          <p:cNvPr id="40" name="Rectangle 39"/>
          <p:cNvSpPr/>
          <p:nvPr/>
        </p:nvSpPr>
        <p:spPr>
          <a:xfrm>
            <a:off x="2103120" y="3246120"/>
            <a:ext cx="1691640"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103120" y="3246120"/>
            <a:ext cx="45720" cy="868680"/>
          </a:xfrm>
          <a:prstGeom prst="rect">
            <a:avLst/>
          </a:prstGeom>
          <a:solidFill>
            <a:srgbClr val="2E52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240280" y="3291840"/>
            <a:ext cx="274320" cy="274320"/>
          </a:xfrm>
          <a:prstGeom prst="rect">
            <a:avLst/>
          </a:prstGeom>
          <a:noFill/>
        </p:spPr>
        <p:txBody>
          <a:bodyPr wrap="square" lIns="0" rIns="0" tIns="0" bIns="0" anchor="t">
            <a:spAutoFit/>
          </a:bodyPr>
          <a:lstStyle/>
          <a:p>
            <a:pPr algn="l"/>
            <a:r>
              <a:rPr sz="1400" b="1" i="0">
                <a:solidFill>
                  <a:srgbClr val="E07856"/>
                </a:solidFill>
                <a:latin typeface="Georgia"/>
              </a:rPr>
              <a:t>8</a:t>
            </a:r>
          </a:p>
        </p:txBody>
      </p:sp>
      <p:sp>
        <p:nvSpPr>
          <p:cNvPr id="43" name="TextBox 42"/>
          <p:cNvSpPr txBox="1"/>
          <p:nvPr/>
        </p:nvSpPr>
        <p:spPr>
          <a:xfrm>
            <a:off x="2560320" y="3291840"/>
            <a:ext cx="1188720" cy="320040"/>
          </a:xfrm>
          <a:prstGeom prst="rect">
            <a:avLst/>
          </a:prstGeom>
          <a:noFill/>
        </p:spPr>
        <p:txBody>
          <a:bodyPr wrap="square" lIns="0" rIns="0" tIns="0" bIns="0" anchor="t">
            <a:spAutoFit/>
          </a:bodyPr>
          <a:lstStyle/>
          <a:p>
            <a:pPr algn="l"/>
            <a:r>
              <a:rPr sz="1100" b="1" i="0">
                <a:solidFill>
                  <a:srgbClr val="1A2540"/>
                </a:solidFill>
                <a:latin typeface="Calibri"/>
              </a:rPr>
              <a:t>EMA decay 0.99</a:t>
            </a:r>
          </a:p>
        </p:txBody>
      </p:sp>
      <p:sp>
        <p:nvSpPr>
          <p:cNvPr id="44" name="TextBox 43"/>
          <p:cNvSpPr txBox="1"/>
          <p:nvPr/>
        </p:nvSpPr>
        <p:spPr>
          <a:xfrm>
            <a:off x="2240280" y="3630168"/>
            <a:ext cx="1508760" cy="457200"/>
          </a:xfrm>
          <a:prstGeom prst="rect">
            <a:avLst/>
          </a:prstGeom>
          <a:noFill/>
        </p:spPr>
        <p:txBody>
          <a:bodyPr wrap="square" lIns="0" rIns="0" tIns="0" bIns="0" anchor="t">
            <a:spAutoFit/>
          </a:bodyPr>
          <a:lstStyle/>
          <a:p>
            <a:pPr algn="l"/>
            <a:r>
              <a:rPr sz="900" b="0" i="1">
                <a:solidFill>
                  <a:srgbClr val="8A9197"/>
                </a:solidFill>
                <a:latin typeface="Calibri"/>
              </a:rPr>
              <a:t>tuned for 426 steps</a:t>
            </a:r>
          </a:p>
        </p:txBody>
      </p:sp>
      <p:sp>
        <p:nvSpPr>
          <p:cNvPr id="45" name="Rectangle 44"/>
          <p:cNvSpPr/>
          <p:nvPr/>
        </p:nvSpPr>
        <p:spPr>
          <a:xfrm>
            <a:off x="3840480" y="3246120"/>
            <a:ext cx="1691640"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840480" y="3246120"/>
            <a:ext cx="45720" cy="868680"/>
          </a:xfrm>
          <a:prstGeom prst="rect">
            <a:avLst/>
          </a:prstGeom>
          <a:solidFill>
            <a:srgbClr val="2E52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977640" y="3291840"/>
            <a:ext cx="274320" cy="274320"/>
          </a:xfrm>
          <a:prstGeom prst="rect">
            <a:avLst/>
          </a:prstGeom>
          <a:noFill/>
        </p:spPr>
        <p:txBody>
          <a:bodyPr wrap="square" lIns="0" rIns="0" tIns="0" bIns="0" anchor="t">
            <a:spAutoFit/>
          </a:bodyPr>
          <a:lstStyle/>
          <a:p>
            <a:pPr algn="l"/>
            <a:r>
              <a:rPr sz="1400" b="1" i="0">
                <a:solidFill>
                  <a:srgbClr val="E07856"/>
                </a:solidFill>
                <a:latin typeface="Georgia"/>
              </a:rPr>
              <a:t>9</a:t>
            </a:r>
          </a:p>
        </p:txBody>
      </p:sp>
      <p:sp>
        <p:nvSpPr>
          <p:cNvPr id="48" name="TextBox 47"/>
          <p:cNvSpPr txBox="1"/>
          <p:nvPr/>
        </p:nvSpPr>
        <p:spPr>
          <a:xfrm>
            <a:off x="4297680" y="3291840"/>
            <a:ext cx="1188720" cy="320040"/>
          </a:xfrm>
          <a:prstGeom prst="rect">
            <a:avLst/>
          </a:prstGeom>
          <a:noFill/>
        </p:spPr>
        <p:txBody>
          <a:bodyPr wrap="square" lIns="0" rIns="0" tIns="0" bIns="0" anchor="t">
            <a:spAutoFit/>
          </a:bodyPr>
          <a:lstStyle/>
          <a:p>
            <a:pPr algn="l"/>
            <a:r>
              <a:rPr sz="1100" b="1" i="0">
                <a:solidFill>
                  <a:srgbClr val="1A2540"/>
                </a:solidFill>
                <a:latin typeface="Calibri"/>
              </a:rPr>
              <a:t>Aux NT-Xent</a:t>
            </a:r>
          </a:p>
        </p:txBody>
      </p:sp>
      <p:sp>
        <p:nvSpPr>
          <p:cNvPr id="49" name="TextBox 48"/>
          <p:cNvSpPr txBox="1"/>
          <p:nvPr/>
        </p:nvSpPr>
        <p:spPr>
          <a:xfrm>
            <a:off x="3977640" y="3630168"/>
            <a:ext cx="1508760" cy="457200"/>
          </a:xfrm>
          <a:prstGeom prst="rect">
            <a:avLst/>
          </a:prstGeom>
          <a:noFill/>
        </p:spPr>
        <p:txBody>
          <a:bodyPr wrap="square" lIns="0" rIns="0" tIns="0" bIns="0" anchor="t">
            <a:spAutoFit/>
          </a:bodyPr>
          <a:lstStyle/>
          <a:p>
            <a:pPr algn="l"/>
            <a:r>
              <a:rPr sz="900" b="0" i="1">
                <a:solidFill>
                  <a:srgbClr val="8A9197"/>
                </a:solidFill>
                <a:latin typeface="Calibri"/>
              </a:rPr>
              <a:t>anchor to SSL features</a:t>
            </a:r>
          </a:p>
        </p:txBody>
      </p:sp>
      <p:sp>
        <p:nvSpPr>
          <p:cNvPr id="50" name="TextBox 49"/>
          <p:cNvSpPr txBox="1"/>
          <p:nvPr/>
        </p:nvSpPr>
        <p:spPr>
          <a:xfrm>
            <a:off x="6126480" y="1325880"/>
            <a:ext cx="2743200" cy="320040"/>
          </a:xfrm>
          <a:prstGeom prst="rect">
            <a:avLst/>
          </a:prstGeom>
          <a:noFill/>
        </p:spPr>
        <p:txBody>
          <a:bodyPr wrap="square" lIns="0" rIns="0" tIns="0" bIns="0" anchor="t">
            <a:spAutoFit/>
          </a:bodyPr>
          <a:lstStyle/>
          <a:p>
            <a:pPr algn="l"/>
            <a:r>
              <a:rPr sz="1200" b="1" i="0">
                <a:solidFill>
                  <a:srgbClr val="E07856"/>
                </a:solidFill>
                <a:latin typeface="Calibri"/>
              </a:rPr>
              <a:t>Outcome</a:t>
            </a:r>
          </a:p>
        </p:txBody>
      </p:sp>
      <p:sp>
        <p:nvSpPr>
          <p:cNvPr id="51" name="Rectangle 50"/>
          <p:cNvSpPr/>
          <p:nvPr/>
        </p:nvSpPr>
        <p:spPr>
          <a:xfrm>
            <a:off x="6126480" y="1645920"/>
            <a:ext cx="2743200" cy="10972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126480" y="1645920"/>
            <a:ext cx="54864" cy="1097280"/>
          </a:xfrm>
          <a:prstGeom prst="rect">
            <a:avLst/>
          </a:prstGeom>
          <a:solidFill>
            <a:srgbClr val="2E52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63640" y="1709928"/>
            <a:ext cx="2560320" cy="274320"/>
          </a:xfrm>
          <a:prstGeom prst="rect">
            <a:avLst/>
          </a:prstGeom>
          <a:noFill/>
        </p:spPr>
        <p:txBody>
          <a:bodyPr wrap="square" lIns="0" rIns="0" tIns="0" bIns="0" anchor="t">
            <a:spAutoFit/>
          </a:bodyPr>
          <a:lstStyle/>
          <a:p>
            <a:pPr algn="l"/>
            <a:r>
              <a:rPr sz="1000" b="0" i="0">
                <a:solidFill>
                  <a:srgbClr val="8A9197"/>
                </a:solidFill>
                <a:latin typeface="Calibri"/>
              </a:rPr>
              <a:t>Patient-level OOF</a:t>
            </a:r>
          </a:p>
        </p:txBody>
      </p:sp>
      <p:sp>
        <p:nvSpPr>
          <p:cNvPr id="54" name="TextBox 53"/>
          <p:cNvSpPr txBox="1"/>
          <p:nvPr/>
        </p:nvSpPr>
        <p:spPr>
          <a:xfrm>
            <a:off x="6263640" y="1947672"/>
            <a:ext cx="2560320" cy="640080"/>
          </a:xfrm>
          <a:prstGeom prst="rect">
            <a:avLst/>
          </a:prstGeom>
          <a:noFill/>
        </p:spPr>
        <p:txBody>
          <a:bodyPr wrap="square" lIns="0" rIns="0" tIns="0" bIns="0" anchor="t">
            <a:spAutoFit/>
          </a:bodyPr>
          <a:lstStyle/>
          <a:p>
            <a:pPr algn="l"/>
            <a:r>
              <a:rPr sz="3200" b="1" i="0">
                <a:solidFill>
                  <a:srgbClr val="1A2540"/>
                </a:solidFill>
                <a:latin typeface="Georgia"/>
              </a:rPr>
              <a:t>0.943</a:t>
            </a:r>
          </a:p>
        </p:txBody>
      </p:sp>
      <p:sp>
        <p:nvSpPr>
          <p:cNvPr id="55" name="TextBox 54"/>
          <p:cNvSpPr txBox="1"/>
          <p:nvPr/>
        </p:nvSpPr>
        <p:spPr>
          <a:xfrm>
            <a:off x="6263640" y="2423160"/>
            <a:ext cx="2560320" cy="274320"/>
          </a:xfrm>
          <a:prstGeom prst="rect">
            <a:avLst/>
          </a:prstGeom>
          <a:noFill/>
        </p:spPr>
        <p:txBody>
          <a:bodyPr wrap="square" lIns="0" rIns="0" tIns="0" bIns="0" anchor="t">
            <a:spAutoFit/>
          </a:bodyPr>
          <a:lstStyle/>
          <a:p>
            <a:pPr algn="l"/>
            <a:r>
              <a:rPr sz="900" b="0" i="1">
                <a:solidFill>
                  <a:srgbClr val="8A9197"/>
                </a:solidFill>
                <a:latin typeface="Calibri"/>
              </a:rPr>
              <a:t>up from v15's 0.914</a:t>
            </a:r>
          </a:p>
        </p:txBody>
      </p:sp>
      <p:sp>
        <p:nvSpPr>
          <p:cNvPr id="56" name="Rectangle 55"/>
          <p:cNvSpPr/>
          <p:nvPr/>
        </p:nvSpPr>
        <p:spPr>
          <a:xfrm>
            <a:off x="6126480" y="2834640"/>
            <a:ext cx="2743200" cy="10972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126480" y="2834640"/>
            <a:ext cx="54864" cy="1097280"/>
          </a:xfrm>
          <a:prstGeom prst="rect">
            <a:avLst/>
          </a:prstGeom>
          <a:solidFill>
            <a:srgbClr val="E07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263640" y="2898648"/>
            <a:ext cx="2560320" cy="274320"/>
          </a:xfrm>
          <a:prstGeom prst="rect">
            <a:avLst/>
          </a:prstGeom>
          <a:noFill/>
        </p:spPr>
        <p:txBody>
          <a:bodyPr wrap="square" lIns="0" rIns="0" tIns="0" bIns="0" anchor="t">
            <a:spAutoFit/>
          </a:bodyPr>
          <a:lstStyle/>
          <a:p>
            <a:pPr algn="l"/>
            <a:r>
              <a:rPr sz="1000" b="0" i="0">
                <a:solidFill>
                  <a:srgbClr val="8A9197"/>
                </a:solidFill>
                <a:latin typeface="Calibri"/>
              </a:rPr>
              <a:t>Public LB</a:t>
            </a:r>
          </a:p>
        </p:txBody>
      </p:sp>
      <p:sp>
        <p:nvSpPr>
          <p:cNvPr id="59" name="TextBox 58"/>
          <p:cNvSpPr txBox="1"/>
          <p:nvPr/>
        </p:nvSpPr>
        <p:spPr>
          <a:xfrm>
            <a:off x="6263640" y="3136392"/>
            <a:ext cx="2560320" cy="640080"/>
          </a:xfrm>
          <a:prstGeom prst="rect">
            <a:avLst/>
          </a:prstGeom>
          <a:noFill/>
        </p:spPr>
        <p:txBody>
          <a:bodyPr wrap="square" lIns="0" rIns="0" tIns="0" bIns="0" anchor="t">
            <a:spAutoFit/>
          </a:bodyPr>
          <a:lstStyle/>
          <a:p>
            <a:pPr algn="l"/>
            <a:r>
              <a:rPr sz="3200" b="1" i="0">
                <a:solidFill>
                  <a:srgbClr val="E07856"/>
                </a:solidFill>
                <a:latin typeface="Georgia"/>
              </a:rPr>
              <a:t>0.503</a:t>
            </a:r>
          </a:p>
        </p:txBody>
      </p:sp>
      <p:sp>
        <p:nvSpPr>
          <p:cNvPr id="60" name="TextBox 59"/>
          <p:cNvSpPr txBox="1"/>
          <p:nvPr/>
        </p:nvSpPr>
        <p:spPr>
          <a:xfrm>
            <a:off x="6263640" y="3611880"/>
            <a:ext cx="2560320" cy="274320"/>
          </a:xfrm>
          <a:prstGeom prst="rect">
            <a:avLst/>
          </a:prstGeom>
          <a:noFill/>
        </p:spPr>
        <p:txBody>
          <a:bodyPr wrap="square" lIns="0" rIns="0" tIns="0" bIns="0" anchor="t">
            <a:spAutoFit/>
          </a:bodyPr>
          <a:lstStyle/>
          <a:p>
            <a:pPr algn="l"/>
            <a:r>
              <a:rPr sz="900" b="0" i="1">
                <a:solidFill>
                  <a:srgbClr val="8A9197"/>
                </a:solidFill>
                <a:latin typeface="Calibri"/>
              </a:rPr>
              <a:t>near-random — LOPO can't see this OOD</a:t>
            </a:r>
          </a:p>
        </p:txBody>
      </p:sp>
      <p:sp>
        <p:nvSpPr>
          <p:cNvPr id="61" name="Rectangle 60"/>
          <p:cNvSpPr/>
          <p:nvPr/>
        </p:nvSpPr>
        <p:spPr>
          <a:xfrm>
            <a:off x="365760" y="4160520"/>
            <a:ext cx="8412480" cy="502920"/>
          </a:xfrm>
          <a:prstGeom prst="rect">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48640" y="4224528"/>
            <a:ext cx="8229600" cy="365760"/>
          </a:xfrm>
          <a:prstGeom prst="rect">
            <a:avLst/>
          </a:prstGeom>
          <a:noFill/>
        </p:spPr>
        <p:txBody>
          <a:bodyPr wrap="square" lIns="0" rIns="0" tIns="0" bIns="0" anchor="ctr">
            <a:spAutoFit/>
          </a:bodyPr>
          <a:lstStyle/>
          <a:p>
            <a:pPr algn="l"/>
            <a:r>
              <a:rPr sz="1200" b="0" i="1">
                <a:solidFill>
                  <a:srgbClr val="F5F0E8"/>
                </a:solidFill>
                <a:latin typeface="Georgia"/>
              </a:rPr>
              <a:t>The remaining gap is site/protocol-level OOD: every train patient shares something no test patient has.</a:t>
            </a:r>
          </a:p>
        </p:txBody>
      </p:sp>
      <p:sp>
        <p:nvSpPr>
          <p:cNvPr id="63" name="TextBox 62"/>
          <p:cNvSpPr txBox="1"/>
          <p:nvPr/>
        </p:nvSpPr>
        <p:spPr>
          <a:xfrm>
            <a:off x="365760" y="4846320"/>
            <a:ext cx="5486400" cy="228600"/>
          </a:xfrm>
          <a:prstGeom prst="rect">
            <a:avLst/>
          </a:prstGeom>
          <a:noFill/>
        </p:spPr>
        <p:txBody>
          <a:bodyPr wrap="square" lIns="0" rIns="0" tIns="0" bIns="0" anchor="t">
            <a:spAutoFit/>
          </a:bodyPr>
          <a:lstStyle/>
          <a:p>
            <a:pPr algn="l"/>
            <a:r>
              <a:rPr sz="900" b="0" i="0">
                <a:solidFill>
                  <a:srgbClr val="8A9197"/>
                </a:solidFill>
                <a:latin typeface="Calibri"/>
              </a:rPr>
              <a:t>Multimodal Cancer Cell Classification  ·  Uppsala 1MD042 A3</a:t>
            </a:r>
          </a:p>
        </p:txBody>
      </p:sp>
      <p:sp>
        <p:nvSpPr>
          <p:cNvPr id="64" name="TextBox 63"/>
          <p:cNvSpPr txBox="1"/>
          <p:nvPr/>
        </p:nvSpPr>
        <p:spPr>
          <a:xfrm>
            <a:off x="7772400" y="4846320"/>
            <a:ext cx="1097280" cy="228600"/>
          </a:xfrm>
          <a:prstGeom prst="rect">
            <a:avLst/>
          </a:prstGeom>
          <a:noFill/>
        </p:spPr>
        <p:txBody>
          <a:bodyPr wrap="square" lIns="0" rIns="0" tIns="0" bIns="0" anchor="t">
            <a:spAutoFit/>
          </a:bodyPr>
          <a:lstStyle/>
          <a:p>
            <a:pPr algn="r"/>
            <a:r>
              <a:rPr sz="900" b="0" i="0">
                <a:solidFill>
                  <a:srgbClr val="8A9197"/>
                </a:solidFill>
                <a:latin typeface="Calibri"/>
              </a:rPr>
              <a:t>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Rectangle 1"/>
          <p:cNvSpPr/>
          <p:nvPr/>
        </p:nvSpPr>
        <p:spPr>
          <a:xfrm>
            <a:off x="0" y="0"/>
            <a:ext cx="73152" cy="5143500"/>
          </a:xfrm>
          <a:prstGeom prst="rect">
            <a:avLst/>
          </a:prstGeom>
          <a:solidFill>
            <a:srgbClr val="E07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20040"/>
            <a:ext cx="8229600" cy="274320"/>
          </a:xfrm>
          <a:prstGeom prst="rect">
            <a:avLst/>
          </a:prstGeom>
          <a:noFill/>
        </p:spPr>
        <p:txBody>
          <a:bodyPr wrap="square" lIns="0" rIns="0" tIns="0" bIns="0" anchor="t">
            <a:spAutoFit/>
          </a:bodyPr>
          <a:lstStyle/>
          <a:p>
            <a:pPr algn="l"/>
            <a:r>
              <a:rPr sz="1100" b="1" i="0">
                <a:solidFill>
                  <a:srgbClr val="E07856"/>
                </a:solidFill>
                <a:latin typeface="Calibri"/>
              </a:rPr>
              <a:t>ACT 3  ·  THE PIVOT</a:t>
            </a:r>
          </a:p>
        </p:txBody>
      </p:sp>
      <p:sp>
        <p:nvSpPr>
          <p:cNvPr id="4" name="TextBox 3"/>
          <p:cNvSpPr txBox="1"/>
          <p:nvPr/>
        </p:nvSpPr>
        <p:spPr>
          <a:xfrm>
            <a:off x="365760" y="612647"/>
            <a:ext cx="8229600" cy="640080"/>
          </a:xfrm>
          <a:prstGeom prst="rect">
            <a:avLst/>
          </a:prstGeom>
          <a:noFill/>
        </p:spPr>
        <p:txBody>
          <a:bodyPr wrap="square" lIns="0" rIns="0" tIns="0" bIns="0" anchor="t">
            <a:spAutoFit/>
          </a:bodyPr>
          <a:lstStyle/>
          <a:p>
            <a:pPr algn="l"/>
            <a:r>
              <a:rPr sz="2800" b="1" i="0">
                <a:solidFill>
                  <a:srgbClr val="1A2540"/>
                </a:solidFill>
                <a:latin typeface="Georgia"/>
              </a:rPr>
              <a:t>v19: simpler model, test-time tricks</a:t>
            </a:r>
          </a:p>
        </p:txBody>
      </p:sp>
      <p:sp>
        <p:nvSpPr>
          <p:cNvPr id="5" name="TextBox 4"/>
          <p:cNvSpPr txBox="1"/>
          <p:nvPr/>
        </p:nvSpPr>
        <p:spPr>
          <a:xfrm>
            <a:off x="365760" y="1280160"/>
            <a:ext cx="4572000" cy="320040"/>
          </a:xfrm>
          <a:prstGeom prst="rect">
            <a:avLst/>
          </a:prstGeom>
          <a:noFill/>
        </p:spPr>
        <p:txBody>
          <a:bodyPr wrap="square" lIns="0" rIns="0" tIns="0" bIns="0" anchor="t">
            <a:spAutoFit/>
          </a:bodyPr>
          <a:lstStyle/>
          <a:p>
            <a:pPr algn="l"/>
            <a:r>
              <a:rPr sz="1200" b="1" i="0">
                <a:solidFill>
                  <a:srgbClr val="E07856"/>
                </a:solidFill>
                <a:latin typeface="Calibri"/>
              </a:rPr>
              <a:t>The recipe</a:t>
            </a:r>
          </a:p>
        </p:txBody>
      </p:sp>
      <p:sp>
        <p:nvSpPr>
          <p:cNvPr id="6" name="TextBox 5"/>
          <p:cNvSpPr txBox="1"/>
          <p:nvPr/>
        </p:nvSpPr>
        <p:spPr>
          <a:xfrm>
            <a:off x="365760" y="1600200"/>
            <a:ext cx="5029200" cy="2926080"/>
          </a:xfrm>
          <a:prstGeom prst="rect">
            <a:avLst/>
          </a:prstGeom>
          <a:noFill/>
        </p:spPr>
        <p:txBody>
          <a:bodyPr wrap="square" lIns="0" rIns="0" tIns="0" bIns="0">
            <a:spAutoFit/>
          </a:bodyPr>
          <a:lstStyle/>
          <a:p>
            <a:pPr algn="l">
              <a:lnSpc>
                <a:spcPct val="115000"/>
              </a:lnSpc>
            </a:pPr>
            <a:r>
              <a:rPr sz="1300" b="1">
                <a:solidFill>
                  <a:srgbClr val="E07856"/>
                </a:solidFill>
                <a:latin typeface="Calibri"/>
              </a:rPr>
              <a:t>— </a:t>
            </a:r>
            <a:r>
              <a:rPr sz="1300">
                <a:solidFill>
                  <a:srgbClr val="1A2540"/>
                </a:solidFill>
                <a:latin typeface="Calibri"/>
              </a:rPr>
              <a:t>EfficientNet-B0 backbone (single, ImageNet-pretrained)</a:t>
            </a:r>
          </a:p>
          <a:p>
            <a:pPr algn="l">
              <a:lnSpc>
                <a:spcPct val="115000"/>
              </a:lnSpc>
            </a:pPr>
            <a:r>
              <a:rPr sz="1300" b="1">
                <a:solidFill>
                  <a:srgbClr val="E07856"/>
                </a:solidFill>
                <a:latin typeface="Calibri"/>
              </a:rPr>
              <a:t>— </a:t>
            </a:r>
            <a:r>
              <a:rPr sz="1300">
                <a:solidFill>
                  <a:srgbClr val="1A2540"/>
                </a:solidFill>
                <a:latin typeface="Calibri"/>
              </a:rPr>
              <a:t>Multiple-Instance Learning aggregation across cells per patient</a:t>
            </a:r>
          </a:p>
          <a:p>
            <a:pPr algn="l">
              <a:lnSpc>
                <a:spcPct val="115000"/>
              </a:lnSpc>
            </a:pPr>
            <a:r>
              <a:rPr sz="1300" b="1">
                <a:solidFill>
                  <a:srgbClr val="E07856"/>
                </a:solidFill>
                <a:latin typeface="Calibri"/>
              </a:rPr>
              <a:t>— </a:t>
            </a:r>
            <a:r>
              <a:rPr sz="1300">
                <a:solidFill>
                  <a:srgbClr val="1A2540"/>
                </a:solidFill>
                <a:latin typeface="Calibri"/>
              </a:rPr>
              <a:t>Heavy color/stain augmentation — ColorJitter + RandomGamma</a:t>
            </a:r>
          </a:p>
          <a:p>
            <a:pPr algn="l">
              <a:lnSpc>
                <a:spcPct val="115000"/>
              </a:lnSpc>
            </a:pPr>
            <a:r>
              <a:rPr sz="1300" b="1">
                <a:solidFill>
                  <a:srgbClr val="E07856"/>
                </a:solidFill>
                <a:latin typeface="Calibri"/>
              </a:rPr>
              <a:t>— </a:t>
            </a:r>
            <a:r>
              <a:rPr sz="1300">
                <a:solidFill>
                  <a:srgbClr val="1A2540"/>
                </a:solidFill>
                <a:latin typeface="Calibri"/>
              </a:rPr>
              <a:t>Adaptive BatchNorm to the test distribution</a:t>
            </a:r>
          </a:p>
          <a:p>
            <a:pPr algn="l">
              <a:lnSpc>
                <a:spcPct val="115000"/>
              </a:lnSpc>
            </a:pPr>
            <a:r>
              <a:rPr sz="1300" b="1">
                <a:solidFill>
                  <a:srgbClr val="E07856"/>
                </a:solidFill>
                <a:latin typeface="Calibri"/>
              </a:rPr>
              <a:t>— </a:t>
            </a:r>
            <a:r>
              <a:rPr sz="1300">
                <a:solidFill>
                  <a:srgbClr val="1A2540"/>
                </a:solidFill>
                <a:latin typeface="Calibri"/>
              </a:rPr>
              <a:t>8-way D4 Test-Time Augmentation (4 rotations × 2 reflections)</a:t>
            </a:r>
          </a:p>
          <a:p>
            <a:pPr algn="l">
              <a:lnSpc>
                <a:spcPct val="115000"/>
              </a:lnSpc>
            </a:pPr>
            <a:r>
              <a:rPr sz="1300" b="1">
                <a:solidFill>
                  <a:srgbClr val="E07856"/>
                </a:solidFill>
                <a:latin typeface="Calibri"/>
              </a:rPr>
              <a:t>— </a:t>
            </a:r>
            <a:r>
              <a:rPr sz="1300">
                <a:solidFill>
                  <a:srgbClr val="1A2540"/>
                </a:solidFill>
                <a:latin typeface="Calibri"/>
              </a:rPr>
              <a:t>Test-time stain normalization</a:t>
            </a:r>
          </a:p>
        </p:txBody>
      </p:sp>
      <p:sp>
        <p:nvSpPr>
          <p:cNvPr id="7" name="Rectangle 6"/>
          <p:cNvSpPr/>
          <p:nvPr/>
        </p:nvSpPr>
        <p:spPr>
          <a:xfrm>
            <a:off x="5852160" y="1280160"/>
            <a:ext cx="2926080" cy="2606040"/>
          </a:xfrm>
          <a:prstGeom prst="rect">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89320" y="1417320"/>
            <a:ext cx="2651760" cy="320040"/>
          </a:xfrm>
          <a:prstGeom prst="rect">
            <a:avLst/>
          </a:prstGeom>
          <a:noFill/>
        </p:spPr>
        <p:txBody>
          <a:bodyPr wrap="square" lIns="0" rIns="0" tIns="0" bIns="0" anchor="t">
            <a:spAutoFit/>
          </a:bodyPr>
          <a:lstStyle/>
          <a:p>
            <a:pPr algn="l"/>
            <a:r>
              <a:rPr sz="1100" b="1" i="0">
                <a:solidFill>
                  <a:srgbClr val="E07856"/>
                </a:solidFill>
                <a:latin typeface="Calibri"/>
              </a:rPr>
              <a:t>PUBLIC LB</a:t>
            </a:r>
          </a:p>
        </p:txBody>
      </p:sp>
      <p:sp>
        <p:nvSpPr>
          <p:cNvPr id="9" name="TextBox 8"/>
          <p:cNvSpPr txBox="1"/>
          <p:nvPr/>
        </p:nvSpPr>
        <p:spPr>
          <a:xfrm>
            <a:off x="5989320" y="1783080"/>
            <a:ext cx="2651760" cy="1097280"/>
          </a:xfrm>
          <a:prstGeom prst="rect">
            <a:avLst/>
          </a:prstGeom>
          <a:noFill/>
        </p:spPr>
        <p:txBody>
          <a:bodyPr wrap="square" lIns="0" rIns="0" tIns="0" bIns="0" anchor="t">
            <a:spAutoFit/>
          </a:bodyPr>
          <a:lstStyle/>
          <a:p>
            <a:pPr algn="l"/>
            <a:r>
              <a:rPr sz="5800" b="1" i="0">
                <a:solidFill>
                  <a:srgbClr val="FFFFFF"/>
                </a:solidFill>
                <a:latin typeface="Georgia"/>
              </a:rPr>
              <a:t>0.7455</a:t>
            </a:r>
          </a:p>
        </p:txBody>
      </p:sp>
      <p:sp>
        <p:nvSpPr>
          <p:cNvPr id="10" name="TextBox 9"/>
          <p:cNvSpPr txBox="1"/>
          <p:nvPr/>
        </p:nvSpPr>
        <p:spPr>
          <a:xfrm>
            <a:off x="5989320" y="2880360"/>
            <a:ext cx="2651760" cy="365760"/>
          </a:xfrm>
          <a:prstGeom prst="rect">
            <a:avLst/>
          </a:prstGeom>
          <a:noFill/>
        </p:spPr>
        <p:txBody>
          <a:bodyPr wrap="square" lIns="0" rIns="0" tIns="0" bIns="0" anchor="t">
            <a:spAutoFit/>
          </a:bodyPr>
          <a:lstStyle/>
          <a:p>
            <a:pPr algn="l"/>
            <a:r>
              <a:rPr sz="1200" b="0" i="1">
                <a:solidFill>
                  <a:srgbClr val="F5F0E8"/>
                </a:solidFill>
                <a:latin typeface="Calibri"/>
              </a:rPr>
              <a:t>best single model</a:t>
            </a:r>
          </a:p>
        </p:txBody>
      </p:sp>
      <p:sp>
        <p:nvSpPr>
          <p:cNvPr id="11" name="TextBox 10"/>
          <p:cNvSpPr txBox="1"/>
          <p:nvPr/>
        </p:nvSpPr>
        <p:spPr>
          <a:xfrm>
            <a:off x="5989320" y="3246120"/>
            <a:ext cx="2651760" cy="365760"/>
          </a:xfrm>
          <a:prstGeom prst="rect">
            <a:avLst/>
          </a:prstGeom>
          <a:noFill/>
        </p:spPr>
        <p:txBody>
          <a:bodyPr wrap="square" lIns="0" rIns="0" tIns="0" bIns="0" anchor="t">
            <a:spAutoFit/>
          </a:bodyPr>
          <a:lstStyle/>
          <a:p>
            <a:pPr algn="l"/>
            <a:r>
              <a:rPr sz="1100" b="0" i="0">
                <a:solidFill>
                  <a:srgbClr val="E07856"/>
                </a:solidFill>
                <a:latin typeface="Calibri"/>
              </a:rPr>
              <a:t>+0.24 vs v16</a:t>
            </a:r>
          </a:p>
        </p:txBody>
      </p:sp>
      <p:sp>
        <p:nvSpPr>
          <p:cNvPr id="12" name="TextBox 11"/>
          <p:cNvSpPr txBox="1"/>
          <p:nvPr/>
        </p:nvSpPr>
        <p:spPr>
          <a:xfrm>
            <a:off x="5989320" y="3520440"/>
            <a:ext cx="2651760" cy="274320"/>
          </a:xfrm>
          <a:prstGeom prst="rect">
            <a:avLst/>
          </a:prstGeom>
          <a:noFill/>
        </p:spPr>
        <p:txBody>
          <a:bodyPr wrap="square" lIns="0" rIns="0" tIns="0" bIns="0" anchor="t">
            <a:spAutoFit/>
          </a:bodyPr>
          <a:lstStyle/>
          <a:p>
            <a:pPr algn="l"/>
            <a:r>
              <a:rPr sz="1000" b="0" i="0">
                <a:solidFill>
                  <a:srgbClr val="8A9197"/>
                </a:solidFill>
                <a:latin typeface="Calibri"/>
              </a:rPr>
              <a:t>vs leader 0.7832</a:t>
            </a:r>
          </a:p>
        </p:txBody>
      </p:sp>
      <p:sp>
        <p:nvSpPr>
          <p:cNvPr id="13" name="Rectangle 12"/>
          <p:cNvSpPr/>
          <p:nvPr/>
        </p:nvSpPr>
        <p:spPr>
          <a:xfrm>
            <a:off x="365760" y="4160520"/>
            <a:ext cx="8412480" cy="502920"/>
          </a:xfrm>
          <a:prstGeom prst="rect">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224528"/>
            <a:ext cx="8229600" cy="365760"/>
          </a:xfrm>
          <a:prstGeom prst="rect">
            <a:avLst/>
          </a:prstGeom>
          <a:noFill/>
        </p:spPr>
        <p:txBody>
          <a:bodyPr wrap="square" lIns="0" rIns="0" tIns="0" bIns="0" anchor="ctr">
            <a:spAutoFit/>
          </a:bodyPr>
          <a:lstStyle/>
          <a:p>
            <a:pPr algn="l"/>
            <a:r>
              <a:rPr sz="1200" b="0" i="1">
                <a:solidFill>
                  <a:srgbClr val="F5F0E8"/>
                </a:solidFill>
                <a:latin typeface="Georgia"/>
              </a:rPr>
              <a:t>The win wasn't a new architecture. It was treating the test distribution as the thing to model.</a:t>
            </a:r>
          </a:p>
        </p:txBody>
      </p:sp>
      <p:sp>
        <p:nvSpPr>
          <p:cNvPr id="15" name="TextBox 14"/>
          <p:cNvSpPr txBox="1"/>
          <p:nvPr/>
        </p:nvSpPr>
        <p:spPr>
          <a:xfrm>
            <a:off x="365760" y="4846320"/>
            <a:ext cx="5486400" cy="228600"/>
          </a:xfrm>
          <a:prstGeom prst="rect">
            <a:avLst/>
          </a:prstGeom>
          <a:noFill/>
        </p:spPr>
        <p:txBody>
          <a:bodyPr wrap="square" lIns="0" rIns="0" tIns="0" bIns="0" anchor="t">
            <a:spAutoFit/>
          </a:bodyPr>
          <a:lstStyle/>
          <a:p>
            <a:pPr algn="l"/>
            <a:r>
              <a:rPr sz="900" b="0" i="0">
                <a:solidFill>
                  <a:srgbClr val="8A9197"/>
                </a:solidFill>
                <a:latin typeface="Calibri"/>
              </a:rPr>
              <a:t>Multimodal Cancer Cell Classification  ·  Uppsala 1MD042 A3</a:t>
            </a:r>
          </a:p>
        </p:txBody>
      </p:sp>
      <p:sp>
        <p:nvSpPr>
          <p:cNvPr id="16" name="TextBox 15"/>
          <p:cNvSpPr txBox="1"/>
          <p:nvPr/>
        </p:nvSpPr>
        <p:spPr>
          <a:xfrm>
            <a:off x="7772400" y="4846320"/>
            <a:ext cx="1097280" cy="228600"/>
          </a:xfrm>
          <a:prstGeom prst="rect">
            <a:avLst/>
          </a:prstGeom>
          <a:noFill/>
        </p:spPr>
        <p:txBody>
          <a:bodyPr wrap="square" lIns="0" rIns="0" tIns="0" bIns="0" anchor="t">
            <a:spAutoFit/>
          </a:bodyPr>
          <a:lstStyle/>
          <a:p>
            <a:pPr algn="r"/>
            <a:r>
              <a:rPr sz="900" b="0" i="0">
                <a:solidFill>
                  <a:srgbClr val="8A9197"/>
                </a:solidFill>
                <a:latin typeface="Calibri"/>
              </a:rPr>
              <a:t>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Rectangle 1"/>
          <p:cNvSpPr/>
          <p:nvPr/>
        </p:nvSpPr>
        <p:spPr>
          <a:xfrm>
            <a:off x="0" y="0"/>
            <a:ext cx="73152" cy="5143500"/>
          </a:xfrm>
          <a:prstGeom prst="rect">
            <a:avLst/>
          </a:prstGeom>
          <a:solidFill>
            <a:srgbClr val="E07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20040"/>
            <a:ext cx="8229600" cy="274320"/>
          </a:xfrm>
          <a:prstGeom prst="rect">
            <a:avLst/>
          </a:prstGeom>
          <a:noFill/>
        </p:spPr>
        <p:txBody>
          <a:bodyPr wrap="square" lIns="0" rIns="0" tIns="0" bIns="0" anchor="t">
            <a:spAutoFit/>
          </a:bodyPr>
          <a:lstStyle/>
          <a:p>
            <a:pPr algn="l"/>
            <a:r>
              <a:rPr sz="1100" b="1" i="0">
                <a:solidFill>
                  <a:srgbClr val="E07856"/>
                </a:solidFill>
                <a:latin typeface="Calibri"/>
              </a:rPr>
              <a:t>ACT 4  ·  THE FAILURES</a:t>
            </a:r>
          </a:p>
        </p:txBody>
      </p:sp>
      <p:sp>
        <p:nvSpPr>
          <p:cNvPr id="4" name="TextBox 3"/>
          <p:cNvSpPr txBox="1"/>
          <p:nvPr/>
        </p:nvSpPr>
        <p:spPr>
          <a:xfrm>
            <a:off x="365760" y="612647"/>
            <a:ext cx="8229600" cy="640080"/>
          </a:xfrm>
          <a:prstGeom prst="rect">
            <a:avLst/>
          </a:prstGeom>
          <a:noFill/>
        </p:spPr>
        <p:txBody>
          <a:bodyPr wrap="square" lIns="0" rIns="0" tIns="0" bIns="0" anchor="t">
            <a:spAutoFit/>
          </a:bodyPr>
          <a:lstStyle/>
          <a:p>
            <a:pPr algn="l"/>
            <a:r>
              <a:rPr sz="2800" b="1" i="0">
                <a:solidFill>
                  <a:srgbClr val="1A2540"/>
                </a:solidFill>
                <a:latin typeface="Georgia"/>
              </a:rPr>
              <a:t>What didn't work — and what it taught us</a:t>
            </a:r>
          </a:p>
        </p:txBody>
      </p:sp>
      <p:sp>
        <p:nvSpPr>
          <p:cNvPr id="5" name="Rectangle 4"/>
          <p:cNvSpPr/>
          <p:nvPr/>
        </p:nvSpPr>
        <p:spPr>
          <a:xfrm>
            <a:off x="365760" y="1280160"/>
            <a:ext cx="4069080"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280160"/>
            <a:ext cx="54864" cy="914400"/>
          </a:xfrm>
          <a:prstGeom prst="rect">
            <a:avLst/>
          </a:prstGeom>
          <a:solidFill>
            <a:srgbClr val="E07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71600"/>
            <a:ext cx="731520" cy="365760"/>
          </a:xfrm>
          <a:prstGeom prst="rect">
            <a:avLst/>
          </a:prstGeom>
          <a:noFill/>
        </p:spPr>
        <p:txBody>
          <a:bodyPr wrap="square" lIns="0" rIns="0" tIns="0" bIns="0" anchor="t">
            <a:spAutoFit/>
          </a:bodyPr>
          <a:lstStyle/>
          <a:p>
            <a:pPr algn="l"/>
            <a:r>
              <a:rPr sz="1800" b="1" i="0">
                <a:solidFill>
                  <a:srgbClr val="1A2540"/>
                </a:solidFill>
                <a:latin typeface="Georgia"/>
              </a:rPr>
              <a:t>v20</a:t>
            </a:r>
          </a:p>
        </p:txBody>
      </p:sp>
      <p:sp>
        <p:nvSpPr>
          <p:cNvPr id="8" name="TextBox 7"/>
          <p:cNvSpPr txBox="1"/>
          <p:nvPr/>
        </p:nvSpPr>
        <p:spPr>
          <a:xfrm>
            <a:off x="548640" y="1737360"/>
            <a:ext cx="822960" cy="320040"/>
          </a:xfrm>
          <a:prstGeom prst="rect">
            <a:avLst/>
          </a:prstGeom>
          <a:noFill/>
        </p:spPr>
        <p:txBody>
          <a:bodyPr wrap="square" lIns="0" rIns="0" tIns="0" bIns="0" anchor="t">
            <a:spAutoFit/>
          </a:bodyPr>
          <a:lstStyle/>
          <a:p>
            <a:pPr algn="l"/>
            <a:r>
              <a:rPr sz="1000" b="0" i="0">
                <a:solidFill>
                  <a:srgbClr val="8A9197"/>
                </a:solidFill>
                <a:latin typeface="Calibri"/>
              </a:rPr>
              <a:t>LB 0.5974</a:t>
            </a:r>
          </a:p>
        </p:txBody>
      </p:sp>
      <p:sp>
        <p:nvSpPr>
          <p:cNvPr id="9" name="TextBox 8"/>
          <p:cNvSpPr txBox="1"/>
          <p:nvPr/>
        </p:nvSpPr>
        <p:spPr>
          <a:xfrm>
            <a:off x="1417320" y="1417320"/>
            <a:ext cx="2880360" cy="685800"/>
          </a:xfrm>
          <a:prstGeom prst="rect">
            <a:avLst/>
          </a:prstGeom>
          <a:noFill/>
        </p:spPr>
        <p:txBody>
          <a:bodyPr wrap="square" lIns="0" rIns="0" tIns="0" bIns="0" anchor="ctr">
            <a:spAutoFit/>
          </a:bodyPr>
          <a:lstStyle/>
          <a:p>
            <a:pPr algn="l"/>
            <a:r>
              <a:rPr sz="1100" b="0" i="0">
                <a:solidFill>
                  <a:srgbClr val="1A2540"/>
                </a:solidFill>
                <a:latin typeface="Calibri"/>
              </a:rPr>
              <a:t>New aug recipe overshot — destroyed the signal.</a:t>
            </a:r>
          </a:p>
        </p:txBody>
      </p:sp>
      <p:sp>
        <p:nvSpPr>
          <p:cNvPr id="10" name="Rectangle 9"/>
          <p:cNvSpPr/>
          <p:nvPr/>
        </p:nvSpPr>
        <p:spPr>
          <a:xfrm>
            <a:off x="4526280" y="1280160"/>
            <a:ext cx="4069080"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6280" y="1280160"/>
            <a:ext cx="54864" cy="914400"/>
          </a:xfrm>
          <a:prstGeom prst="rect">
            <a:avLst/>
          </a:prstGeom>
          <a:solidFill>
            <a:srgbClr val="E07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1371600"/>
            <a:ext cx="731520" cy="365760"/>
          </a:xfrm>
          <a:prstGeom prst="rect">
            <a:avLst/>
          </a:prstGeom>
          <a:noFill/>
        </p:spPr>
        <p:txBody>
          <a:bodyPr wrap="square" lIns="0" rIns="0" tIns="0" bIns="0" anchor="t">
            <a:spAutoFit/>
          </a:bodyPr>
          <a:lstStyle/>
          <a:p>
            <a:pPr algn="l"/>
            <a:r>
              <a:rPr sz="1800" b="1" i="0">
                <a:solidFill>
                  <a:srgbClr val="1A2540"/>
                </a:solidFill>
                <a:latin typeface="Georgia"/>
              </a:rPr>
              <a:t>v21</a:t>
            </a:r>
          </a:p>
        </p:txBody>
      </p:sp>
      <p:sp>
        <p:nvSpPr>
          <p:cNvPr id="13" name="TextBox 12"/>
          <p:cNvSpPr txBox="1"/>
          <p:nvPr/>
        </p:nvSpPr>
        <p:spPr>
          <a:xfrm>
            <a:off x="4709160" y="1737360"/>
            <a:ext cx="822960" cy="320040"/>
          </a:xfrm>
          <a:prstGeom prst="rect">
            <a:avLst/>
          </a:prstGeom>
          <a:noFill/>
        </p:spPr>
        <p:txBody>
          <a:bodyPr wrap="square" lIns="0" rIns="0" tIns="0" bIns="0" anchor="t">
            <a:spAutoFit/>
          </a:bodyPr>
          <a:lstStyle/>
          <a:p>
            <a:pPr algn="l"/>
            <a:r>
              <a:rPr sz="1000" b="0" i="0">
                <a:solidFill>
                  <a:srgbClr val="8A9197"/>
                </a:solidFill>
                <a:latin typeface="Calibri"/>
              </a:rPr>
              <a:t>LB 0.7018</a:t>
            </a:r>
          </a:p>
        </p:txBody>
      </p:sp>
      <p:sp>
        <p:nvSpPr>
          <p:cNvPr id="14" name="TextBox 13"/>
          <p:cNvSpPr txBox="1"/>
          <p:nvPr/>
        </p:nvSpPr>
        <p:spPr>
          <a:xfrm>
            <a:off x="5577840" y="1417320"/>
            <a:ext cx="2880360" cy="685800"/>
          </a:xfrm>
          <a:prstGeom prst="rect">
            <a:avLst/>
          </a:prstGeom>
          <a:noFill/>
        </p:spPr>
        <p:txBody>
          <a:bodyPr wrap="square" lIns="0" rIns="0" tIns="0" bIns="0" anchor="ctr">
            <a:spAutoFit/>
          </a:bodyPr>
          <a:lstStyle/>
          <a:p>
            <a:pPr algn="l"/>
            <a:r>
              <a:rPr sz="1100" b="0" i="0">
                <a:solidFill>
                  <a:srgbClr val="1A2540"/>
                </a:solidFill>
                <a:latin typeface="Calibri"/>
              </a:rPr>
              <a:t>ResNet-50 with 224 upscale. Confounded: upscale was the problem, not the backbone.</a:t>
            </a:r>
          </a:p>
        </p:txBody>
      </p:sp>
      <p:sp>
        <p:nvSpPr>
          <p:cNvPr id="15" name="Rectangle 14"/>
          <p:cNvSpPr/>
          <p:nvPr/>
        </p:nvSpPr>
        <p:spPr>
          <a:xfrm>
            <a:off x="365760" y="2286000"/>
            <a:ext cx="4069080"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2286000"/>
            <a:ext cx="54864" cy="914400"/>
          </a:xfrm>
          <a:prstGeom prst="rect">
            <a:avLst/>
          </a:prstGeom>
          <a:solidFill>
            <a:srgbClr val="E07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377440"/>
            <a:ext cx="731520" cy="365760"/>
          </a:xfrm>
          <a:prstGeom prst="rect">
            <a:avLst/>
          </a:prstGeom>
          <a:noFill/>
        </p:spPr>
        <p:txBody>
          <a:bodyPr wrap="square" lIns="0" rIns="0" tIns="0" bIns="0" anchor="t">
            <a:spAutoFit/>
          </a:bodyPr>
          <a:lstStyle/>
          <a:p>
            <a:pPr algn="l"/>
            <a:r>
              <a:rPr sz="1800" b="1" i="0">
                <a:solidFill>
                  <a:srgbClr val="1A2540"/>
                </a:solidFill>
                <a:latin typeface="Georgia"/>
              </a:rPr>
              <a:t>v22</a:t>
            </a:r>
          </a:p>
        </p:txBody>
      </p:sp>
      <p:sp>
        <p:nvSpPr>
          <p:cNvPr id="18" name="TextBox 17"/>
          <p:cNvSpPr txBox="1"/>
          <p:nvPr/>
        </p:nvSpPr>
        <p:spPr>
          <a:xfrm>
            <a:off x="548640" y="2743200"/>
            <a:ext cx="822960" cy="320040"/>
          </a:xfrm>
          <a:prstGeom prst="rect">
            <a:avLst/>
          </a:prstGeom>
          <a:noFill/>
        </p:spPr>
        <p:txBody>
          <a:bodyPr wrap="square" lIns="0" rIns="0" tIns="0" bIns="0" anchor="t">
            <a:spAutoFit/>
          </a:bodyPr>
          <a:lstStyle/>
          <a:p>
            <a:pPr algn="l"/>
            <a:r>
              <a:rPr sz="1000" b="0" i="0">
                <a:solidFill>
                  <a:srgbClr val="8A9197"/>
                </a:solidFill>
                <a:latin typeface="Calibri"/>
              </a:rPr>
              <a:t>LB 0.7422</a:t>
            </a:r>
          </a:p>
        </p:txBody>
      </p:sp>
      <p:sp>
        <p:nvSpPr>
          <p:cNvPr id="19" name="TextBox 18"/>
          <p:cNvSpPr txBox="1"/>
          <p:nvPr/>
        </p:nvSpPr>
        <p:spPr>
          <a:xfrm>
            <a:off x="1417320" y="2423160"/>
            <a:ext cx="2880360" cy="685800"/>
          </a:xfrm>
          <a:prstGeom prst="rect">
            <a:avLst/>
          </a:prstGeom>
          <a:noFill/>
        </p:spPr>
        <p:txBody>
          <a:bodyPr wrap="square" lIns="0" rIns="0" tIns="0" bIns="0" anchor="ctr">
            <a:spAutoFit/>
          </a:bodyPr>
          <a:lstStyle/>
          <a:p>
            <a:pPr algn="l"/>
            <a:r>
              <a:rPr sz="1100" b="0" i="0">
                <a:solidFill>
                  <a:srgbClr val="1A2540"/>
                </a:solidFill>
                <a:latin typeface="Calibri"/>
              </a:rPr>
              <a:t>Ensemble of v19 + v21. Weaker member dragged the mean below v19 alone.</a:t>
            </a:r>
          </a:p>
        </p:txBody>
      </p:sp>
      <p:sp>
        <p:nvSpPr>
          <p:cNvPr id="20" name="Rectangle 19"/>
          <p:cNvSpPr/>
          <p:nvPr/>
        </p:nvSpPr>
        <p:spPr>
          <a:xfrm>
            <a:off x="4526280" y="2286000"/>
            <a:ext cx="4069080"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26280" y="2286000"/>
            <a:ext cx="54864" cy="914400"/>
          </a:xfrm>
          <a:prstGeom prst="rect">
            <a:avLst/>
          </a:prstGeom>
          <a:solidFill>
            <a:srgbClr val="E07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09160" y="2377440"/>
            <a:ext cx="731520" cy="365760"/>
          </a:xfrm>
          <a:prstGeom prst="rect">
            <a:avLst/>
          </a:prstGeom>
          <a:noFill/>
        </p:spPr>
        <p:txBody>
          <a:bodyPr wrap="square" lIns="0" rIns="0" tIns="0" bIns="0" anchor="t">
            <a:spAutoFit/>
          </a:bodyPr>
          <a:lstStyle/>
          <a:p>
            <a:pPr algn="l"/>
            <a:r>
              <a:rPr sz="1800" b="1" i="0">
                <a:solidFill>
                  <a:srgbClr val="1A2540"/>
                </a:solidFill>
                <a:latin typeface="Georgia"/>
              </a:rPr>
              <a:t>v23</a:t>
            </a:r>
          </a:p>
        </p:txBody>
      </p:sp>
      <p:sp>
        <p:nvSpPr>
          <p:cNvPr id="23" name="TextBox 22"/>
          <p:cNvSpPr txBox="1"/>
          <p:nvPr/>
        </p:nvSpPr>
        <p:spPr>
          <a:xfrm>
            <a:off x="4709160" y="2743200"/>
            <a:ext cx="822960" cy="320040"/>
          </a:xfrm>
          <a:prstGeom prst="rect">
            <a:avLst/>
          </a:prstGeom>
          <a:noFill/>
        </p:spPr>
        <p:txBody>
          <a:bodyPr wrap="square" lIns="0" rIns="0" tIns="0" bIns="0" anchor="t">
            <a:spAutoFit/>
          </a:bodyPr>
          <a:lstStyle/>
          <a:p>
            <a:pPr algn="l"/>
            <a:r>
              <a:rPr sz="1000" b="0" i="0">
                <a:solidFill>
                  <a:srgbClr val="8A9197"/>
                </a:solidFill>
                <a:latin typeface="Calibri"/>
              </a:rPr>
              <a:t>LB 0.7154</a:t>
            </a:r>
          </a:p>
        </p:txBody>
      </p:sp>
      <p:sp>
        <p:nvSpPr>
          <p:cNvPr id="24" name="TextBox 23"/>
          <p:cNvSpPr txBox="1"/>
          <p:nvPr/>
        </p:nvSpPr>
        <p:spPr>
          <a:xfrm>
            <a:off x="5577840" y="2423160"/>
            <a:ext cx="2880360" cy="685800"/>
          </a:xfrm>
          <a:prstGeom prst="rect">
            <a:avLst/>
          </a:prstGeom>
          <a:noFill/>
        </p:spPr>
        <p:txBody>
          <a:bodyPr wrap="square" lIns="0" rIns="0" tIns="0" bIns="0" anchor="ctr">
            <a:spAutoFit/>
          </a:bodyPr>
          <a:lstStyle/>
          <a:p>
            <a:pPr algn="l"/>
            <a:r>
              <a:rPr sz="1100" b="0" i="0">
                <a:solidFill>
                  <a:srgbClr val="1A2540"/>
                </a:solidFill>
                <a:latin typeface="Calibri"/>
              </a:rPr>
              <a:t>Same v19 recipe, different seed. 0.03 LB shift from seed alone.</a:t>
            </a:r>
          </a:p>
        </p:txBody>
      </p:sp>
      <p:sp>
        <p:nvSpPr>
          <p:cNvPr id="25" name="Rectangle 24"/>
          <p:cNvSpPr/>
          <p:nvPr/>
        </p:nvSpPr>
        <p:spPr>
          <a:xfrm>
            <a:off x="365760" y="3291840"/>
            <a:ext cx="4069080"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5760" y="3291840"/>
            <a:ext cx="54864" cy="914400"/>
          </a:xfrm>
          <a:prstGeom prst="rect">
            <a:avLst/>
          </a:prstGeom>
          <a:solidFill>
            <a:srgbClr val="E07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3383280"/>
            <a:ext cx="731520" cy="365760"/>
          </a:xfrm>
          <a:prstGeom prst="rect">
            <a:avLst/>
          </a:prstGeom>
          <a:noFill/>
        </p:spPr>
        <p:txBody>
          <a:bodyPr wrap="square" lIns="0" rIns="0" tIns="0" bIns="0" anchor="t">
            <a:spAutoFit/>
          </a:bodyPr>
          <a:lstStyle/>
          <a:p>
            <a:pPr algn="l"/>
            <a:r>
              <a:rPr sz="1800" b="1" i="0">
                <a:solidFill>
                  <a:srgbClr val="1A2540"/>
                </a:solidFill>
                <a:latin typeface="Georgia"/>
              </a:rPr>
              <a:t>v27</a:t>
            </a:r>
          </a:p>
        </p:txBody>
      </p:sp>
      <p:sp>
        <p:nvSpPr>
          <p:cNvPr id="28" name="TextBox 27"/>
          <p:cNvSpPr txBox="1"/>
          <p:nvPr/>
        </p:nvSpPr>
        <p:spPr>
          <a:xfrm>
            <a:off x="548640" y="3749040"/>
            <a:ext cx="822960" cy="320040"/>
          </a:xfrm>
          <a:prstGeom prst="rect">
            <a:avLst/>
          </a:prstGeom>
          <a:noFill/>
        </p:spPr>
        <p:txBody>
          <a:bodyPr wrap="square" lIns="0" rIns="0" tIns="0" bIns="0" anchor="t">
            <a:spAutoFit/>
          </a:bodyPr>
          <a:lstStyle/>
          <a:p>
            <a:pPr algn="l"/>
            <a:r>
              <a:rPr sz="1000" b="0" i="0">
                <a:solidFill>
                  <a:srgbClr val="8A9197"/>
                </a:solidFill>
                <a:latin typeface="Calibri"/>
              </a:rPr>
              <a:t>LB —</a:t>
            </a:r>
          </a:p>
        </p:txBody>
      </p:sp>
      <p:sp>
        <p:nvSpPr>
          <p:cNvPr id="29" name="TextBox 28"/>
          <p:cNvSpPr txBox="1"/>
          <p:nvPr/>
        </p:nvSpPr>
        <p:spPr>
          <a:xfrm>
            <a:off x="1417320" y="3429000"/>
            <a:ext cx="2880360" cy="685800"/>
          </a:xfrm>
          <a:prstGeom prst="rect">
            <a:avLst/>
          </a:prstGeom>
          <a:noFill/>
        </p:spPr>
        <p:txBody>
          <a:bodyPr wrap="square" lIns="0" rIns="0" tIns="0" bIns="0" anchor="ctr">
            <a:spAutoFit/>
          </a:bodyPr>
          <a:lstStyle/>
          <a:p>
            <a:pPr algn="l"/>
            <a:r>
              <a:rPr sz="1100" b="0" i="0">
                <a:solidFill>
                  <a:srgbClr val="1A2540"/>
                </a:solidFill>
                <a:latin typeface="Calibri"/>
              </a:rPr>
              <a:t>Single 2-patient val holdout on N=12 → best_epoch=0 collapse.</a:t>
            </a:r>
          </a:p>
        </p:txBody>
      </p:sp>
      <p:sp>
        <p:nvSpPr>
          <p:cNvPr id="30" name="Rectangle 29"/>
          <p:cNvSpPr/>
          <p:nvPr/>
        </p:nvSpPr>
        <p:spPr>
          <a:xfrm>
            <a:off x="4526280" y="3291840"/>
            <a:ext cx="4069080"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26280" y="3291840"/>
            <a:ext cx="54864" cy="914400"/>
          </a:xfrm>
          <a:prstGeom prst="rect">
            <a:avLst/>
          </a:prstGeom>
          <a:solidFill>
            <a:srgbClr val="E07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9160" y="3383280"/>
            <a:ext cx="731520" cy="365760"/>
          </a:xfrm>
          <a:prstGeom prst="rect">
            <a:avLst/>
          </a:prstGeom>
          <a:noFill/>
        </p:spPr>
        <p:txBody>
          <a:bodyPr wrap="square" lIns="0" rIns="0" tIns="0" bIns="0" anchor="t">
            <a:spAutoFit/>
          </a:bodyPr>
          <a:lstStyle/>
          <a:p>
            <a:pPr algn="l"/>
            <a:r>
              <a:rPr sz="1800" b="1" i="0">
                <a:solidFill>
                  <a:srgbClr val="1A2540"/>
                </a:solidFill>
                <a:latin typeface="Georgia"/>
              </a:rPr>
              <a:t>v30</a:t>
            </a:r>
          </a:p>
        </p:txBody>
      </p:sp>
      <p:sp>
        <p:nvSpPr>
          <p:cNvPr id="33" name="TextBox 32"/>
          <p:cNvSpPr txBox="1"/>
          <p:nvPr/>
        </p:nvSpPr>
        <p:spPr>
          <a:xfrm>
            <a:off x="4709160" y="3749040"/>
            <a:ext cx="822960" cy="320040"/>
          </a:xfrm>
          <a:prstGeom prst="rect">
            <a:avLst/>
          </a:prstGeom>
          <a:noFill/>
        </p:spPr>
        <p:txBody>
          <a:bodyPr wrap="square" lIns="0" rIns="0" tIns="0" bIns="0" anchor="t">
            <a:spAutoFit/>
          </a:bodyPr>
          <a:lstStyle/>
          <a:p>
            <a:pPr algn="l"/>
            <a:r>
              <a:rPr sz="1000" b="0" i="0">
                <a:solidFill>
                  <a:srgbClr val="8A9197"/>
                </a:solidFill>
                <a:latin typeface="Calibri"/>
              </a:rPr>
              <a:t>LB 0.6448</a:t>
            </a:r>
          </a:p>
        </p:txBody>
      </p:sp>
      <p:sp>
        <p:nvSpPr>
          <p:cNvPr id="34" name="TextBox 33"/>
          <p:cNvSpPr txBox="1"/>
          <p:nvPr/>
        </p:nvSpPr>
        <p:spPr>
          <a:xfrm>
            <a:off x="5577840" y="3429000"/>
            <a:ext cx="2880360" cy="685800"/>
          </a:xfrm>
          <a:prstGeom prst="rect">
            <a:avLst/>
          </a:prstGeom>
          <a:noFill/>
        </p:spPr>
        <p:txBody>
          <a:bodyPr wrap="square" lIns="0" rIns="0" tIns="0" bIns="0" anchor="ctr">
            <a:spAutoFit/>
          </a:bodyPr>
          <a:lstStyle/>
          <a:p>
            <a:pPr algn="l"/>
            <a:r>
              <a:rPr sz="1100" b="0" i="0">
                <a:solidFill>
                  <a:srgbClr val="1A2540"/>
                </a:solidFill>
                <a:latin typeface="Calibri"/>
              </a:rPr>
              <a:t>Discriminative LR at 0.1 ratio. ImageNet → microscopy needs MORE backbone LR, not less.</a:t>
            </a:r>
          </a:p>
        </p:txBody>
      </p:sp>
      <p:sp>
        <p:nvSpPr>
          <p:cNvPr id="35" name="TextBox 34"/>
          <p:cNvSpPr txBox="1"/>
          <p:nvPr/>
        </p:nvSpPr>
        <p:spPr>
          <a:xfrm>
            <a:off x="365760" y="4846320"/>
            <a:ext cx="5486400" cy="228600"/>
          </a:xfrm>
          <a:prstGeom prst="rect">
            <a:avLst/>
          </a:prstGeom>
          <a:noFill/>
        </p:spPr>
        <p:txBody>
          <a:bodyPr wrap="square" lIns="0" rIns="0" tIns="0" bIns="0" anchor="t">
            <a:spAutoFit/>
          </a:bodyPr>
          <a:lstStyle/>
          <a:p>
            <a:pPr algn="l"/>
            <a:r>
              <a:rPr sz="900" b="0" i="0">
                <a:solidFill>
                  <a:srgbClr val="8A9197"/>
                </a:solidFill>
                <a:latin typeface="Calibri"/>
              </a:rPr>
              <a:t>Multimodal Cancer Cell Classification  ·  Uppsala 1MD042 A3</a:t>
            </a:r>
          </a:p>
        </p:txBody>
      </p:sp>
      <p:sp>
        <p:nvSpPr>
          <p:cNvPr id="36" name="TextBox 35"/>
          <p:cNvSpPr txBox="1"/>
          <p:nvPr/>
        </p:nvSpPr>
        <p:spPr>
          <a:xfrm>
            <a:off x="7772400" y="4846320"/>
            <a:ext cx="1097280" cy="228600"/>
          </a:xfrm>
          <a:prstGeom prst="rect">
            <a:avLst/>
          </a:prstGeom>
          <a:noFill/>
        </p:spPr>
        <p:txBody>
          <a:bodyPr wrap="square" lIns="0" rIns="0" tIns="0" bIns="0" anchor="t">
            <a:spAutoFit/>
          </a:bodyPr>
          <a:lstStyle/>
          <a:p>
            <a:pPr algn="r"/>
            <a:r>
              <a:rPr sz="900" b="0" i="0">
                <a:solidFill>
                  <a:srgbClr val="8A9197"/>
                </a:solidFill>
                <a:latin typeface="Calibri"/>
              </a:rPr>
              <a:t>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Rectangle 1"/>
          <p:cNvSpPr/>
          <p:nvPr/>
        </p:nvSpPr>
        <p:spPr>
          <a:xfrm>
            <a:off x="0" y="0"/>
            <a:ext cx="73152" cy="5143500"/>
          </a:xfrm>
          <a:prstGeom prst="rect">
            <a:avLst/>
          </a:prstGeom>
          <a:solidFill>
            <a:srgbClr val="E07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20040"/>
            <a:ext cx="8229600" cy="274320"/>
          </a:xfrm>
          <a:prstGeom prst="rect">
            <a:avLst/>
          </a:prstGeom>
          <a:noFill/>
        </p:spPr>
        <p:txBody>
          <a:bodyPr wrap="square" lIns="0" rIns="0" tIns="0" bIns="0" anchor="t">
            <a:spAutoFit/>
          </a:bodyPr>
          <a:lstStyle/>
          <a:p>
            <a:pPr algn="l"/>
            <a:r>
              <a:rPr sz="1100" b="1" i="0">
                <a:solidFill>
                  <a:srgbClr val="E07856"/>
                </a:solidFill>
                <a:latin typeface="Calibri"/>
              </a:rPr>
              <a:t>ACT 4  ·  THE CONTROLS</a:t>
            </a:r>
          </a:p>
        </p:txBody>
      </p:sp>
      <p:sp>
        <p:nvSpPr>
          <p:cNvPr id="4" name="TextBox 3"/>
          <p:cNvSpPr txBox="1"/>
          <p:nvPr/>
        </p:nvSpPr>
        <p:spPr>
          <a:xfrm>
            <a:off x="365760" y="612647"/>
            <a:ext cx="8229600" cy="640080"/>
          </a:xfrm>
          <a:prstGeom prst="rect">
            <a:avLst/>
          </a:prstGeom>
          <a:noFill/>
        </p:spPr>
        <p:txBody>
          <a:bodyPr wrap="square" lIns="0" rIns="0" tIns="0" bIns="0" anchor="t">
            <a:spAutoFit/>
          </a:bodyPr>
          <a:lstStyle/>
          <a:p>
            <a:pPr algn="l"/>
            <a:r>
              <a:rPr sz="2800" b="1" i="0">
                <a:solidFill>
                  <a:srgbClr val="1A2540"/>
                </a:solidFill>
                <a:latin typeface="Georgia"/>
              </a:rPr>
              <a:t>Clean backbone tests</a:t>
            </a:r>
          </a:p>
        </p:txBody>
      </p:sp>
      <p:sp>
        <p:nvSpPr>
          <p:cNvPr id="5" name="Rectangle 4"/>
          <p:cNvSpPr/>
          <p:nvPr/>
        </p:nvSpPr>
        <p:spPr>
          <a:xfrm>
            <a:off x="365760" y="1280160"/>
            <a:ext cx="2697480"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280160"/>
            <a:ext cx="73152" cy="2880360"/>
          </a:xfrm>
          <a:prstGeom prst="rect">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463040"/>
            <a:ext cx="2331720" cy="365760"/>
          </a:xfrm>
          <a:prstGeom prst="rect">
            <a:avLst/>
          </a:prstGeom>
          <a:noFill/>
        </p:spPr>
        <p:txBody>
          <a:bodyPr wrap="square" lIns="0" rIns="0" tIns="0" bIns="0" anchor="t">
            <a:spAutoFit/>
          </a:bodyPr>
          <a:lstStyle/>
          <a:p>
            <a:pPr algn="l"/>
            <a:r>
              <a:rPr sz="2200" b="1" i="0">
                <a:solidFill>
                  <a:srgbClr val="1A2540"/>
                </a:solidFill>
                <a:latin typeface="Georgia"/>
              </a:rPr>
              <a:t>v34</a:t>
            </a:r>
          </a:p>
        </p:txBody>
      </p:sp>
      <p:sp>
        <p:nvSpPr>
          <p:cNvPr id="8" name="TextBox 7"/>
          <p:cNvSpPr txBox="1"/>
          <p:nvPr/>
        </p:nvSpPr>
        <p:spPr>
          <a:xfrm>
            <a:off x="594360" y="1920240"/>
            <a:ext cx="2331720" cy="320040"/>
          </a:xfrm>
          <a:prstGeom prst="rect">
            <a:avLst/>
          </a:prstGeom>
          <a:noFill/>
        </p:spPr>
        <p:txBody>
          <a:bodyPr wrap="square" lIns="0" rIns="0" tIns="0" bIns="0" anchor="t">
            <a:spAutoFit/>
          </a:bodyPr>
          <a:lstStyle/>
          <a:p>
            <a:pPr algn="l"/>
            <a:r>
              <a:rPr sz="1100" b="0" i="1">
                <a:solidFill>
                  <a:srgbClr val="8A9197"/>
                </a:solidFill>
                <a:latin typeface="Calibri"/>
              </a:rPr>
              <a:t>ResNet-50, 128 native</a:t>
            </a:r>
          </a:p>
        </p:txBody>
      </p:sp>
      <p:sp>
        <p:nvSpPr>
          <p:cNvPr id="9" name="TextBox 8"/>
          <p:cNvSpPr txBox="1"/>
          <p:nvPr/>
        </p:nvSpPr>
        <p:spPr>
          <a:xfrm>
            <a:off x="594360" y="2331720"/>
            <a:ext cx="2331720" cy="640080"/>
          </a:xfrm>
          <a:prstGeom prst="rect">
            <a:avLst/>
          </a:prstGeom>
          <a:noFill/>
        </p:spPr>
        <p:txBody>
          <a:bodyPr wrap="square" lIns="0" rIns="0" tIns="0" bIns="0" anchor="t">
            <a:spAutoFit/>
          </a:bodyPr>
          <a:lstStyle/>
          <a:p>
            <a:pPr algn="l"/>
            <a:r>
              <a:rPr sz="3200" b="1" i="0">
                <a:solidFill>
                  <a:srgbClr val="1A2540"/>
                </a:solidFill>
                <a:latin typeface="Georgia"/>
              </a:rPr>
              <a:t>0.7155</a:t>
            </a:r>
          </a:p>
        </p:txBody>
      </p:sp>
      <p:sp>
        <p:nvSpPr>
          <p:cNvPr id="10" name="TextBox 9"/>
          <p:cNvSpPr txBox="1"/>
          <p:nvPr/>
        </p:nvSpPr>
        <p:spPr>
          <a:xfrm>
            <a:off x="594360" y="3154679"/>
            <a:ext cx="2331720" cy="822960"/>
          </a:xfrm>
          <a:prstGeom prst="rect">
            <a:avLst/>
          </a:prstGeom>
          <a:noFill/>
        </p:spPr>
        <p:txBody>
          <a:bodyPr wrap="square" lIns="0" rIns="0" tIns="0" bIns="0" anchor="t">
            <a:spAutoFit/>
          </a:bodyPr>
          <a:lstStyle/>
          <a:p>
            <a:pPr algn="l"/>
            <a:r>
              <a:rPr sz="1000" b="0" i="0">
                <a:solidFill>
                  <a:srgbClr val="1A2540"/>
                </a:solidFill>
                <a:latin typeface="Calibri"/>
              </a:rPr>
              <a:t>Teacher's recommended backbone, tested cleanly: no upscale, no disc-LR. Lands at v23's seed-spread band of v19. Solid, not a win.</a:t>
            </a:r>
          </a:p>
        </p:txBody>
      </p:sp>
      <p:sp>
        <p:nvSpPr>
          <p:cNvPr id="11" name="Rectangle 10"/>
          <p:cNvSpPr/>
          <p:nvPr/>
        </p:nvSpPr>
        <p:spPr>
          <a:xfrm>
            <a:off x="3154680" y="1280160"/>
            <a:ext cx="2697480"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154680" y="1280160"/>
            <a:ext cx="73152" cy="2880360"/>
          </a:xfrm>
          <a:prstGeom prst="rect">
            <a:avLst/>
          </a:prstGeom>
          <a:solidFill>
            <a:srgbClr val="8A91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83280" y="1463040"/>
            <a:ext cx="2331720" cy="365760"/>
          </a:xfrm>
          <a:prstGeom prst="rect">
            <a:avLst/>
          </a:prstGeom>
          <a:noFill/>
        </p:spPr>
        <p:txBody>
          <a:bodyPr wrap="square" lIns="0" rIns="0" tIns="0" bIns="0" anchor="t">
            <a:spAutoFit/>
          </a:bodyPr>
          <a:lstStyle/>
          <a:p>
            <a:pPr algn="l"/>
            <a:r>
              <a:rPr sz="2200" b="1" i="0">
                <a:solidFill>
                  <a:srgbClr val="1A2540"/>
                </a:solidFill>
                <a:latin typeface="Georgia"/>
              </a:rPr>
              <a:t>v35</a:t>
            </a:r>
          </a:p>
        </p:txBody>
      </p:sp>
      <p:sp>
        <p:nvSpPr>
          <p:cNvPr id="14" name="TextBox 13"/>
          <p:cNvSpPr txBox="1"/>
          <p:nvPr/>
        </p:nvSpPr>
        <p:spPr>
          <a:xfrm>
            <a:off x="3383280" y="1920240"/>
            <a:ext cx="2331720" cy="320040"/>
          </a:xfrm>
          <a:prstGeom prst="rect">
            <a:avLst/>
          </a:prstGeom>
          <a:noFill/>
        </p:spPr>
        <p:txBody>
          <a:bodyPr wrap="square" lIns="0" rIns="0" tIns="0" bIns="0" anchor="t">
            <a:spAutoFit/>
          </a:bodyPr>
          <a:lstStyle/>
          <a:p>
            <a:pPr algn="l"/>
            <a:r>
              <a:rPr sz="1100" b="0" i="1">
                <a:solidFill>
                  <a:srgbClr val="8A9197"/>
                </a:solidFill>
                <a:latin typeface="Calibri"/>
              </a:rPr>
              <a:t>DenseNet-201, 128 native</a:t>
            </a:r>
          </a:p>
        </p:txBody>
      </p:sp>
      <p:sp>
        <p:nvSpPr>
          <p:cNvPr id="15" name="TextBox 14"/>
          <p:cNvSpPr txBox="1"/>
          <p:nvPr/>
        </p:nvSpPr>
        <p:spPr>
          <a:xfrm>
            <a:off x="3383280" y="2331720"/>
            <a:ext cx="2331720" cy="640080"/>
          </a:xfrm>
          <a:prstGeom prst="rect">
            <a:avLst/>
          </a:prstGeom>
          <a:noFill/>
        </p:spPr>
        <p:txBody>
          <a:bodyPr wrap="square" lIns="0" rIns="0" tIns="0" bIns="0" anchor="t">
            <a:spAutoFit/>
          </a:bodyPr>
          <a:lstStyle/>
          <a:p>
            <a:pPr algn="l"/>
            <a:r>
              <a:rPr sz="3200" b="1" i="0">
                <a:solidFill>
                  <a:srgbClr val="8A9197"/>
                </a:solidFill>
                <a:latin typeface="Georgia"/>
              </a:rPr>
              <a:t>queued</a:t>
            </a:r>
          </a:p>
        </p:txBody>
      </p:sp>
      <p:sp>
        <p:nvSpPr>
          <p:cNvPr id="16" name="TextBox 15"/>
          <p:cNvSpPr txBox="1"/>
          <p:nvPr/>
        </p:nvSpPr>
        <p:spPr>
          <a:xfrm>
            <a:off x="3383280" y="3154679"/>
            <a:ext cx="2331720" cy="822960"/>
          </a:xfrm>
          <a:prstGeom prst="rect">
            <a:avLst/>
          </a:prstGeom>
          <a:noFill/>
        </p:spPr>
        <p:txBody>
          <a:bodyPr wrap="square" lIns="0" rIns="0" tIns="0" bIns="0" anchor="t">
            <a:spAutoFit/>
          </a:bodyPr>
          <a:lstStyle/>
          <a:p>
            <a:pPr algn="l"/>
            <a:r>
              <a:rPr sz="1000" b="0" i="0">
                <a:solidFill>
                  <a:srgbClr val="1A2540"/>
                </a:solidFill>
                <a:latin typeface="Calibri"/>
              </a:rPr>
              <a:t>Deeper dense connectivity. Submitted, waiting on LB.</a:t>
            </a:r>
          </a:p>
        </p:txBody>
      </p:sp>
      <p:sp>
        <p:nvSpPr>
          <p:cNvPr id="17" name="Rectangle 16"/>
          <p:cNvSpPr/>
          <p:nvPr/>
        </p:nvSpPr>
        <p:spPr>
          <a:xfrm>
            <a:off x="5943600" y="1280160"/>
            <a:ext cx="2697480"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0" y="1280160"/>
            <a:ext cx="73152" cy="2880360"/>
          </a:xfrm>
          <a:prstGeom prst="rect">
            <a:avLst/>
          </a:prstGeom>
          <a:solidFill>
            <a:srgbClr val="8A91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72200" y="1463040"/>
            <a:ext cx="2331720" cy="365760"/>
          </a:xfrm>
          <a:prstGeom prst="rect">
            <a:avLst/>
          </a:prstGeom>
          <a:noFill/>
        </p:spPr>
        <p:txBody>
          <a:bodyPr wrap="square" lIns="0" rIns="0" tIns="0" bIns="0" anchor="t">
            <a:spAutoFit/>
          </a:bodyPr>
          <a:lstStyle/>
          <a:p>
            <a:pPr algn="l"/>
            <a:r>
              <a:rPr sz="2200" b="1" i="0">
                <a:solidFill>
                  <a:srgbClr val="1A2540"/>
                </a:solidFill>
                <a:latin typeface="Georgia"/>
              </a:rPr>
              <a:t>v36</a:t>
            </a:r>
          </a:p>
        </p:txBody>
      </p:sp>
      <p:sp>
        <p:nvSpPr>
          <p:cNvPr id="20" name="TextBox 19"/>
          <p:cNvSpPr txBox="1"/>
          <p:nvPr/>
        </p:nvSpPr>
        <p:spPr>
          <a:xfrm>
            <a:off x="6172200" y="1920240"/>
            <a:ext cx="2331720" cy="320040"/>
          </a:xfrm>
          <a:prstGeom prst="rect">
            <a:avLst/>
          </a:prstGeom>
          <a:noFill/>
        </p:spPr>
        <p:txBody>
          <a:bodyPr wrap="square" lIns="0" rIns="0" tIns="0" bIns="0" anchor="t">
            <a:spAutoFit/>
          </a:bodyPr>
          <a:lstStyle/>
          <a:p>
            <a:pPr algn="l"/>
            <a:r>
              <a:rPr sz="1100" b="0" i="1">
                <a:solidFill>
                  <a:srgbClr val="8A9197"/>
                </a:solidFill>
                <a:latin typeface="Calibri"/>
              </a:rPr>
              <a:t>SE-ResNet-50 + 20 ep</a:t>
            </a:r>
          </a:p>
        </p:txBody>
      </p:sp>
      <p:sp>
        <p:nvSpPr>
          <p:cNvPr id="21" name="TextBox 20"/>
          <p:cNvSpPr txBox="1"/>
          <p:nvPr/>
        </p:nvSpPr>
        <p:spPr>
          <a:xfrm>
            <a:off x="6172200" y="2331720"/>
            <a:ext cx="2331720" cy="640080"/>
          </a:xfrm>
          <a:prstGeom prst="rect">
            <a:avLst/>
          </a:prstGeom>
          <a:noFill/>
        </p:spPr>
        <p:txBody>
          <a:bodyPr wrap="square" lIns="0" rIns="0" tIns="0" bIns="0" anchor="t">
            <a:spAutoFit/>
          </a:bodyPr>
          <a:lstStyle/>
          <a:p>
            <a:pPr algn="l"/>
            <a:r>
              <a:rPr sz="3200" b="1" i="0">
                <a:solidFill>
                  <a:srgbClr val="8A9197"/>
                </a:solidFill>
                <a:latin typeface="Georgia"/>
              </a:rPr>
              <a:t>queued</a:t>
            </a:r>
          </a:p>
        </p:txBody>
      </p:sp>
      <p:sp>
        <p:nvSpPr>
          <p:cNvPr id="22" name="TextBox 21"/>
          <p:cNvSpPr txBox="1"/>
          <p:nvPr/>
        </p:nvSpPr>
        <p:spPr>
          <a:xfrm>
            <a:off x="6172200" y="3154679"/>
            <a:ext cx="2331720" cy="822960"/>
          </a:xfrm>
          <a:prstGeom prst="rect">
            <a:avLst/>
          </a:prstGeom>
          <a:noFill/>
        </p:spPr>
        <p:txBody>
          <a:bodyPr wrap="square" lIns="0" rIns="0" tIns="0" bIns="0" anchor="t">
            <a:spAutoFit/>
          </a:bodyPr>
          <a:lstStyle/>
          <a:p>
            <a:pPr algn="l"/>
            <a:r>
              <a:rPr sz="1000" b="0" i="0">
                <a:solidFill>
                  <a:srgbClr val="1A2540"/>
                </a:solidFill>
                <a:latin typeface="Calibri"/>
              </a:rPr>
              <a:t>Isolates whether channel attention closes the EffNet ↔ ResNet gap. EfficientNet has SE built in; plain ResNet does not.</a:t>
            </a:r>
          </a:p>
        </p:txBody>
      </p:sp>
      <p:sp>
        <p:nvSpPr>
          <p:cNvPr id="23" name="Rectangle 22"/>
          <p:cNvSpPr/>
          <p:nvPr/>
        </p:nvSpPr>
        <p:spPr>
          <a:xfrm>
            <a:off x="365760" y="4297680"/>
            <a:ext cx="8412480" cy="411480"/>
          </a:xfrm>
          <a:prstGeom prst="rect">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343400"/>
            <a:ext cx="8229600" cy="320040"/>
          </a:xfrm>
          <a:prstGeom prst="rect">
            <a:avLst/>
          </a:prstGeom>
          <a:noFill/>
        </p:spPr>
        <p:txBody>
          <a:bodyPr wrap="square" lIns="0" rIns="0" tIns="0" bIns="0" anchor="ctr">
            <a:spAutoFit/>
          </a:bodyPr>
          <a:lstStyle/>
          <a:p>
            <a:pPr algn="l"/>
            <a:r>
              <a:rPr sz="1200" b="0" i="1">
                <a:solidFill>
                  <a:srgbClr val="F5F0E8"/>
                </a:solidFill>
                <a:latin typeface="Georgia"/>
              </a:rPr>
              <a:t>Resolved by v34: v21's 0.7018 was the 224 upscale, not ResNet-50.</a:t>
            </a:r>
          </a:p>
        </p:txBody>
      </p:sp>
      <p:sp>
        <p:nvSpPr>
          <p:cNvPr id="25" name="TextBox 24"/>
          <p:cNvSpPr txBox="1"/>
          <p:nvPr/>
        </p:nvSpPr>
        <p:spPr>
          <a:xfrm>
            <a:off x="365760" y="4846320"/>
            <a:ext cx="5486400" cy="228600"/>
          </a:xfrm>
          <a:prstGeom prst="rect">
            <a:avLst/>
          </a:prstGeom>
          <a:noFill/>
        </p:spPr>
        <p:txBody>
          <a:bodyPr wrap="square" lIns="0" rIns="0" tIns="0" bIns="0" anchor="t">
            <a:spAutoFit/>
          </a:bodyPr>
          <a:lstStyle/>
          <a:p>
            <a:pPr algn="l"/>
            <a:r>
              <a:rPr sz="900" b="0" i="0">
                <a:solidFill>
                  <a:srgbClr val="8A9197"/>
                </a:solidFill>
                <a:latin typeface="Calibri"/>
              </a:rPr>
              <a:t>Multimodal Cancer Cell Classification  ·  Uppsala 1MD042 A3</a:t>
            </a:r>
          </a:p>
        </p:txBody>
      </p:sp>
      <p:sp>
        <p:nvSpPr>
          <p:cNvPr id="26" name="TextBox 25"/>
          <p:cNvSpPr txBox="1"/>
          <p:nvPr/>
        </p:nvSpPr>
        <p:spPr>
          <a:xfrm>
            <a:off x="7772400" y="4846320"/>
            <a:ext cx="1097280" cy="228600"/>
          </a:xfrm>
          <a:prstGeom prst="rect">
            <a:avLst/>
          </a:prstGeom>
          <a:noFill/>
        </p:spPr>
        <p:txBody>
          <a:bodyPr wrap="square" lIns="0" rIns="0" tIns="0" bIns="0" anchor="t">
            <a:spAutoFit/>
          </a:bodyPr>
          <a:lstStyle/>
          <a:p>
            <a:pPr algn="r"/>
            <a:r>
              <a:rPr sz="900" b="0" i="0">
                <a:solidFill>
                  <a:srgbClr val="8A9197"/>
                </a:solidFill>
                <a:latin typeface="Calibri"/>
              </a:rP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Rectangle 1"/>
          <p:cNvSpPr/>
          <p:nvPr/>
        </p:nvSpPr>
        <p:spPr>
          <a:xfrm>
            <a:off x="0" y="0"/>
            <a:ext cx="73152" cy="5143500"/>
          </a:xfrm>
          <a:prstGeom prst="rect">
            <a:avLst/>
          </a:prstGeom>
          <a:solidFill>
            <a:srgbClr val="E07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20040"/>
            <a:ext cx="8229600" cy="274320"/>
          </a:xfrm>
          <a:prstGeom prst="rect">
            <a:avLst/>
          </a:prstGeom>
          <a:noFill/>
        </p:spPr>
        <p:txBody>
          <a:bodyPr wrap="square" lIns="0" rIns="0" tIns="0" bIns="0" anchor="t">
            <a:spAutoFit/>
          </a:bodyPr>
          <a:lstStyle/>
          <a:p>
            <a:pPr algn="l"/>
            <a:r>
              <a:rPr sz="1100" b="1" i="0">
                <a:solidFill>
                  <a:srgbClr val="E07856"/>
                </a:solidFill>
                <a:latin typeface="Calibri"/>
              </a:rPr>
              <a:t>EVIDENCE</a:t>
            </a:r>
          </a:p>
        </p:txBody>
      </p:sp>
      <p:sp>
        <p:nvSpPr>
          <p:cNvPr id="4" name="TextBox 3"/>
          <p:cNvSpPr txBox="1"/>
          <p:nvPr/>
        </p:nvSpPr>
        <p:spPr>
          <a:xfrm>
            <a:off x="365760" y="612647"/>
            <a:ext cx="8229600" cy="640080"/>
          </a:xfrm>
          <a:prstGeom prst="rect">
            <a:avLst/>
          </a:prstGeom>
          <a:noFill/>
        </p:spPr>
        <p:txBody>
          <a:bodyPr wrap="square" lIns="0" rIns="0" tIns="0" bIns="0" anchor="t">
            <a:spAutoFit/>
          </a:bodyPr>
          <a:lstStyle/>
          <a:p>
            <a:pPr algn="l"/>
            <a:r>
              <a:rPr sz="2800" b="1" i="0">
                <a:solidFill>
                  <a:srgbClr val="1A2540"/>
                </a:solidFill>
                <a:latin typeface="Georgia"/>
              </a:rPr>
              <a:t>Learning curves — v19 (LB 0.7455)</a:t>
            </a:r>
          </a:p>
        </p:txBody>
      </p:sp>
      <p:pic>
        <p:nvPicPr>
          <p:cNvPr id="5" name="Picture 4" descr="learning_curves.png"/>
          <p:cNvPicPr>
            <a:picLocks noChangeAspect="1"/>
          </p:cNvPicPr>
          <p:nvPr/>
        </p:nvPicPr>
        <p:blipFill>
          <a:blip r:embed="rId2"/>
          <a:stretch>
            <a:fillRect/>
          </a:stretch>
        </p:blipFill>
        <p:spPr>
          <a:xfrm>
            <a:off x="457200" y="1280160"/>
            <a:ext cx="5486400" cy="1445094"/>
          </a:xfrm>
          <a:prstGeom prst="rect">
            <a:avLst/>
          </a:prstGeom>
        </p:spPr>
      </p:pic>
      <p:sp>
        <p:nvSpPr>
          <p:cNvPr id="6" name="TextBox 5"/>
          <p:cNvSpPr txBox="1"/>
          <p:nvPr/>
        </p:nvSpPr>
        <p:spPr>
          <a:xfrm>
            <a:off x="6309360" y="1280160"/>
            <a:ext cx="2743200" cy="320040"/>
          </a:xfrm>
          <a:prstGeom prst="rect">
            <a:avLst/>
          </a:prstGeom>
          <a:noFill/>
        </p:spPr>
        <p:txBody>
          <a:bodyPr wrap="square" lIns="0" rIns="0" tIns="0" bIns="0" anchor="t">
            <a:spAutoFit/>
          </a:bodyPr>
          <a:lstStyle/>
          <a:p>
            <a:pPr algn="l"/>
            <a:r>
              <a:rPr sz="1200" b="1" i="0">
                <a:solidFill>
                  <a:srgbClr val="E07856"/>
                </a:solidFill>
                <a:latin typeface="Calibri"/>
              </a:rPr>
              <a:t>What to notice</a:t>
            </a:r>
          </a:p>
        </p:txBody>
      </p:sp>
      <p:sp>
        <p:nvSpPr>
          <p:cNvPr id="7" name="TextBox 6"/>
          <p:cNvSpPr txBox="1"/>
          <p:nvPr/>
        </p:nvSpPr>
        <p:spPr>
          <a:xfrm>
            <a:off x="6309360" y="1627632"/>
            <a:ext cx="2743200" cy="3200400"/>
          </a:xfrm>
          <a:prstGeom prst="rect">
            <a:avLst/>
          </a:prstGeom>
          <a:noFill/>
        </p:spPr>
        <p:txBody>
          <a:bodyPr wrap="square" lIns="0" rIns="0" tIns="0" bIns="0">
            <a:spAutoFit/>
          </a:bodyPr>
          <a:lstStyle/>
          <a:p>
            <a:pPr algn="l">
              <a:lnSpc>
                <a:spcPct val="115000"/>
              </a:lnSpc>
            </a:pPr>
            <a:r>
              <a:rPr sz="1100" b="1">
                <a:solidFill>
                  <a:srgbClr val="E07856"/>
                </a:solidFill>
                <a:latin typeface="Calibri"/>
              </a:rPr>
              <a:t>— </a:t>
            </a:r>
            <a:r>
              <a:rPr sz="1100">
                <a:solidFill>
                  <a:srgbClr val="1A2540"/>
                </a:solidFill>
                <a:latin typeface="Calibri"/>
              </a:rPr>
              <a:t>Train and val track each other through training</a:t>
            </a:r>
          </a:p>
          <a:p>
            <a:pPr algn="l">
              <a:lnSpc>
                <a:spcPct val="115000"/>
              </a:lnSpc>
            </a:pPr>
            <a:r>
              <a:rPr sz="1100" b="1">
                <a:solidFill>
                  <a:srgbClr val="E07856"/>
                </a:solidFill>
                <a:latin typeface="Calibri"/>
              </a:rPr>
              <a:t>— </a:t>
            </a:r>
            <a:r>
              <a:rPr sz="1100">
                <a:solidFill>
                  <a:srgbClr val="1A2540"/>
                </a:solidFill>
                <a:latin typeface="Calibri"/>
              </a:rPr>
              <a:t>No early peak → no OOD overfit signal at the patient level seen during CV</a:t>
            </a:r>
          </a:p>
          <a:p>
            <a:pPr algn="l">
              <a:lnSpc>
                <a:spcPct val="115000"/>
              </a:lnSpc>
            </a:pPr>
            <a:r>
              <a:rPr sz="1100" b="1">
                <a:solidFill>
                  <a:srgbClr val="E07856"/>
                </a:solidFill>
                <a:latin typeface="Calibri"/>
              </a:rPr>
              <a:t>— </a:t>
            </a:r>
            <a:r>
              <a:rPr sz="1100">
                <a:solidFill>
                  <a:srgbClr val="1A2540"/>
                </a:solidFill>
                <a:latin typeface="Calibri"/>
              </a:rPr>
              <a:t>Stable convergence at ep ≈10</a:t>
            </a:r>
          </a:p>
          <a:p>
            <a:pPr algn="l">
              <a:lnSpc>
                <a:spcPct val="115000"/>
              </a:lnSpc>
            </a:pPr>
            <a:r>
              <a:rPr sz="1100" b="1">
                <a:solidFill>
                  <a:srgbClr val="E07856"/>
                </a:solidFill>
                <a:latin typeface="Calibri"/>
              </a:rPr>
              <a:t>— </a:t>
            </a:r>
            <a:r>
              <a:rPr sz="1100">
                <a:solidFill>
                  <a:srgbClr val="1A2540"/>
                </a:solidFill>
                <a:latin typeface="Calibri"/>
              </a:rPr>
              <a:t>Yet the LB sits 0.04 below CV — the remaining OOD gap that LOPO cannot expose</a:t>
            </a:r>
          </a:p>
        </p:txBody>
      </p:sp>
      <p:sp>
        <p:nvSpPr>
          <p:cNvPr id="8" name="TextBox 7"/>
          <p:cNvSpPr txBox="1"/>
          <p:nvPr/>
        </p:nvSpPr>
        <p:spPr>
          <a:xfrm>
            <a:off x="365760" y="4846320"/>
            <a:ext cx="5486400" cy="228600"/>
          </a:xfrm>
          <a:prstGeom prst="rect">
            <a:avLst/>
          </a:prstGeom>
          <a:noFill/>
        </p:spPr>
        <p:txBody>
          <a:bodyPr wrap="square" lIns="0" rIns="0" tIns="0" bIns="0" anchor="t">
            <a:spAutoFit/>
          </a:bodyPr>
          <a:lstStyle/>
          <a:p>
            <a:pPr algn="l"/>
            <a:r>
              <a:rPr sz="900" b="0" i="0">
                <a:solidFill>
                  <a:srgbClr val="8A9197"/>
                </a:solidFill>
                <a:latin typeface="Calibri"/>
              </a:rPr>
              <a:t>Multimodal Cancer Cell Classification  ·  Uppsala 1MD042 A3</a:t>
            </a:r>
          </a:p>
        </p:txBody>
      </p:sp>
      <p:sp>
        <p:nvSpPr>
          <p:cNvPr id="9" name="TextBox 8"/>
          <p:cNvSpPr txBox="1"/>
          <p:nvPr/>
        </p:nvSpPr>
        <p:spPr>
          <a:xfrm>
            <a:off x="7772400" y="4846320"/>
            <a:ext cx="1097280" cy="228600"/>
          </a:xfrm>
          <a:prstGeom prst="rect">
            <a:avLst/>
          </a:prstGeom>
          <a:noFill/>
        </p:spPr>
        <p:txBody>
          <a:bodyPr wrap="square" lIns="0" rIns="0" tIns="0" bIns="0" anchor="t">
            <a:spAutoFit/>
          </a:bodyPr>
          <a:lstStyle/>
          <a:p>
            <a:pPr algn="r"/>
            <a:r>
              <a:rPr sz="900" b="0" i="0">
                <a:solidFill>
                  <a:srgbClr val="8A9197"/>
                </a:solidFill>
                <a:latin typeface="Calibri"/>
              </a:rP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Rectangle 1"/>
          <p:cNvSpPr/>
          <p:nvPr/>
        </p:nvSpPr>
        <p:spPr>
          <a:xfrm>
            <a:off x="0" y="0"/>
            <a:ext cx="73152" cy="5143500"/>
          </a:xfrm>
          <a:prstGeom prst="rect">
            <a:avLst/>
          </a:prstGeom>
          <a:solidFill>
            <a:srgbClr val="E07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20040"/>
            <a:ext cx="8229600" cy="274320"/>
          </a:xfrm>
          <a:prstGeom prst="rect">
            <a:avLst/>
          </a:prstGeom>
          <a:noFill/>
        </p:spPr>
        <p:txBody>
          <a:bodyPr wrap="square" lIns="0" rIns="0" tIns="0" bIns="0" anchor="t">
            <a:spAutoFit/>
          </a:bodyPr>
          <a:lstStyle/>
          <a:p>
            <a:pPr algn="l"/>
            <a:r>
              <a:rPr sz="1100" b="1" i="0">
                <a:solidFill>
                  <a:srgbClr val="E07856"/>
                </a:solidFill>
                <a:latin typeface="Calibri"/>
              </a:rPr>
              <a:t>THE PLAN</a:t>
            </a:r>
          </a:p>
        </p:txBody>
      </p:sp>
      <p:sp>
        <p:nvSpPr>
          <p:cNvPr id="4" name="TextBox 3"/>
          <p:cNvSpPr txBox="1"/>
          <p:nvPr/>
        </p:nvSpPr>
        <p:spPr>
          <a:xfrm>
            <a:off x="365760" y="612647"/>
            <a:ext cx="8229600" cy="640080"/>
          </a:xfrm>
          <a:prstGeom prst="rect">
            <a:avLst/>
          </a:prstGeom>
          <a:noFill/>
        </p:spPr>
        <p:txBody>
          <a:bodyPr wrap="square" lIns="0" rIns="0" tIns="0" bIns="0" anchor="t">
            <a:spAutoFit/>
          </a:bodyPr>
          <a:lstStyle/>
          <a:p>
            <a:pPr algn="l"/>
            <a:r>
              <a:rPr sz="2800" b="1" i="0">
                <a:solidFill>
                  <a:srgbClr val="1A2540"/>
                </a:solidFill>
                <a:latin typeface="Georgia"/>
              </a:rPr>
              <a:t>Final-submission strategy</a:t>
            </a:r>
          </a:p>
        </p:txBody>
      </p:sp>
      <p:sp>
        <p:nvSpPr>
          <p:cNvPr id="5" name="TextBox 4"/>
          <p:cNvSpPr txBox="1"/>
          <p:nvPr/>
        </p:nvSpPr>
        <p:spPr>
          <a:xfrm>
            <a:off x="365760" y="1280160"/>
            <a:ext cx="4572000" cy="320040"/>
          </a:xfrm>
          <a:prstGeom prst="rect">
            <a:avLst/>
          </a:prstGeom>
          <a:noFill/>
        </p:spPr>
        <p:txBody>
          <a:bodyPr wrap="square" lIns="0" rIns="0" tIns="0" bIns="0" anchor="t">
            <a:spAutoFit/>
          </a:bodyPr>
          <a:lstStyle/>
          <a:p>
            <a:pPr algn="l"/>
            <a:r>
              <a:rPr sz="1200" b="1" i="0">
                <a:solidFill>
                  <a:srgbClr val="E07856"/>
                </a:solidFill>
                <a:latin typeface="Calibri"/>
              </a:rPr>
              <a:t>Kaggle lets us pick 2 for private LB</a:t>
            </a:r>
          </a:p>
        </p:txBody>
      </p:sp>
      <p:sp>
        <p:nvSpPr>
          <p:cNvPr id="6" name="Rectangle 5"/>
          <p:cNvSpPr/>
          <p:nvPr/>
        </p:nvSpPr>
        <p:spPr>
          <a:xfrm>
            <a:off x="365760" y="1645920"/>
            <a:ext cx="4937760" cy="1188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645920"/>
            <a:ext cx="73152" cy="1188720"/>
          </a:xfrm>
          <a:prstGeom prst="rect">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755648"/>
            <a:ext cx="640080" cy="365760"/>
          </a:xfrm>
          <a:prstGeom prst="rect">
            <a:avLst/>
          </a:prstGeom>
          <a:noFill/>
        </p:spPr>
        <p:txBody>
          <a:bodyPr wrap="square" lIns="0" rIns="0" tIns="0" bIns="0" anchor="t">
            <a:spAutoFit/>
          </a:bodyPr>
          <a:lstStyle/>
          <a:p>
            <a:pPr algn="l"/>
            <a:r>
              <a:rPr sz="2200" b="1" i="0">
                <a:solidFill>
                  <a:srgbClr val="E07856"/>
                </a:solidFill>
                <a:latin typeface="Georgia"/>
              </a:rPr>
              <a:t>01</a:t>
            </a:r>
          </a:p>
        </p:txBody>
      </p:sp>
      <p:sp>
        <p:nvSpPr>
          <p:cNvPr id="9" name="TextBox 8"/>
          <p:cNvSpPr txBox="1"/>
          <p:nvPr/>
        </p:nvSpPr>
        <p:spPr>
          <a:xfrm>
            <a:off x="1234440" y="1755648"/>
            <a:ext cx="3657600" cy="365760"/>
          </a:xfrm>
          <a:prstGeom prst="rect">
            <a:avLst/>
          </a:prstGeom>
          <a:noFill/>
        </p:spPr>
        <p:txBody>
          <a:bodyPr wrap="square" lIns="0" rIns="0" tIns="0" bIns="0" anchor="t">
            <a:spAutoFit/>
          </a:bodyPr>
          <a:lstStyle/>
          <a:p>
            <a:pPr algn="l"/>
            <a:r>
              <a:rPr sz="1400" b="1" i="0">
                <a:solidFill>
                  <a:srgbClr val="1A2540"/>
                </a:solidFill>
                <a:latin typeface="Calibri"/>
              </a:rPr>
              <a:t>v19 — the safety net</a:t>
            </a:r>
          </a:p>
        </p:txBody>
      </p:sp>
      <p:sp>
        <p:nvSpPr>
          <p:cNvPr id="10" name="TextBox 9"/>
          <p:cNvSpPr txBox="1"/>
          <p:nvPr/>
        </p:nvSpPr>
        <p:spPr>
          <a:xfrm>
            <a:off x="548640" y="2194560"/>
            <a:ext cx="4663440" cy="640080"/>
          </a:xfrm>
          <a:prstGeom prst="rect">
            <a:avLst/>
          </a:prstGeom>
          <a:noFill/>
        </p:spPr>
        <p:txBody>
          <a:bodyPr wrap="square" lIns="0" rIns="0" tIns="0" bIns="0" anchor="t">
            <a:spAutoFit/>
          </a:bodyPr>
          <a:lstStyle/>
          <a:p>
            <a:pPr algn="l"/>
            <a:r>
              <a:rPr sz="1100" b="0" i="0">
                <a:solidFill>
                  <a:srgbClr val="8A9197"/>
                </a:solidFill>
                <a:latin typeface="Calibri"/>
              </a:rPr>
              <a:t>Known public LB 0.7455. Our best confirmed single model. We don't gamble pick 1.</a:t>
            </a:r>
          </a:p>
        </p:txBody>
      </p:sp>
      <p:sp>
        <p:nvSpPr>
          <p:cNvPr id="11" name="Rectangle 10"/>
          <p:cNvSpPr/>
          <p:nvPr/>
        </p:nvSpPr>
        <p:spPr>
          <a:xfrm>
            <a:off x="365760" y="2971800"/>
            <a:ext cx="4937760" cy="1188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971800"/>
            <a:ext cx="73152" cy="1188720"/>
          </a:xfrm>
          <a:prstGeom prst="rect">
            <a:avLst/>
          </a:prstGeom>
          <a:solidFill>
            <a:srgbClr val="E07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081528"/>
            <a:ext cx="640080" cy="365760"/>
          </a:xfrm>
          <a:prstGeom prst="rect">
            <a:avLst/>
          </a:prstGeom>
          <a:noFill/>
        </p:spPr>
        <p:txBody>
          <a:bodyPr wrap="square" lIns="0" rIns="0" tIns="0" bIns="0" anchor="t">
            <a:spAutoFit/>
          </a:bodyPr>
          <a:lstStyle/>
          <a:p>
            <a:pPr algn="l"/>
            <a:r>
              <a:rPr sz="2200" b="1" i="0">
                <a:solidFill>
                  <a:srgbClr val="E07856"/>
                </a:solidFill>
                <a:latin typeface="Georgia"/>
              </a:rPr>
              <a:t>02</a:t>
            </a:r>
          </a:p>
        </p:txBody>
      </p:sp>
      <p:sp>
        <p:nvSpPr>
          <p:cNvPr id="14" name="TextBox 13"/>
          <p:cNvSpPr txBox="1"/>
          <p:nvPr/>
        </p:nvSpPr>
        <p:spPr>
          <a:xfrm>
            <a:off x="1234440" y="3081528"/>
            <a:ext cx="3657600" cy="365760"/>
          </a:xfrm>
          <a:prstGeom prst="rect">
            <a:avLst/>
          </a:prstGeom>
          <a:noFill/>
        </p:spPr>
        <p:txBody>
          <a:bodyPr wrap="square" lIns="0" rIns="0" tIns="0" bIns="0" anchor="t">
            <a:spAutoFit/>
          </a:bodyPr>
          <a:lstStyle/>
          <a:p>
            <a:pPr algn="l"/>
            <a:r>
              <a:rPr sz="1400" b="1" i="0">
                <a:solidFill>
                  <a:srgbClr val="1A2540"/>
                </a:solidFill>
                <a:latin typeface="Calibri"/>
              </a:rPr>
              <a:t>Best of {v34, v35, v36}</a:t>
            </a:r>
          </a:p>
        </p:txBody>
      </p:sp>
      <p:sp>
        <p:nvSpPr>
          <p:cNvPr id="15" name="TextBox 14"/>
          <p:cNvSpPr txBox="1"/>
          <p:nvPr/>
        </p:nvSpPr>
        <p:spPr>
          <a:xfrm>
            <a:off x="548640" y="3520440"/>
            <a:ext cx="4663440" cy="640080"/>
          </a:xfrm>
          <a:prstGeom prst="rect">
            <a:avLst/>
          </a:prstGeom>
          <a:noFill/>
        </p:spPr>
        <p:txBody>
          <a:bodyPr wrap="square" lIns="0" rIns="0" tIns="0" bIns="0" anchor="t">
            <a:spAutoFit/>
          </a:bodyPr>
          <a:lstStyle/>
          <a:p>
            <a:pPr algn="l"/>
            <a:r>
              <a:rPr sz="1100" b="0" i="0">
                <a:solidFill>
                  <a:srgbClr val="8A9197"/>
                </a:solidFill>
                <a:latin typeface="Calibri"/>
              </a:rPr>
              <a:t>Clean backbone-comparison shot. If all three underperform v19, we pick v19 twice and still report the experiment honestly.</a:t>
            </a:r>
          </a:p>
        </p:txBody>
      </p:sp>
      <p:sp>
        <p:nvSpPr>
          <p:cNvPr id="16" name="TextBox 15"/>
          <p:cNvSpPr txBox="1"/>
          <p:nvPr/>
        </p:nvSpPr>
        <p:spPr>
          <a:xfrm>
            <a:off x="5486400" y="1280160"/>
            <a:ext cx="3291840" cy="320040"/>
          </a:xfrm>
          <a:prstGeom prst="rect">
            <a:avLst/>
          </a:prstGeom>
          <a:noFill/>
        </p:spPr>
        <p:txBody>
          <a:bodyPr wrap="square" lIns="0" rIns="0" tIns="0" bIns="0" anchor="t">
            <a:spAutoFit/>
          </a:bodyPr>
          <a:lstStyle/>
          <a:p>
            <a:pPr algn="l"/>
            <a:r>
              <a:rPr sz="1200" b="1" i="0">
                <a:solidFill>
                  <a:srgbClr val="E07856"/>
                </a:solidFill>
                <a:latin typeface="Calibri"/>
              </a:rPr>
              <a:t>LB position</a:t>
            </a:r>
          </a:p>
        </p:txBody>
      </p:sp>
      <p:sp>
        <p:nvSpPr>
          <p:cNvPr id="17" name="Rectangle 16"/>
          <p:cNvSpPr/>
          <p:nvPr/>
        </p:nvSpPr>
        <p:spPr>
          <a:xfrm>
            <a:off x="5852160" y="1691640"/>
            <a:ext cx="365760" cy="2468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97296" y="1807037"/>
            <a:ext cx="475488" cy="45720"/>
          </a:xfrm>
          <a:prstGeom prst="rect">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1665305"/>
            <a:ext cx="2743200" cy="292608"/>
          </a:xfrm>
          <a:prstGeom prst="rect">
            <a:avLst/>
          </a:prstGeom>
          <a:noFill/>
        </p:spPr>
        <p:txBody>
          <a:bodyPr wrap="square" lIns="0" rIns="0" tIns="0" bIns="0" anchor="t">
            <a:spAutoFit/>
          </a:bodyPr>
          <a:lstStyle/>
          <a:p>
            <a:pPr algn="l"/>
            <a:r>
              <a:rPr sz="1100" b="1" i="0">
                <a:solidFill>
                  <a:srgbClr val="1A2540"/>
                </a:solidFill>
                <a:latin typeface="Calibri"/>
              </a:rPr>
              <a:t>0.7832  leader</a:t>
            </a:r>
          </a:p>
        </p:txBody>
      </p:sp>
      <p:sp>
        <p:nvSpPr>
          <p:cNvPr id="20" name="Rectangle 19"/>
          <p:cNvSpPr/>
          <p:nvPr/>
        </p:nvSpPr>
        <p:spPr>
          <a:xfrm>
            <a:off x="5797296" y="2117293"/>
            <a:ext cx="475488" cy="45720"/>
          </a:xfrm>
          <a:prstGeom prst="rect">
            <a:avLst/>
          </a:prstGeom>
          <a:solidFill>
            <a:srgbClr val="E07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1975561"/>
            <a:ext cx="2743200" cy="292608"/>
          </a:xfrm>
          <a:prstGeom prst="rect">
            <a:avLst/>
          </a:prstGeom>
          <a:noFill/>
        </p:spPr>
        <p:txBody>
          <a:bodyPr wrap="square" lIns="0" rIns="0" tIns="0" bIns="0" anchor="t">
            <a:spAutoFit/>
          </a:bodyPr>
          <a:lstStyle/>
          <a:p>
            <a:pPr algn="l"/>
            <a:r>
              <a:rPr sz="1100" b="1" i="0">
                <a:solidFill>
                  <a:srgbClr val="E07856"/>
                </a:solidFill>
                <a:latin typeface="Calibri"/>
              </a:rPr>
              <a:t>0.7455  v19 (ours)</a:t>
            </a:r>
          </a:p>
        </p:txBody>
      </p:sp>
      <p:sp>
        <p:nvSpPr>
          <p:cNvPr id="22" name="Rectangle 21"/>
          <p:cNvSpPr/>
          <p:nvPr/>
        </p:nvSpPr>
        <p:spPr>
          <a:xfrm>
            <a:off x="5797296" y="2364181"/>
            <a:ext cx="475488" cy="45720"/>
          </a:xfrm>
          <a:prstGeom prst="rect">
            <a:avLst/>
          </a:prstGeom>
          <a:solidFill>
            <a:srgbClr val="2E52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2222449"/>
            <a:ext cx="2743200" cy="292608"/>
          </a:xfrm>
          <a:prstGeom prst="rect">
            <a:avLst/>
          </a:prstGeom>
          <a:noFill/>
        </p:spPr>
        <p:txBody>
          <a:bodyPr wrap="square" lIns="0" rIns="0" tIns="0" bIns="0" anchor="t">
            <a:spAutoFit/>
          </a:bodyPr>
          <a:lstStyle/>
          <a:p>
            <a:pPr algn="l"/>
            <a:r>
              <a:rPr sz="1100" b="1" i="0">
                <a:solidFill>
                  <a:srgbClr val="2E5266"/>
                </a:solidFill>
                <a:latin typeface="Calibri"/>
              </a:rPr>
              <a:t>0.7155  v34</a:t>
            </a:r>
          </a:p>
        </p:txBody>
      </p:sp>
      <p:sp>
        <p:nvSpPr>
          <p:cNvPr id="24" name="TextBox 23"/>
          <p:cNvSpPr txBox="1"/>
          <p:nvPr/>
        </p:nvSpPr>
        <p:spPr>
          <a:xfrm>
            <a:off x="6355080" y="4206240"/>
            <a:ext cx="2743200" cy="292608"/>
          </a:xfrm>
          <a:prstGeom prst="rect">
            <a:avLst/>
          </a:prstGeom>
          <a:noFill/>
        </p:spPr>
        <p:txBody>
          <a:bodyPr wrap="square" lIns="0" rIns="0" tIns="0" bIns="0" anchor="t">
            <a:spAutoFit/>
          </a:bodyPr>
          <a:lstStyle/>
          <a:p>
            <a:pPr algn="l"/>
            <a:r>
              <a:rPr sz="1000" b="0" i="1">
                <a:solidFill>
                  <a:srgbClr val="8A9197"/>
                </a:solidFill>
                <a:latin typeface="Calibri"/>
              </a:rPr>
              <a:t>0.503  v16 (random baseline)</a:t>
            </a:r>
          </a:p>
        </p:txBody>
      </p:sp>
      <p:sp>
        <p:nvSpPr>
          <p:cNvPr id="25" name="TextBox 24"/>
          <p:cNvSpPr txBox="1"/>
          <p:nvPr/>
        </p:nvSpPr>
        <p:spPr>
          <a:xfrm>
            <a:off x="5349240" y="1618488"/>
            <a:ext cx="457200" cy="274320"/>
          </a:xfrm>
          <a:prstGeom prst="rect">
            <a:avLst/>
          </a:prstGeom>
          <a:noFill/>
        </p:spPr>
        <p:txBody>
          <a:bodyPr wrap="square" lIns="0" rIns="0" tIns="0" bIns="0" anchor="t">
            <a:spAutoFit/>
          </a:bodyPr>
          <a:lstStyle/>
          <a:p>
            <a:pPr algn="r"/>
            <a:r>
              <a:rPr sz="800" b="0" i="0">
                <a:solidFill>
                  <a:srgbClr val="8A9197"/>
                </a:solidFill>
                <a:latin typeface="Calibri"/>
              </a:rPr>
              <a:t>0.80</a:t>
            </a:r>
          </a:p>
        </p:txBody>
      </p:sp>
      <p:sp>
        <p:nvSpPr>
          <p:cNvPr id="26" name="TextBox 25"/>
          <p:cNvSpPr txBox="1"/>
          <p:nvPr/>
        </p:nvSpPr>
        <p:spPr>
          <a:xfrm>
            <a:off x="5349240" y="4069080"/>
            <a:ext cx="457200" cy="274320"/>
          </a:xfrm>
          <a:prstGeom prst="rect">
            <a:avLst/>
          </a:prstGeom>
          <a:noFill/>
        </p:spPr>
        <p:txBody>
          <a:bodyPr wrap="square" lIns="0" rIns="0" tIns="0" bIns="0" anchor="t">
            <a:spAutoFit/>
          </a:bodyPr>
          <a:lstStyle/>
          <a:p>
            <a:pPr algn="r"/>
            <a:r>
              <a:rPr sz="800" b="0" i="0">
                <a:solidFill>
                  <a:srgbClr val="8A9197"/>
                </a:solidFill>
                <a:latin typeface="Calibri"/>
              </a:rPr>
              <a:t>0.50</a:t>
            </a:r>
          </a:p>
        </p:txBody>
      </p:sp>
      <p:sp>
        <p:nvSpPr>
          <p:cNvPr id="27" name="TextBox 26"/>
          <p:cNvSpPr txBox="1"/>
          <p:nvPr/>
        </p:nvSpPr>
        <p:spPr>
          <a:xfrm>
            <a:off x="365760" y="4846320"/>
            <a:ext cx="5486400" cy="228600"/>
          </a:xfrm>
          <a:prstGeom prst="rect">
            <a:avLst/>
          </a:prstGeom>
          <a:noFill/>
        </p:spPr>
        <p:txBody>
          <a:bodyPr wrap="square" lIns="0" rIns="0" tIns="0" bIns="0" anchor="t">
            <a:spAutoFit/>
          </a:bodyPr>
          <a:lstStyle/>
          <a:p>
            <a:pPr algn="l"/>
            <a:r>
              <a:rPr sz="900" b="0" i="0">
                <a:solidFill>
                  <a:srgbClr val="8A9197"/>
                </a:solidFill>
                <a:latin typeface="Calibri"/>
              </a:rPr>
              <a:t>Multimodal Cancer Cell Classification  ·  Uppsala 1MD042 A3</a:t>
            </a:r>
          </a:p>
        </p:txBody>
      </p:sp>
      <p:sp>
        <p:nvSpPr>
          <p:cNvPr id="28" name="TextBox 27"/>
          <p:cNvSpPr txBox="1"/>
          <p:nvPr/>
        </p:nvSpPr>
        <p:spPr>
          <a:xfrm>
            <a:off x="7772400" y="4846320"/>
            <a:ext cx="1097280" cy="228600"/>
          </a:xfrm>
          <a:prstGeom prst="rect">
            <a:avLst/>
          </a:prstGeom>
          <a:noFill/>
        </p:spPr>
        <p:txBody>
          <a:bodyPr wrap="square" lIns="0" rIns="0" tIns="0" bIns="0" anchor="t">
            <a:spAutoFit/>
          </a:bodyPr>
          <a:lstStyle/>
          <a:p>
            <a:pPr algn="r"/>
            <a:r>
              <a:rPr sz="900" b="0" i="0">
                <a:solidFill>
                  <a:srgbClr val="8A9197"/>
                </a:solidFill>
                <a:latin typeface="Calibri"/>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Rectangle 1"/>
          <p:cNvSpPr/>
          <p:nvPr/>
        </p:nvSpPr>
        <p:spPr>
          <a:xfrm>
            <a:off x="0" y="0"/>
            <a:ext cx="73152" cy="5143500"/>
          </a:xfrm>
          <a:prstGeom prst="rect">
            <a:avLst/>
          </a:prstGeom>
          <a:solidFill>
            <a:srgbClr val="E07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20040"/>
            <a:ext cx="8229600" cy="274320"/>
          </a:xfrm>
          <a:prstGeom prst="rect">
            <a:avLst/>
          </a:prstGeom>
          <a:noFill/>
        </p:spPr>
        <p:txBody>
          <a:bodyPr wrap="square" lIns="0" rIns="0" tIns="0" bIns="0" anchor="t">
            <a:spAutoFit/>
          </a:bodyPr>
          <a:lstStyle/>
          <a:p>
            <a:pPr algn="l"/>
            <a:r>
              <a:rPr sz="1100" b="1" i="0">
                <a:solidFill>
                  <a:srgbClr val="E07856"/>
                </a:solidFill>
                <a:latin typeface="Calibri"/>
              </a:rPr>
              <a:t>POSTSCRIPT  ·  V41 → V47</a:t>
            </a:r>
          </a:p>
        </p:txBody>
      </p:sp>
      <p:sp>
        <p:nvSpPr>
          <p:cNvPr id="4" name="TextBox 3"/>
          <p:cNvSpPr txBox="1"/>
          <p:nvPr/>
        </p:nvSpPr>
        <p:spPr>
          <a:xfrm>
            <a:off x="365760" y="612647"/>
            <a:ext cx="8229600" cy="640080"/>
          </a:xfrm>
          <a:prstGeom prst="rect">
            <a:avLst/>
          </a:prstGeom>
          <a:noFill/>
        </p:spPr>
        <p:txBody>
          <a:bodyPr wrap="square" lIns="0" rIns="0" tIns="0" bIns="0" anchor="t">
            <a:spAutoFit/>
          </a:bodyPr>
          <a:lstStyle/>
          <a:p>
            <a:pPr algn="l"/>
            <a:r>
              <a:rPr sz="2800" b="1" i="0">
                <a:solidFill>
                  <a:srgbClr val="1A2540"/>
                </a:solidFill>
                <a:latin typeface="Georgia"/>
              </a:rPr>
              <a:t>Act 5: the semi-supervised pivot took us to #1</a:t>
            </a:r>
          </a:p>
        </p:txBody>
      </p:sp>
      <p:pic>
        <p:nvPicPr>
          <p:cNvPr id="5" name="Picture 4" descr="lb_progression.png"/>
          <p:cNvPicPr>
            <a:picLocks noChangeAspect="1"/>
          </p:cNvPicPr>
          <p:nvPr/>
        </p:nvPicPr>
        <p:blipFill>
          <a:blip r:embed="rId2"/>
          <a:stretch>
            <a:fillRect/>
          </a:stretch>
        </p:blipFill>
        <p:spPr>
          <a:xfrm>
            <a:off x="3840480" y="1371600"/>
            <a:ext cx="5120640" cy="2651760"/>
          </a:xfrm>
          <a:prstGeom prst="rect">
            <a:avLst/>
          </a:prstGeom>
        </p:spPr>
      </p:pic>
      <p:sp>
        <p:nvSpPr>
          <p:cNvPr id="6" name="TextBox 5"/>
          <p:cNvSpPr txBox="1"/>
          <p:nvPr/>
        </p:nvSpPr>
        <p:spPr>
          <a:xfrm>
            <a:off x="365760" y="1371600"/>
            <a:ext cx="3383280" cy="3291840"/>
          </a:xfrm>
          <a:prstGeom prst="rect">
            <a:avLst/>
          </a:prstGeom>
          <a:noFill/>
        </p:spPr>
        <p:txBody>
          <a:bodyPr wrap="square" lIns="0" rIns="0" tIns="0" bIns="0">
            <a:spAutoFit/>
          </a:bodyPr>
          <a:lstStyle/>
          <a:p>
            <a:pPr algn="l">
              <a:lnSpc>
                <a:spcPct val="115000"/>
              </a:lnSpc>
            </a:pPr>
            <a:r>
              <a:rPr sz="1200" b="1">
                <a:solidFill>
                  <a:srgbClr val="E07856"/>
                </a:solidFill>
                <a:latin typeface="Calibri"/>
              </a:rPr>
              <a:t>— </a:t>
            </a:r>
            <a:r>
              <a:rPr sz="1200">
                <a:solidFill>
                  <a:srgbClr val="1A2540"/>
                </a:solidFill>
                <a:latin typeface="Calibri"/>
              </a:rPr>
              <a:t>v41: +0.011 LB from 4 L4 regularizers</a:t>
            </a:r>
          </a:p>
          <a:p>
            <a:pPr algn="l">
              <a:lnSpc>
                <a:spcPct val="115000"/>
              </a:lnSpc>
            </a:pPr>
            <a:r>
              <a:rPr sz="1200" b="1">
                <a:solidFill>
                  <a:srgbClr val="E07856"/>
                </a:solidFill>
                <a:latin typeface="Calibri"/>
              </a:rPr>
              <a:t>— </a:t>
            </a:r>
            <a:r>
              <a:rPr sz="1200">
                <a:solidFill>
                  <a:srgbClr val="1A2540"/>
                </a:solidFill>
                <a:latin typeface="Calibri"/>
              </a:rPr>
              <a:t>v43: stacked 4 more changes → −0.012 regression</a:t>
            </a:r>
          </a:p>
          <a:p>
            <a:pPr algn="l">
              <a:lnSpc>
                <a:spcPct val="115000"/>
              </a:lnSpc>
            </a:pPr>
            <a:r>
              <a:rPr sz="1200" b="1">
                <a:solidFill>
                  <a:srgbClr val="E07856"/>
                </a:solidFill>
                <a:latin typeface="Calibri"/>
              </a:rPr>
              <a:t>— </a:t>
            </a:r>
            <a:r>
              <a:rPr sz="1200">
                <a:solidFill>
                  <a:srgbClr val="1A2540"/>
                </a:solidFill>
                <a:latin typeface="Calibri"/>
              </a:rPr>
              <a:t>v44: hard pseudo (Lee 2013) +0.025 LB</a:t>
            </a:r>
          </a:p>
          <a:p>
            <a:pPr algn="l">
              <a:lnSpc>
                <a:spcPct val="115000"/>
              </a:lnSpc>
            </a:pPr>
            <a:r>
              <a:rPr sz="1200" b="1">
                <a:solidFill>
                  <a:srgbClr val="E07856"/>
                </a:solidFill>
                <a:latin typeface="Calibri"/>
              </a:rPr>
              <a:t>— </a:t>
            </a:r>
            <a:r>
              <a:rPr sz="1200">
                <a:solidFill>
                  <a:srgbClr val="1A2540"/>
                </a:solidFill>
                <a:latin typeface="Calibri"/>
              </a:rPr>
              <a:t>v46: SOFT pseudo / Hinton 2015 distillation +0.039 LB</a:t>
            </a:r>
          </a:p>
          <a:p>
            <a:pPr algn="l">
              <a:lnSpc>
                <a:spcPct val="115000"/>
              </a:lnSpc>
            </a:pPr>
            <a:r>
              <a:rPr sz="1200" b="1">
                <a:solidFill>
                  <a:srgbClr val="E07856"/>
                </a:solidFill>
                <a:latin typeface="Calibri"/>
              </a:rPr>
              <a:t>— </a:t>
            </a:r>
            <a:r>
              <a:rPr sz="1200">
                <a:solidFill>
                  <a:srgbClr val="1A2540"/>
                </a:solidFill>
                <a:latin typeface="Calibri"/>
              </a:rPr>
              <a:t>v47: noisy-student round 2 (Xie 2020) +0.003 LB</a:t>
            </a:r>
          </a:p>
          <a:p>
            <a:pPr algn="l">
              <a:lnSpc>
                <a:spcPct val="115000"/>
              </a:lnSpc>
            </a:pPr>
            <a:r>
              <a:rPr sz="1200" b="1">
                <a:solidFill>
                  <a:srgbClr val="E07856"/>
                </a:solidFill>
                <a:latin typeface="Calibri"/>
              </a:rPr>
              <a:t>— </a:t>
            </a:r>
            <a:r>
              <a:rPr sz="1200">
                <a:solidFill>
                  <a:srgbClr val="1A2540"/>
                </a:solidFill>
                <a:latin typeface="Calibri"/>
              </a:rPr>
              <a:t>Result: 0.8264, #1 on public LB (+0.013 lead)</a:t>
            </a:r>
          </a:p>
        </p:txBody>
      </p:sp>
      <p:sp>
        <p:nvSpPr>
          <p:cNvPr id="7" name="Rectangle 6"/>
          <p:cNvSpPr/>
          <p:nvPr/>
        </p:nvSpPr>
        <p:spPr>
          <a:xfrm>
            <a:off x="365760" y="4160520"/>
            <a:ext cx="8412480" cy="502920"/>
          </a:xfrm>
          <a:prstGeom prst="rect">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4224528"/>
            <a:ext cx="8229600" cy="384048"/>
          </a:xfrm>
          <a:prstGeom prst="rect">
            <a:avLst/>
          </a:prstGeom>
          <a:noFill/>
        </p:spPr>
        <p:txBody>
          <a:bodyPr wrap="square" lIns="0" rIns="0" tIns="0" bIns="0" anchor="ctr">
            <a:spAutoFit/>
          </a:bodyPr>
          <a:lstStyle/>
          <a:p>
            <a:pPr algn="l"/>
            <a:r>
              <a:rPr sz="1300" b="0" i="1">
                <a:solidFill>
                  <a:srgbClr val="F5F0E8"/>
                </a:solidFill>
                <a:latin typeface="Georgia"/>
              </a:rPr>
              <a:t>Dataset-size lever (+0.067 from pseudo+distillation) dwarfed regularization gains (+0.011 from v41).</a:t>
            </a:r>
          </a:p>
        </p:txBody>
      </p:sp>
      <p:sp>
        <p:nvSpPr>
          <p:cNvPr id="9" name="TextBox 8"/>
          <p:cNvSpPr txBox="1"/>
          <p:nvPr/>
        </p:nvSpPr>
        <p:spPr>
          <a:xfrm>
            <a:off x="365760" y="4846320"/>
            <a:ext cx="5486400" cy="228600"/>
          </a:xfrm>
          <a:prstGeom prst="rect">
            <a:avLst/>
          </a:prstGeom>
          <a:noFill/>
        </p:spPr>
        <p:txBody>
          <a:bodyPr wrap="square" lIns="0" rIns="0" tIns="0" bIns="0" anchor="t">
            <a:spAutoFit/>
          </a:bodyPr>
          <a:lstStyle/>
          <a:p>
            <a:pPr algn="l"/>
            <a:r>
              <a:rPr sz="900" b="0" i="0">
                <a:solidFill>
                  <a:srgbClr val="8A9197"/>
                </a:solidFill>
                <a:latin typeface="Calibri"/>
              </a:rPr>
              <a:t>Multimodal Cancer Cell Classification  ·  Uppsala 1MD042 A3</a:t>
            </a:r>
          </a:p>
        </p:txBody>
      </p:sp>
      <p:sp>
        <p:nvSpPr>
          <p:cNvPr id="10" name="TextBox 9"/>
          <p:cNvSpPr txBox="1"/>
          <p:nvPr/>
        </p:nvSpPr>
        <p:spPr>
          <a:xfrm>
            <a:off x="7772400" y="4846320"/>
            <a:ext cx="1097280" cy="228600"/>
          </a:xfrm>
          <a:prstGeom prst="rect">
            <a:avLst/>
          </a:prstGeom>
          <a:noFill/>
        </p:spPr>
        <p:txBody>
          <a:bodyPr wrap="square" lIns="0" rIns="0" tIns="0" bIns="0" anchor="t">
            <a:spAutoFit/>
          </a:bodyPr>
          <a:lstStyle/>
          <a:p>
            <a:pPr algn="r"/>
            <a:r>
              <a:rPr sz="900" b="0" i="0">
                <a:solidFill>
                  <a:srgbClr val="8A9197"/>
                </a:solidFill>
                <a:latin typeface="Calibri"/>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2540"/>
        </a:solidFill>
        <a:effectLst/>
      </p:bgPr>
    </p:bg>
    <p:spTree>
      <p:nvGrpSpPr>
        <p:cNvPr id="1" name=""/>
        <p:cNvGrpSpPr/>
        <p:nvPr/>
      </p:nvGrpSpPr>
      <p:grpSpPr/>
      <p:sp>
        <p:nvSpPr>
          <p:cNvPr id="2" name="Rectangle 1"/>
          <p:cNvSpPr/>
          <p:nvPr/>
        </p:nvSpPr>
        <p:spPr>
          <a:xfrm>
            <a:off x="0" y="0"/>
            <a:ext cx="228600" cy="5143500"/>
          </a:xfrm>
          <a:prstGeom prst="rect">
            <a:avLst/>
          </a:prstGeom>
          <a:solidFill>
            <a:srgbClr val="E07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274320"/>
          </a:xfrm>
          <a:prstGeom prst="rect">
            <a:avLst/>
          </a:prstGeom>
          <a:noFill/>
        </p:spPr>
        <p:txBody>
          <a:bodyPr wrap="square" lIns="0" rIns="0" tIns="0" bIns="0" anchor="t">
            <a:spAutoFit/>
          </a:bodyPr>
          <a:lstStyle/>
          <a:p>
            <a:pPr algn="l"/>
            <a:r>
              <a:rPr sz="1200" b="1" i="0">
                <a:solidFill>
                  <a:srgbClr val="E07856"/>
                </a:solidFill>
                <a:latin typeface="Calibri"/>
              </a:rPr>
              <a:t>FIVE THINGS WE'LL CARRY FORWARD</a:t>
            </a:r>
          </a:p>
        </p:txBody>
      </p:sp>
      <p:sp>
        <p:nvSpPr>
          <p:cNvPr id="4" name="TextBox 3"/>
          <p:cNvSpPr txBox="1"/>
          <p:nvPr/>
        </p:nvSpPr>
        <p:spPr>
          <a:xfrm>
            <a:off x="731520" y="777240"/>
            <a:ext cx="7772400" cy="640080"/>
          </a:xfrm>
          <a:prstGeom prst="rect">
            <a:avLst/>
          </a:prstGeom>
          <a:noFill/>
        </p:spPr>
        <p:txBody>
          <a:bodyPr wrap="square" lIns="0" rIns="0" tIns="0" bIns="0" anchor="t">
            <a:spAutoFit/>
          </a:bodyPr>
          <a:lstStyle/>
          <a:p>
            <a:pPr algn="l"/>
            <a:r>
              <a:rPr sz="3200" b="1" i="0">
                <a:solidFill>
                  <a:srgbClr val="FFFFFF"/>
                </a:solidFill>
                <a:latin typeface="Georgia"/>
              </a:rPr>
              <a:t>Take-home messages</a:t>
            </a:r>
          </a:p>
        </p:txBody>
      </p:sp>
      <p:sp>
        <p:nvSpPr>
          <p:cNvPr id="5" name="TextBox 4"/>
          <p:cNvSpPr txBox="1"/>
          <p:nvPr/>
        </p:nvSpPr>
        <p:spPr>
          <a:xfrm>
            <a:off x="731520" y="1691640"/>
            <a:ext cx="365760" cy="320040"/>
          </a:xfrm>
          <a:prstGeom prst="rect">
            <a:avLst/>
          </a:prstGeom>
          <a:noFill/>
        </p:spPr>
        <p:txBody>
          <a:bodyPr wrap="square" lIns="0" rIns="0" tIns="0" bIns="0" anchor="t">
            <a:spAutoFit/>
          </a:bodyPr>
          <a:lstStyle/>
          <a:p>
            <a:pPr algn="l"/>
            <a:r>
              <a:rPr sz="1500" b="1" i="0">
                <a:solidFill>
                  <a:srgbClr val="E07856"/>
                </a:solidFill>
                <a:latin typeface="Georgia"/>
              </a:rPr>
              <a:t>01</a:t>
            </a:r>
          </a:p>
        </p:txBody>
      </p:sp>
      <p:sp>
        <p:nvSpPr>
          <p:cNvPr id="6" name="TextBox 5"/>
          <p:cNvSpPr txBox="1"/>
          <p:nvPr/>
        </p:nvSpPr>
        <p:spPr>
          <a:xfrm>
            <a:off x="1188720" y="1691640"/>
            <a:ext cx="7498079" cy="292608"/>
          </a:xfrm>
          <a:prstGeom prst="rect">
            <a:avLst/>
          </a:prstGeom>
          <a:noFill/>
        </p:spPr>
        <p:txBody>
          <a:bodyPr wrap="square" lIns="0" rIns="0" tIns="0" bIns="0" anchor="t">
            <a:spAutoFit/>
          </a:bodyPr>
          <a:lstStyle/>
          <a:p>
            <a:pPr algn="l"/>
            <a:r>
              <a:rPr sz="1300" b="1" i="0">
                <a:solidFill>
                  <a:srgbClr val="FFFFFF"/>
                </a:solidFill>
                <a:latin typeface="Calibri"/>
              </a:rPr>
              <a:t>Higher CV ≠ higher LB.</a:t>
            </a:r>
          </a:p>
        </p:txBody>
      </p:sp>
      <p:sp>
        <p:nvSpPr>
          <p:cNvPr id="7" name="TextBox 6"/>
          <p:cNvSpPr txBox="1"/>
          <p:nvPr/>
        </p:nvSpPr>
        <p:spPr>
          <a:xfrm>
            <a:off x="1188720" y="1965960"/>
            <a:ext cx="7498079" cy="292608"/>
          </a:xfrm>
          <a:prstGeom prst="rect">
            <a:avLst/>
          </a:prstGeom>
          <a:noFill/>
        </p:spPr>
        <p:txBody>
          <a:bodyPr wrap="square" lIns="0" rIns="0" tIns="0" bIns="0" anchor="t">
            <a:spAutoFit/>
          </a:bodyPr>
          <a:lstStyle/>
          <a:p>
            <a:pPr algn="l"/>
            <a:r>
              <a:rPr sz="1100" b="0" i="1">
                <a:solidFill>
                  <a:srgbClr val="F5F0E8"/>
                </a:solidFill>
                <a:latin typeface="Calibri"/>
              </a:rPr>
              <a:t>v15 had the best CV we ever saw (0.866). It had the worst LB (0.572).</a:t>
            </a:r>
          </a:p>
        </p:txBody>
      </p:sp>
      <p:sp>
        <p:nvSpPr>
          <p:cNvPr id="8" name="TextBox 7"/>
          <p:cNvSpPr txBox="1"/>
          <p:nvPr/>
        </p:nvSpPr>
        <p:spPr>
          <a:xfrm>
            <a:off x="731520" y="2258568"/>
            <a:ext cx="365760" cy="320040"/>
          </a:xfrm>
          <a:prstGeom prst="rect">
            <a:avLst/>
          </a:prstGeom>
          <a:noFill/>
        </p:spPr>
        <p:txBody>
          <a:bodyPr wrap="square" lIns="0" rIns="0" tIns="0" bIns="0" anchor="t">
            <a:spAutoFit/>
          </a:bodyPr>
          <a:lstStyle/>
          <a:p>
            <a:pPr algn="l"/>
            <a:r>
              <a:rPr sz="1500" b="1" i="0">
                <a:solidFill>
                  <a:srgbClr val="E07856"/>
                </a:solidFill>
                <a:latin typeface="Georgia"/>
              </a:rPr>
              <a:t>02</a:t>
            </a:r>
          </a:p>
        </p:txBody>
      </p:sp>
      <p:sp>
        <p:nvSpPr>
          <p:cNvPr id="9" name="TextBox 8"/>
          <p:cNvSpPr txBox="1"/>
          <p:nvPr/>
        </p:nvSpPr>
        <p:spPr>
          <a:xfrm>
            <a:off x="1188720" y="2258568"/>
            <a:ext cx="7498079" cy="292608"/>
          </a:xfrm>
          <a:prstGeom prst="rect">
            <a:avLst/>
          </a:prstGeom>
          <a:noFill/>
        </p:spPr>
        <p:txBody>
          <a:bodyPr wrap="square" lIns="0" rIns="0" tIns="0" bIns="0" anchor="t">
            <a:spAutoFit/>
          </a:bodyPr>
          <a:lstStyle/>
          <a:p>
            <a:pPr algn="l"/>
            <a:r>
              <a:rPr sz="1300" b="1" i="0">
                <a:solidFill>
                  <a:srgbClr val="FFFFFF"/>
                </a:solidFill>
                <a:latin typeface="Calibri"/>
              </a:rPr>
              <a:t>Don't stack unvalidated changes.</a:t>
            </a:r>
          </a:p>
        </p:txBody>
      </p:sp>
      <p:sp>
        <p:nvSpPr>
          <p:cNvPr id="10" name="TextBox 9"/>
          <p:cNvSpPr txBox="1"/>
          <p:nvPr/>
        </p:nvSpPr>
        <p:spPr>
          <a:xfrm>
            <a:off x="1188720" y="2532888"/>
            <a:ext cx="7498079" cy="292608"/>
          </a:xfrm>
          <a:prstGeom prst="rect">
            <a:avLst/>
          </a:prstGeom>
          <a:noFill/>
        </p:spPr>
        <p:txBody>
          <a:bodyPr wrap="square" lIns="0" rIns="0" tIns="0" bIns="0" anchor="t">
            <a:spAutoFit/>
          </a:bodyPr>
          <a:lstStyle/>
          <a:p>
            <a:pPr algn="l"/>
            <a:r>
              <a:rPr sz="1100" b="0" i="1">
                <a:solidFill>
                  <a:srgbClr val="F5F0E8"/>
                </a:solidFill>
                <a:latin typeface="Calibri"/>
              </a:rPr>
              <a:t>v43 added 4 simultaneous tweaks on top of v41 → −0.012 LB regression with no way to attribute blame.</a:t>
            </a:r>
          </a:p>
        </p:txBody>
      </p:sp>
      <p:sp>
        <p:nvSpPr>
          <p:cNvPr id="11" name="TextBox 10"/>
          <p:cNvSpPr txBox="1"/>
          <p:nvPr/>
        </p:nvSpPr>
        <p:spPr>
          <a:xfrm>
            <a:off x="731520" y="2825496"/>
            <a:ext cx="365760" cy="320040"/>
          </a:xfrm>
          <a:prstGeom prst="rect">
            <a:avLst/>
          </a:prstGeom>
          <a:noFill/>
        </p:spPr>
        <p:txBody>
          <a:bodyPr wrap="square" lIns="0" rIns="0" tIns="0" bIns="0" anchor="t">
            <a:spAutoFit/>
          </a:bodyPr>
          <a:lstStyle/>
          <a:p>
            <a:pPr algn="l"/>
            <a:r>
              <a:rPr sz="1500" b="1" i="0">
                <a:solidFill>
                  <a:srgbClr val="E07856"/>
                </a:solidFill>
                <a:latin typeface="Georgia"/>
              </a:rPr>
              <a:t>03</a:t>
            </a:r>
          </a:p>
        </p:txBody>
      </p:sp>
      <p:sp>
        <p:nvSpPr>
          <p:cNvPr id="12" name="TextBox 11"/>
          <p:cNvSpPr txBox="1"/>
          <p:nvPr/>
        </p:nvSpPr>
        <p:spPr>
          <a:xfrm>
            <a:off x="1188720" y="2825496"/>
            <a:ext cx="7498079" cy="292608"/>
          </a:xfrm>
          <a:prstGeom prst="rect">
            <a:avLst/>
          </a:prstGeom>
          <a:noFill/>
        </p:spPr>
        <p:txBody>
          <a:bodyPr wrap="square" lIns="0" rIns="0" tIns="0" bIns="0" anchor="t">
            <a:spAutoFit/>
          </a:bodyPr>
          <a:lstStyle/>
          <a:p>
            <a:pPr algn="l"/>
            <a:r>
              <a:rPr sz="1300" b="1" i="0">
                <a:solidFill>
                  <a:srgbClr val="FFFFFF"/>
                </a:solidFill>
                <a:latin typeface="Calibri"/>
              </a:rPr>
              <a:t>Seed variance is huge.</a:t>
            </a:r>
          </a:p>
        </p:txBody>
      </p:sp>
      <p:sp>
        <p:nvSpPr>
          <p:cNvPr id="13" name="TextBox 12"/>
          <p:cNvSpPr txBox="1"/>
          <p:nvPr/>
        </p:nvSpPr>
        <p:spPr>
          <a:xfrm>
            <a:off x="1188720" y="3099816"/>
            <a:ext cx="7498079" cy="292608"/>
          </a:xfrm>
          <a:prstGeom prst="rect">
            <a:avLst/>
          </a:prstGeom>
          <a:noFill/>
        </p:spPr>
        <p:txBody>
          <a:bodyPr wrap="square" lIns="0" rIns="0" tIns="0" bIns="0" anchor="t">
            <a:spAutoFit/>
          </a:bodyPr>
          <a:lstStyle/>
          <a:p>
            <a:pPr algn="l"/>
            <a:r>
              <a:rPr sz="1100" b="0" i="1">
                <a:solidFill>
                  <a:srgbClr val="F5F0E8"/>
                </a:solidFill>
                <a:latin typeface="Calibri"/>
              </a:rPr>
              <a:t>Same recipe, different seed: 0.03 LB shift. Most single-seed A/B claims &lt; 0.03 are noise.</a:t>
            </a:r>
          </a:p>
        </p:txBody>
      </p:sp>
      <p:sp>
        <p:nvSpPr>
          <p:cNvPr id="14" name="TextBox 13"/>
          <p:cNvSpPr txBox="1"/>
          <p:nvPr/>
        </p:nvSpPr>
        <p:spPr>
          <a:xfrm>
            <a:off x="731520" y="3392424"/>
            <a:ext cx="365760" cy="320040"/>
          </a:xfrm>
          <a:prstGeom prst="rect">
            <a:avLst/>
          </a:prstGeom>
          <a:noFill/>
        </p:spPr>
        <p:txBody>
          <a:bodyPr wrap="square" lIns="0" rIns="0" tIns="0" bIns="0" anchor="t">
            <a:spAutoFit/>
          </a:bodyPr>
          <a:lstStyle/>
          <a:p>
            <a:pPr algn="l"/>
            <a:r>
              <a:rPr sz="1500" b="1" i="0">
                <a:solidFill>
                  <a:srgbClr val="E07856"/>
                </a:solidFill>
                <a:latin typeface="Georgia"/>
              </a:rPr>
              <a:t>04</a:t>
            </a:r>
          </a:p>
        </p:txBody>
      </p:sp>
      <p:sp>
        <p:nvSpPr>
          <p:cNvPr id="15" name="TextBox 14"/>
          <p:cNvSpPr txBox="1"/>
          <p:nvPr/>
        </p:nvSpPr>
        <p:spPr>
          <a:xfrm>
            <a:off x="1188720" y="3392424"/>
            <a:ext cx="7498079" cy="292608"/>
          </a:xfrm>
          <a:prstGeom prst="rect">
            <a:avLst/>
          </a:prstGeom>
          <a:noFill/>
        </p:spPr>
        <p:txBody>
          <a:bodyPr wrap="square" lIns="0" rIns="0" tIns="0" bIns="0" anchor="t">
            <a:spAutoFit/>
          </a:bodyPr>
          <a:lstStyle/>
          <a:p>
            <a:pPr algn="l"/>
            <a:r>
              <a:rPr sz="1300" b="1" i="0">
                <a:solidFill>
                  <a:srgbClr val="FFFFFF"/>
                </a:solidFill>
                <a:latin typeface="Calibri"/>
              </a:rPr>
              <a:t>On small-N, dataset size &gt; regularization.</a:t>
            </a:r>
          </a:p>
        </p:txBody>
      </p:sp>
      <p:sp>
        <p:nvSpPr>
          <p:cNvPr id="16" name="TextBox 15"/>
          <p:cNvSpPr txBox="1"/>
          <p:nvPr/>
        </p:nvSpPr>
        <p:spPr>
          <a:xfrm>
            <a:off x="1188720" y="3666744"/>
            <a:ext cx="7498079" cy="292608"/>
          </a:xfrm>
          <a:prstGeom prst="rect">
            <a:avLst/>
          </a:prstGeom>
          <a:noFill/>
        </p:spPr>
        <p:txBody>
          <a:bodyPr wrap="square" lIns="0" rIns="0" tIns="0" bIns="0" anchor="t">
            <a:spAutoFit/>
          </a:bodyPr>
          <a:lstStyle/>
          <a:p>
            <a:pPr algn="l"/>
            <a:r>
              <a:rPr sz="1100" b="0" i="1">
                <a:solidFill>
                  <a:srgbClr val="F5F0E8"/>
                </a:solidFill>
                <a:latin typeface="Calibri"/>
              </a:rPr>
              <a:t>v41 stacked four regularizers: +0.011 LB. v46 added soft pseudo-labels for ~50k extra cells: +0.039 LB.</a:t>
            </a:r>
          </a:p>
        </p:txBody>
      </p:sp>
      <p:sp>
        <p:nvSpPr>
          <p:cNvPr id="17" name="TextBox 16"/>
          <p:cNvSpPr txBox="1"/>
          <p:nvPr/>
        </p:nvSpPr>
        <p:spPr>
          <a:xfrm>
            <a:off x="731520" y="3959352"/>
            <a:ext cx="365760" cy="320040"/>
          </a:xfrm>
          <a:prstGeom prst="rect">
            <a:avLst/>
          </a:prstGeom>
          <a:noFill/>
        </p:spPr>
        <p:txBody>
          <a:bodyPr wrap="square" lIns="0" rIns="0" tIns="0" bIns="0" anchor="t">
            <a:spAutoFit/>
          </a:bodyPr>
          <a:lstStyle/>
          <a:p>
            <a:pPr algn="l"/>
            <a:r>
              <a:rPr sz="1500" b="1" i="0">
                <a:solidFill>
                  <a:srgbClr val="E07856"/>
                </a:solidFill>
                <a:latin typeface="Georgia"/>
              </a:rPr>
              <a:t>05</a:t>
            </a:r>
          </a:p>
        </p:txBody>
      </p:sp>
      <p:sp>
        <p:nvSpPr>
          <p:cNvPr id="18" name="TextBox 17"/>
          <p:cNvSpPr txBox="1"/>
          <p:nvPr/>
        </p:nvSpPr>
        <p:spPr>
          <a:xfrm>
            <a:off x="1188720" y="3959352"/>
            <a:ext cx="7498079" cy="292608"/>
          </a:xfrm>
          <a:prstGeom prst="rect">
            <a:avLst/>
          </a:prstGeom>
          <a:noFill/>
        </p:spPr>
        <p:txBody>
          <a:bodyPr wrap="square" lIns="0" rIns="0" tIns="0" bIns="0" anchor="t">
            <a:spAutoFit/>
          </a:bodyPr>
          <a:lstStyle/>
          <a:p>
            <a:pPr algn="l"/>
            <a:r>
              <a:rPr sz="1300" b="1" i="0">
                <a:solidFill>
                  <a:srgbClr val="FFFFFF"/>
                </a:solidFill>
                <a:latin typeface="Calibri"/>
              </a:rPr>
              <a:t>Negative results are the methodology.</a:t>
            </a:r>
          </a:p>
        </p:txBody>
      </p:sp>
      <p:sp>
        <p:nvSpPr>
          <p:cNvPr id="19" name="TextBox 18"/>
          <p:cNvSpPr txBox="1"/>
          <p:nvPr/>
        </p:nvSpPr>
        <p:spPr>
          <a:xfrm>
            <a:off x="1188720" y="4233672"/>
            <a:ext cx="7498079" cy="292608"/>
          </a:xfrm>
          <a:prstGeom prst="rect">
            <a:avLst/>
          </a:prstGeom>
          <a:noFill/>
        </p:spPr>
        <p:txBody>
          <a:bodyPr wrap="square" lIns="0" rIns="0" tIns="0" bIns="0" anchor="t">
            <a:spAutoFit/>
          </a:bodyPr>
          <a:lstStyle/>
          <a:p>
            <a:pPr algn="l"/>
            <a:r>
              <a:rPr sz="1100" b="0" i="1">
                <a:solidFill>
                  <a:srgbClr val="F5F0E8"/>
                </a:solidFill>
                <a:latin typeface="Calibri"/>
              </a:rPr>
              <a:t>v42 SSL collapse, v22 + v45_probe ensemble failures, v43 regression — every failure shaped the next version.</a:t>
            </a:r>
          </a:p>
        </p:txBody>
      </p:sp>
      <p:sp>
        <p:nvSpPr>
          <p:cNvPr id="20" name="TextBox 19"/>
          <p:cNvSpPr txBox="1"/>
          <p:nvPr/>
        </p:nvSpPr>
        <p:spPr>
          <a:xfrm>
            <a:off x="731520" y="4846320"/>
            <a:ext cx="7315200" cy="228600"/>
          </a:xfrm>
          <a:prstGeom prst="rect">
            <a:avLst/>
          </a:prstGeom>
          <a:noFill/>
        </p:spPr>
        <p:txBody>
          <a:bodyPr wrap="square" lIns="0" rIns="0" tIns="0" bIns="0" anchor="t">
            <a:spAutoFit/>
          </a:bodyPr>
          <a:lstStyle/>
          <a:p>
            <a:pPr algn="l"/>
            <a:r>
              <a:rPr sz="1000" b="0" i="1">
                <a:solidFill>
                  <a:srgbClr val="8A9197"/>
                </a:solidFill>
                <a:latin typeface="Calibri"/>
              </a:rPr>
              <a:t>Thanks. Code + LB history at github.com/rafallex/A3-ADL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