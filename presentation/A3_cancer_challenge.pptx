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and a final architecture push. +0.094 LB lift over the supervised baseline to my best single model: v58's intermediate co-attention fusion (seed2) at 0.8392 -- the new best, holding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The right-edge cluster is the final single-model architecture sweep: v58 intermediate co-attention reached 0.8392 (the new best, amber); v59 (EfficientNetV2-S) and v60 (192px) both regressed; and v61's 2-seed co-attention average (0.8308) landed below the best seed -- ensembling failing yet again.
The +0.094 LB lift from v19 (0.7455) to v58's co-attention best (0.8392) is the headline -- the next two slides cover why ensembling never helped, and the co-attention final push that set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 you to remember: on this problem, ENSEMBLING NEVER WORKED. Not once. I tried every flavour and every single one regressed below my best single model.
Within-recipe seed averaging: my three v47 seeds average to 0.8264, but the best single seed is 0.8355. I confirmed it a second time on the winning co-attention recipe — v61's two-seed average scored 0.8308, below its best seed 0.8350.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is clean: with twelve patients, variance dominates everything, and any averaging regresses below the best single draw. My final submission is one well-chosen single model — never a blend.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chapter, after the distillation breakthrough. I swept the remaining architectural levers as single EfficientNet models — no ensembles (those all failed; next slide).
Two hurt: bumping capacity to EfficientNetV2-S dropped to 0.7376 (a bigger model overfits 12 patients), and raising input resolution to 192px dropped to 0.7823. Both reinforce the data-bound thesis.
One helped: intermediate co-attention fusion — the CAFNet design from the source-dataset paper, applied to EfficientNet-B0. Its best seed reached 0.8392, a new best over v47's 0.8355, and it lifted the mean too. The learning curves (left) show clean training to ~0.99 train AUC with no instability — I had to harden the attention (fp32 + a zero-init ReZero gate) to stop an fp16 NaN.
Take-home: fusion design is the one architectural lever that moved the needle here; capacity and resolution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0.8392</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v58 co-attention seed2  ·  #3 on LB</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+0.094</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0.8392</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v58 co-attention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+0.094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distillation seed 0.8355 → v58 intermediate co-attention 0.8392, the new best (peaked #1, currently #3). v59 (EfficientNetV2-S) and v60 (192px) regressed; the v61 2-seed average sits below the best seed. Dashed red line marks the current leader at 0.8448.">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Amber = co-attention (new best) · green = pseudo-label breakthrough · blue = useful gain · red = regression · grey = neutral. Dashed red = current leader.</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Every ensemble I tried lost to the best single model</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 — confirmed on two recipes.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v61's 2-seed co-attention mean (0.8308) fell below its best seed (0.8350). Per-seed LB spans ~0.023 on N=12 — the variance is signal-destroying, not noise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Cross-model: the stronger member is always pulled down.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Symmetric averaging drags toward the weaker member, and on this data the quality gap is always wide (v22, v45_probe, and the GBM blend all regressed).</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Even an orthogonal model couldn't save it.</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decorrelated feature-GBM (rank-corr 0.41) looked perfect on paper — but its CV (0.82) did not transfer (LB ~0.60). CV-vs-LB struck the ensemble too.</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On N=12, variance dominates — any averaging regresses below the best single seed. Submit one, never a blend.</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THE FINAL PUSH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Co-attention broke the plateau — a new best, 0.8392</a:t>
            </a:r>
            <a:endParaRPr lang="en-US" sz="2600" dirty="0"/>
          </a:p>
        </p:txBody>
      </p:sp>
      <p:pic>
        <p:nvPicPr>
          <p:cNvPr id="6" name="Image 0" descr="Training curves for the v58 co-attention model: per-cell train AUC climbs smoothly from ~0.83 to ~0.99 over 12 epochs for both seeds, and loss decreases monotonically with no divergence (fp32 attention + ReZero gate kept it stabl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v58 co-attention learning curves — train AUC + loss, 2 seeds, 12 epochs. Clean, no instability.</a:t>
            </a:r>
            <a:endParaRPr lang="en-US" sz="900" dirty="0"/>
          </a:p>
        </p:txBody>
      </p:sp>
      <p:sp>
        <p:nvSpPr>
          <p:cNvPr id="8" name="Shape 5"/>
          <p:cNvSpPr/>
          <p:nvPr/>
        </p:nvSpPr>
        <p:spPr>
          <a:xfrm>
            <a:off x="5303520" y="15544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9" name="Shape 6"/>
          <p:cNvSpPr/>
          <p:nvPr/>
        </p:nvSpPr>
        <p:spPr>
          <a:xfrm>
            <a:off x="5303520" y="1554480"/>
            <a:ext cx="64008" cy="822960"/>
          </a:xfrm>
          <a:prstGeom prst="rect">
            <a:avLst/>
          </a:prstGeom>
          <a:solidFill>
            <a:srgbClr val="0D9488"/>
          </a:solidFill>
          <a:ln w="12700">
            <a:solidFill>
              <a:srgbClr val="0D9488"/>
            </a:solidFill>
            <a:prstDash val="solid"/>
          </a:ln>
        </p:spPr>
      </p:sp>
      <p:sp>
        <p:nvSpPr>
          <p:cNvPr id="10" name="Text 7"/>
          <p:cNvSpPr/>
          <p:nvPr/>
        </p:nvSpPr>
        <p:spPr>
          <a:xfrm>
            <a:off x="5486400" y="1645920"/>
            <a:ext cx="3291840" cy="452628"/>
          </a:xfrm>
          <a:prstGeom prst="rect">
            <a:avLst/>
          </a:prstGeom>
          <a:noFill/>
          <a:ln/>
        </p:spPr>
        <p:txBody>
          <a:bodyPr wrap="square" lIns="0" tIns="0" rIns="0" bIns="0" rtlCol="0" anchor="t"/>
          <a:lstStyle/>
          <a:p>
            <a:pPr algn="l" indent="0" marL="0">
              <a:buNone/>
            </a:pPr>
            <a:r>
              <a:rPr lang="en-US" sz="2100" b="1" dirty="0">
                <a:solidFill>
                  <a:srgbClr val="0D9488"/>
                </a:solidFill>
                <a:latin typeface="Georgia" pitchFamily="34" charset="0"/>
                <a:ea typeface="Georgia" pitchFamily="34" charset="-122"/>
                <a:cs typeface="Georgia" pitchFamily="34" charset="-120"/>
              </a:rPr>
              <a:t>0.8392  ✓</a:t>
            </a:r>
            <a:endParaRPr lang="en-US" sz="2100" dirty="0"/>
          </a:p>
        </p:txBody>
      </p:sp>
      <p:sp>
        <p:nvSpPr>
          <p:cNvPr id="11" name="Text 8"/>
          <p:cNvSpPr/>
          <p:nvPr/>
        </p:nvSpPr>
        <p:spPr>
          <a:xfrm>
            <a:off x="5486400" y="20071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intermediate CO-ATTENTION (CAFNet-style) — new best, beats v47's 0.8355</a:t>
            </a:r>
            <a:endParaRPr lang="en-US" sz="900" dirty="0"/>
          </a:p>
        </p:txBody>
      </p:sp>
      <p:sp>
        <p:nvSpPr>
          <p:cNvPr id="12" name="Shape 9"/>
          <p:cNvSpPr/>
          <p:nvPr/>
        </p:nvSpPr>
        <p:spPr>
          <a:xfrm>
            <a:off x="5303520" y="24688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3" name="Shape 10"/>
          <p:cNvSpPr/>
          <p:nvPr/>
        </p:nvSpPr>
        <p:spPr>
          <a:xfrm>
            <a:off x="5303520" y="2468880"/>
            <a:ext cx="64008" cy="822960"/>
          </a:xfrm>
          <a:prstGeom prst="rect">
            <a:avLst/>
          </a:prstGeom>
          <a:solidFill>
            <a:srgbClr val="B91C1C"/>
          </a:solidFill>
          <a:ln w="12700">
            <a:solidFill>
              <a:srgbClr val="B91C1C"/>
            </a:solidFill>
            <a:prstDash val="solid"/>
          </a:ln>
        </p:spPr>
      </p:sp>
      <p:sp>
        <p:nvSpPr>
          <p:cNvPr id="14" name="Text 11"/>
          <p:cNvSpPr/>
          <p:nvPr/>
        </p:nvSpPr>
        <p:spPr>
          <a:xfrm>
            <a:off x="5486400" y="25603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0.7823  ✗</a:t>
            </a:r>
            <a:endParaRPr lang="en-US" sz="2100" dirty="0"/>
          </a:p>
        </p:txBody>
      </p:sp>
      <p:sp>
        <p:nvSpPr>
          <p:cNvPr id="15" name="Text 12"/>
          <p:cNvSpPr/>
          <p:nvPr/>
        </p:nvSpPr>
        <p:spPr>
          <a:xfrm>
            <a:off x="5486400" y="29215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higher resolution (192 px) — regressed</a:t>
            </a:r>
            <a:endParaRPr lang="en-US" sz="900" dirty="0"/>
          </a:p>
        </p:txBody>
      </p:sp>
      <p:sp>
        <p:nvSpPr>
          <p:cNvPr id="16" name="Shape 13"/>
          <p:cNvSpPr/>
          <p:nvPr/>
        </p:nvSpPr>
        <p:spPr>
          <a:xfrm>
            <a:off x="5303520" y="33832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7" name="Shape 14"/>
          <p:cNvSpPr/>
          <p:nvPr/>
        </p:nvSpPr>
        <p:spPr>
          <a:xfrm>
            <a:off x="5303520" y="3383280"/>
            <a:ext cx="64008" cy="822960"/>
          </a:xfrm>
          <a:prstGeom prst="rect">
            <a:avLst/>
          </a:prstGeom>
          <a:solidFill>
            <a:srgbClr val="B91C1C"/>
          </a:solidFill>
          <a:ln w="12700">
            <a:solidFill>
              <a:srgbClr val="B91C1C"/>
            </a:solidFill>
            <a:prstDash val="solid"/>
          </a:ln>
        </p:spPr>
      </p:sp>
      <p:sp>
        <p:nvSpPr>
          <p:cNvPr id="18" name="Text 15"/>
          <p:cNvSpPr/>
          <p:nvPr/>
        </p:nvSpPr>
        <p:spPr>
          <a:xfrm>
            <a:off x="5486400" y="34747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0.7376  ✗</a:t>
            </a:r>
            <a:endParaRPr lang="en-US" sz="2100" dirty="0"/>
          </a:p>
        </p:txBody>
      </p:sp>
      <p:sp>
        <p:nvSpPr>
          <p:cNvPr id="19" name="Text 16"/>
          <p:cNvSpPr/>
          <p:nvPr/>
        </p:nvSpPr>
        <p:spPr>
          <a:xfrm>
            <a:off x="5486400" y="38359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more capacity (EfficientNetV2-S) — regressed</a:t>
            </a:r>
            <a:endParaRPr lang="en-US" sz="900" dirty="0"/>
          </a:p>
        </p:txBody>
      </p:sp>
      <p:sp>
        <p:nvSpPr>
          <p:cNvPr id="20" name="Text 17"/>
          <p:cNvSpPr/>
          <p:nvPr/>
        </p:nvSpPr>
        <p:spPr>
          <a:xfrm>
            <a:off x="5303520" y="4334256"/>
            <a:ext cx="3566160" cy="502920"/>
          </a:xfrm>
          <a:prstGeom prst="rect">
            <a:avLst/>
          </a:prstGeom>
          <a:noFill/>
          <a:ln/>
        </p:spPr>
        <p:txBody>
          <a:bodyPr wrap="square" lIns="0" tIns="0" rIns="0" bIns="0" rtlCol="0" anchor="ctr"/>
          <a:lstStyle/>
          <a:p>
            <a:pPr indent="0" marL="0">
              <a:buNone/>
            </a:pPr>
            <a:r>
              <a:rPr lang="en-US" sz="950" i="1" dirty="0">
                <a:solidFill>
                  <a:srgbClr val="334155"/>
                </a:solidFill>
                <a:latin typeface="Calibri" pitchFamily="34" charset="0"/>
                <a:ea typeface="Calibri" pitchFamily="34" charset="-122"/>
                <a:cs typeface="Calibri" pitchFamily="34" charset="-120"/>
              </a:rPr>
              <a:t>Of every architecture tried, only fusion design moved the needle — the model is data-bound. Capacity and resolution both hurt.</a:t>
            </a:r>
            <a:endParaRPr lang="en-US" sz="950" dirty="0"/>
          </a:p>
        </p:txBody>
      </p:sp>
      <p:sp>
        <p:nvSpPr>
          <p:cNvPr id="21" name="Text 1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2" name="Text 1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Only co-attention fusion nudged architecture (+0.004 to a new best 0.8392); data was ~10x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2026-06-01T10:14:32Z</dcterms:created>
  <dcterms:modified xsi:type="dcterms:W3CDTF">2026-06-01T10:14:32Z</dcterms:modified>
</cp:coreProperties>
</file>