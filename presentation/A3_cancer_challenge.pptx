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across five acts of experimentation. +0.090 LB lift over the supervised baseline, via pseudo-labels and Hinton-style distillation, to a best public LB of 0.8355.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The score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 the biggest single jump. v47 iterated with v46 as the new teacher (Xie 2020 noisy student round 2): +0.003 on the ensemble (0.8264) but +0.012 on the best single seed (0.8355).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The +0.090 LB lift from v19 (0.7455) to v47's best seed (0.8355), driven by the pseudo-label and distillation pipeline, is the headline. The next slide covers why ensembling never beat the best single seed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I want you to remember: on this problem, ensembling never gave a lift beyond noise. Every ensemble I tried scored below my best single seed.
Within-recipe seed averaging: my three v47 seeds average to 0.8264, but the best single seed is 0.8355.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pulls toward the weaker member, and the quality gap between any two of my models is wide enough that it hurts.
And the one that should have worked: a gradient-boosted tree on hand-crafted features, genuinely decorrelated from the CNN at rank-correlation 0.41 — a textbook ensemble ingredient. Its leave-patients-out CV was 0.82. Blended 50/50 with my best model it scored 0.7074 — its CV simply did not transfer to unseen patients, the exact CV-versus-LB trap that defines this whole project.
So averaging never raised the score on twelve patients -- but it does cut seed variance. For a single hidden-split bet that robustness matters more than a lucky seed's fragile edge, so my final picks are variance-reduced ensembles, not the lucky single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asked for learning curves, so here they are -- the v47 distillation run. The point is that training is clean and stable: per-cell train AUC climbs smoothly to about 0.99 and the loss falls monotonically, with no divergence, across seeds.
The recipe: twelve epochs, AdamW with OneCycle, batch 128, gradient clipping; SWA over the last few epochs (Izmailov 2018) with a manual BN refresh for the two-input model; and the per-patient MIL auxiliary loss that regularises against memorising within-patient quirks.
One thing to flag: there is no held-out validation set. With only twelve patients a held-out split is too noisy (v27 showed that), so the public leaderboard is the external check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0.8355</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 noisy-student distillation</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+0.090</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0.8355</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v47 distillation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+0.081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19.7%</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FL TEST brighter than train — why AdaBN + stain norm</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rising to v47 distillation (0.8264 ensemble / 0.8355 best seed). The biggest jumps come from hard then soft pseudo-labels (v44, v46).">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pseudo-label breakthrough · blue = useful gain · red = regression · grey = neutral.</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Ensembling never beat the best single seed</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Per-seed LB spans ~0.023 on N=12 — variance, not signal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Cross-recipe and orthogonal blends regress too.</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v22 (0.7422) fell below v19 (0.7455); a decorrelated feature-GBM blend scored 0.7074 — its leave-patients-out CV (0.82) did not transfer to unseen patients.</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Averaging gave no lift here — only lower variance. So I locked two variance-reduced models, not the lucky single seed.</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TRAINING DYNAMICS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Clean, stable training — no divergence on 12 patients</a:t>
            </a:r>
            <a:endParaRPr lang="en-US" sz="2600" dirty="0"/>
          </a:p>
        </p:txBody>
      </p:sp>
      <p:pic>
        <p:nvPicPr>
          <p:cNvPr id="6" name="Image 0" descr="Training curves for the v47 distillation model: per-cell train AUC climbs smoothly to about 0.99 over 12 epochs across seeds, and loss decreases monotonically with no divergenc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v47 learning curves — per-cell train AUC + loss across seeds, 12 epochs. SWA over the last epochs.</a:t>
            </a:r>
            <a:endParaRPr lang="en-US" sz="900" dirty="0"/>
          </a:p>
        </p:txBody>
      </p:sp>
      <p:sp>
        <p:nvSpPr>
          <p:cNvPr id="8" name="Text 5"/>
          <p:cNvSpPr/>
          <p:nvPr/>
        </p:nvSpPr>
        <p:spPr>
          <a:xfrm>
            <a:off x="5303520" y="1554480"/>
            <a:ext cx="35661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the curves show</a:t>
            </a:r>
            <a:endParaRPr lang="en-US" sz="1050" dirty="0"/>
          </a:p>
        </p:txBody>
      </p:sp>
      <p:sp>
        <p:nvSpPr>
          <p:cNvPr id="9" name="Shape 6"/>
          <p:cNvSpPr/>
          <p:nvPr/>
        </p:nvSpPr>
        <p:spPr>
          <a:xfrm>
            <a:off x="5303520" y="1847088"/>
            <a:ext cx="36576" cy="2697480"/>
          </a:xfrm>
          <a:prstGeom prst="rect">
            <a:avLst/>
          </a:prstGeom>
          <a:solidFill>
            <a:srgbClr val="0D9488">
              <a:alpha val="70000"/>
            </a:srgbClr>
          </a:solidFill>
          <a:ln w="12700">
            <a:solidFill>
              <a:srgbClr val="0D9488"/>
            </a:solidFill>
            <a:prstDash val="solid"/>
          </a:ln>
        </p:spPr>
      </p:sp>
      <p:sp>
        <p:nvSpPr>
          <p:cNvPr id="10" name="Text 7"/>
          <p:cNvSpPr/>
          <p:nvPr/>
        </p:nvSpPr>
        <p:spPr>
          <a:xfrm>
            <a:off x="5468112" y="1865376"/>
            <a:ext cx="3364992" cy="2697480"/>
          </a:xfrm>
          <a:prstGeom prst="rect">
            <a:avLst/>
          </a:prstGeom>
          <a:noFill/>
          <a:ln/>
        </p:spPr>
        <p:txBody>
          <a:bodyPr wrap="square" lIns="0" tIns="0" rIns="0" bIns="0" rtlCol="0" anchor="t"/>
          <a:lstStyle/>
          <a:p>
            <a:pPr indent="0" marL="0">
              <a:spcAft>
                <a:spcPts val="600"/>
              </a:spcAft>
              <a:buNone/>
            </a:pPr>
            <a:r>
              <a:rPr lang="en-US" sz="10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00" b="1" dirty="0">
                <a:solidFill>
                  <a:srgbClr val="334155"/>
                </a:solidFill>
                <a:latin typeface="Calibri" pitchFamily="34" charset="0"/>
                <a:ea typeface="Calibri" pitchFamily="34" charset="-122"/>
                <a:cs typeface="Calibri" pitchFamily="34" charset="-120"/>
              </a:rPr>
              <a:t>Smooth convergence</a:t>
            </a:r>
            <a:pPr indent="0" marL="0">
              <a:spcAft>
                <a:spcPts val="600"/>
              </a:spcAft>
              <a:buNone/>
            </a:pPr>
            <a:r>
              <a:rPr lang="en-US" sz="900" i="1" dirty="0">
                <a:solidFill>
                  <a:srgbClr val="64748B"/>
                </a:solidFill>
                <a:latin typeface="Calibri" pitchFamily="34" charset="0"/>
                <a:ea typeface="Calibri" pitchFamily="34" charset="-122"/>
                <a:cs typeface="Calibri" pitchFamily="34" charset="-120"/>
              </a:rPr>
              <a:t>  train AUC rises to ~0.99; loss falls monotonically, no divergence</a:t>
            </a:r>
            <a:endParaRPr lang="en-US" sz="1000" dirty="0"/>
          </a:p>
          <a:p>
            <a:pPr indent="0" marL="0">
              <a:spcAft>
                <a:spcPts val="600"/>
              </a:spcAft>
              <a:buNone/>
            </a:pPr>
            <a:r>
              <a:rPr lang="en-US" sz="10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00" b="1" dirty="0">
                <a:solidFill>
                  <a:srgbClr val="334155"/>
                </a:solidFill>
                <a:latin typeface="Calibri" pitchFamily="34" charset="0"/>
                <a:ea typeface="Calibri" pitchFamily="34" charset="-122"/>
                <a:cs typeface="Calibri" pitchFamily="34" charset="-120"/>
              </a:rPr>
              <a:t>12 epochs</a:t>
            </a:r>
            <a:pPr indent="0" marL="0">
              <a:spcAft>
                <a:spcPts val="600"/>
              </a:spcAft>
              <a:buNone/>
            </a:pPr>
            <a:r>
              <a:rPr lang="en-US" sz="900" i="1" dirty="0">
                <a:solidFill>
                  <a:srgbClr val="64748B"/>
                </a:solidFill>
                <a:latin typeface="Calibri" pitchFamily="34" charset="0"/>
                <a:ea typeface="Calibri" pitchFamily="34" charset="-122"/>
                <a:cs typeface="Calibri" pitchFamily="34" charset="-120"/>
              </a:rPr>
              <a:t>  AdamW + OneCycleLR, batch 128, gradient clipping</a:t>
            </a:r>
            <a:endParaRPr lang="en-US" sz="1000" dirty="0"/>
          </a:p>
          <a:p>
            <a:pPr indent="0" marL="0">
              <a:spcAft>
                <a:spcPts val="600"/>
              </a:spcAft>
              <a:buNone/>
            </a:pPr>
            <a:r>
              <a:rPr lang="en-US" sz="10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00" b="1" dirty="0">
                <a:solidFill>
                  <a:srgbClr val="334155"/>
                </a:solidFill>
                <a:latin typeface="Calibri" pitchFamily="34" charset="0"/>
                <a:ea typeface="Calibri" pitchFamily="34" charset="-122"/>
                <a:cs typeface="Calibri" pitchFamily="34" charset="-120"/>
              </a:rPr>
              <a:t>SWA (Izmailov 2018)</a:t>
            </a:r>
            <a:pPr indent="0" marL="0">
              <a:spcAft>
                <a:spcPts val="600"/>
              </a:spcAft>
              <a:buNone/>
            </a:pPr>
            <a:r>
              <a:rPr lang="en-US" sz="900" i="1" dirty="0">
                <a:solidFill>
                  <a:srgbClr val="64748B"/>
                </a:solidFill>
                <a:latin typeface="Calibri" pitchFamily="34" charset="0"/>
                <a:ea typeface="Calibri" pitchFamily="34" charset="-122"/>
                <a:cs typeface="Calibri" pitchFamily="34" charset="-120"/>
              </a:rPr>
              <a:t>  weights averaged over the last epochs + a manual BN refresh</a:t>
            </a:r>
            <a:endParaRPr lang="en-US" sz="1000" dirty="0"/>
          </a:p>
          <a:p>
            <a:pPr indent="0" marL="0">
              <a:spcAft>
                <a:spcPts val="600"/>
              </a:spcAft>
              <a:buNone/>
            </a:pPr>
            <a:r>
              <a:rPr lang="en-US" sz="10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0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00" i="1" dirty="0">
                <a:solidFill>
                  <a:srgbClr val="64748B"/>
                </a:solidFill>
                <a:latin typeface="Calibri" pitchFamily="34" charset="0"/>
                <a:ea typeface="Calibri" pitchFamily="34" charset="-122"/>
                <a:cs typeface="Calibri" pitchFamily="34" charset="-120"/>
              </a:rPr>
              <a:t>  regularises against within-patient memorisation</a:t>
            </a:r>
            <a:endParaRPr lang="en-US" sz="1000" dirty="0"/>
          </a:p>
          <a:p>
            <a:pPr indent="0" marL="0">
              <a:spcAft>
                <a:spcPts val="600"/>
              </a:spcAft>
              <a:buNone/>
            </a:pPr>
            <a:r>
              <a:rPr lang="en-US" sz="10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00" b="1" dirty="0">
                <a:solidFill>
                  <a:srgbClr val="334155"/>
                </a:solidFill>
                <a:latin typeface="Calibri" pitchFamily="34" charset="0"/>
                <a:ea typeface="Calibri" pitchFamily="34" charset="-122"/>
                <a:cs typeface="Calibri" pitchFamily="34" charset="-120"/>
              </a:rPr>
              <a:t>No held-out val</a:t>
            </a:r>
            <a:pPr indent="0" marL="0">
              <a:spcAft>
                <a:spcPts val="600"/>
              </a:spcAft>
              <a:buNone/>
            </a:pPr>
            <a:r>
              <a:rPr lang="en-US" sz="900" i="1" dirty="0">
                <a:solidFill>
                  <a:srgbClr val="64748B"/>
                </a:solidFill>
                <a:latin typeface="Calibri" pitchFamily="34" charset="0"/>
                <a:ea typeface="Calibri" pitchFamily="34" charset="-122"/>
                <a:cs typeface="Calibri" pitchFamily="34" charset="-120"/>
              </a:rPr>
              <a:t>  N=12 is too small; the public LB is the external check</a:t>
            </a:r>
            <a:endParaRPr lang="en-US" sz="100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 about 4× more lift from growing the effective dataset than from any architecture or regulariser change.</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2026-06-02T08:09:53Z</dcterms:created>
  <dcterms:modified xsi:type="dcterms:W3CDTF">2026-06-02T08:09:53Z</dcterms:modified>
</cp:coreProperties>
</file>